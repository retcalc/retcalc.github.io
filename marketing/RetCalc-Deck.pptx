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3.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talk" id="{2f44ac50-f830-aa75-6024-cc32ce59de34}">
          <p14:sldIdLst>
            <p14:sldId id="256"/>
            <p14:sldId id="257"/>
            <p14:sldId id="258"/>
            <p14:sldId id="259"/>
            <p14:sldId id="260"/>
            <p14:sldId id="261"/>
            <p14:sldId id="262"/>
            <p14:sldId id="263"/>
            <p14:sldId id="264"/>
            <p14:sldId id="265"/>
            <p14:sldId id="266"/>
            <p14:sldId id="267"/>
            <p14:sldId id="268"/>
            <p14:sldId id="269"/>
          </p14:sldIdLst>
        </p14:section>
        <p14:section name="Appendix" id="{7d05afff-2c90-e4f9-7308-f2611b165137}">
          <p14:sldIdLst>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US stocks</c:v>
                </c:pt>
              </c:strCache>
            </c:strRef>
          </c:tx>
          <c:spPr>
            <a:solidFill>
              <a:srgbClr val="E3A93B"/>
            </a:solidFill>
            <a:ln w="25400" cap="flat">
              <a:solidFill>
                <a:srgbClr val="E3A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A93B"/>
              </a:solidFill>
              <a:ln w="9525" cap="flat">
                <a:solidFill>
                  <a:srgbClr val="E3A93B"/>
                </a:solidFill>
                <a:prstDash val="solid"/>
                <a:round/>
              </a:ln>
              <a:effectLst/>
            </c:spPr>
          </c:marker>
          <c:cat>
            <c:multiLvlStrRef>
              <c:f>Sheet1!$A$2:$A$101</c:f>
              <c:multiLvlStrCache>
                <c:ptCount val="100"/>
                <c:lvl>
                  <c:pt idx="0">
                    <c:v>1926</c:v>
                  </c:pt>
                  <c:pt idx="1">
                    <c:v>1927</c:v>
                  </c:pt>
                  <c:pt idx="2">
                    <c:v>1928</c:v>
                  </c:pt>
                  <c:pt idx="3">
                    <c:v>1929</c:v>
                  </c:pt>
                  <c:pt idx="4">
                    <c:v>1930</c:v>
                  </c:pt>
                  <c:pt idx="5">
                    <c:v>1931</c:v>
                  </c:pt>
                  <c:pt idx="6">
                    <c:v>1932</c:v>
                  </c:pt>
                  <c:pt idx="7">
                    <c:v>1933</c:v>
                  </c:pt>
                  <c:pt idx="8">
                    <c:v>1934</c:v>
                  </c:pt>
                  <c:pt idx="9">
                    <c:v>1935</c:v>
                  </c:pt>
                  <c:pt idx="10">
                    <c:v>1936</c:v>
                  </c:pt>
                  <c:pt idx="11">
                    <c:v>1937</c:v>
                  </c:pt>
                  <c:pt idx="12">
                    <c:v>1938</c:v>
                  </c:pt>
                  <c:pt idx="13">
                    <c:v>1939</c:v>
                  </c:pt>
                  <c:pt idx="14">
                    <c:v>1940</c:v>
                  </c:pt>
                  <c:pt idx="15">
                    <c:v>1941</c:v>
                  </c:pt>
                  <c:pt idx="16">
                    <c:v>1942</c:v>
                  </c:pt>
                  <c:pt idx="17">
                    <c:v>1943</c:v>
                  </c:pt>
                  <c:pt idx="18">
                    <c:v>1944</c:v>
                  </c:pt>
                  <c:pt idx="19">
                    <c:v>1945</c:v>
                  </c:pt>
                  <c:pt idx="20">
                    <c:v>1946</c:v>
                  </c:pt>
                  <c:pt idx="21">
                    <c:v>1947</c:v>
                  </c:pt>
                  <c:pt idx="22">
                    <c:v>1948</c:v>
                  </c:pt>
                  <c:pt idx="23">
                    <c:v>1949</c:v>
                  </c:pt>
                  <c:pt idx="24">
                    <c:v>1950</c:v>
                  </c:pt>
                  <c:pt idx="25">
                    <c:v>1951</c:v>
                  </c:pt>
                  <c:pt idx="26">
                    <c:v>1952</c:v>
                  </c:pt>
                  <c:pt idx="27">
                    <c:v>1953</c:v>
                  </c:pt>
                  <c:pt idx="28">
                    <c:v>1954</c:v>
                  </c:pt>
                  <c:pt idx="29">
                    <c:v>1955</c:v>
                  </c:pt>
                  <c:pt idx="30">
                    <c:v>1956</c:v>
                  </c:pt>
                  <c:pt idx="31">
                    <c:v>1957</c:v>
                  </c:pt>
                  <c:pt idx="32">
                    <c:v>1958</c:v>
                  </c:pt>
                  <c:pt idx="33">
                    <c:v>1959</c:v>
                  </c:pt>
                  <c:pt idx="34">
                    <c:v>1960</c:v>
                  </c:pt>
                  <c:pt idx="35">
                    <c:v>1961</c:v>
                  </c:pt>
                  <c:pt idx="36">
                    <c:v>1962</c:v>
                  </c:pt>
                  <c:pt idx="37">
                    <c:v>1963</c:v>
                  </c:pt>
                  <c:pt idx="38">
                    <c:v>1964</c:v>
                  </c:pt>
                  <c:pt idx="39">
                    <c:v>1965</c:v>
                  </c:pt>
                  <c:pt idx="40">
                    <c:v>1966</c:v>
                  </c:pt>
                  <c:pt idx="41">
                    <c:v>1967</c:v>
                  </c:pt>
                  <c:pt idx="42">
                    <c:v>1968</c:v>
                  </c:pt>
                  <c:pt idx="43">
                    <c:v>1969</c:v>
                  </c:pt>
                  <c:pt idx="44">
                    <c:v>1970</c:v>
                  </c:pt>
                  <c:pt idx="45">
                    <c:v>1971</c:v>
                  </c:pt>
                  <c:pt idx="46">
                    <c:v>1972</c:v>
                  </c:pt>
                  <c:pt idx="47">
                    <c:v>1973</c:v>
                  </c:pt>
                  <c:pt idx="48">
                    <c:v>1974</c:v>
                  </c:pt>
                  <c:pt idx="49">
                    <c:v>1975</c:v>
                  </c:pt>
                  <c:pt idx="50">
                    <c:v>1976</c:v>
                  </c:pt>
                  <c:pt idx="51">
                    <c:v>1977</c:v>
                  </c:pt>
                  <c:pt idx="52">
                    <c:v>1978</c:v>
                  </c:pt>
                  <c:pt idx="53">
                    <c:v>1979</c:v>
                  </c:pt>
                  <c:pt idx="54">
                    <c:v>1980</c:v>
                  </c:pt>
                  <c:pt idx="55">
                    <c:v>1981</c:v>
                  </c:pt>
                  <c:pt idx="56">
                    <c:v>1982</c:v>
                  </c:pt>
                  <c:pt idx="57">
                    <c:v>1983</c:v>
                  </c:pt>
                  <c:pt idx="58">
                    <c:v>1984</c:v>
                  </c:pt>
                  <c:pt idx="59">
                    <c:v>1985</c:v>
                  </c:pt>
                  <c:pt idx="60">
                    <c:v>1986</c:v>
                  </c:pt>
                  <c:pt idx="61">
                    <c:v>1987</c:v>
                  </c:pt>
                  <c:pt idx="62">
                    <c:v>1988</c:v>
                  </c:pt>
                  <c:pt idx="63">
                    <c:v>1989</c:v>
                  </c:pt>
                  <c:pt idx="64">
                    <c:v>1990</c:v>
                  </c:pt>
                  <c:pt idx="65">
                    <c:v>1991</c:v>
                  </c:pt>
                  <c:pt idx="66">
                    <c:v>1992</c:v>
                  </c:pt>
                  <c:pt idx="67">
                    <c:v>1993</c:v>
                  </c:pt>
                  <c:pt idx="68">
                    <c:v>1994</c:v>
                  </c:pt>
                  <c:pt idx="69">
                    <c:v>1995</c:v>
                  </c:pt>
                  <c:pt idx="70">
                    <c:v>1996</c:v>
                  </c:pt>
                  <c:pt idx="71">
                    <c:v>1997</c:v>
                  </c:pt>
                  <c:pt idx="72">
                    <c:v>1998</c:v>
                  </c:pt>
                  <c:pt idx="73">
                    <c:v>1999</c:v>
                  </c:pt>
                  <c:pt idx="74">
                    <c:v>2000</c:v>
                  </c:pt>
                  <c:pt idx="75">
                    <c:v>2001</c:v>
                  </c:pt>
                  <c:pt idx="76">
                    <c:v>2002</c:v>
                  </c:pt>
                  <c:pt idx="77">
                    <c:v>2003</c:v>
                  </c:pt>
                  <c:pt idx="78">
                    <c:v>2004</c:v>
                  </c:pt>
                  <c:pt idx="79">
                    <c:v>2005</c:v>
                  </c:pt>
                  <c:pt idx="80">
                    <c:v>2006</c:v>
                  </c:pt>
                  <c:pt idx="81">
                    <c:v>2007</c:v>
                  </c:pt>
                  <c:pt idx="82">
                    <c:v>2008</c:v>
                  </c:pt>
                  <c:pt idx="83">
                    <c:v>2009</c:v>
                  </c:pt>
                  <c:pt idx="84">
                    <c:v>2010</c:v>
                  </c:pt>
                  <c:pt idx="85">
                    <c:v>2011</c:v>
                  </c:pt>
                  <c:pt idx="86">
                    <c:v>2012</c:v>
                  </c:pt>
                  <c:pt idx="87">
                    <c:v>2013</c:v>
                  </c:pt>
                  <c:pt idx="88">
                    <c:v>2014</c:v>
                  </c:pt>
                  <c:pt idx="89">
                    <c:v>2015</c:v>
                  </c:pt>
                  <c:pt idx="90">
                    <c:v>2016</c:v>
                  </c:pt>
                  <c:pt idx="91">
                    <c:v>2017</c:v>
                  </c:pt>
                  <c:pt idx="92">
                    <c:v>2018</c:v>
                  </c:pt>
                  <c:pt idx="93">
                    <c:v>2019</c:v>
                  </c:pt>
                  <c:pt idx="94">
                    <c:v>2020</c:v>
                  </c:pt>
                  <c:pt idx="95">
                    <c:v>2021</c:v>
                  </c:pt>
                  <c:pt idx="96">
                    <c:v>2022</c:v>
                  </c:pt>
                  <c:pt idx="97">
                    <c:v>2023</c:v>
                  </c:pt>
                  <c:pt idx="98">
                    <c:v>2024</c:v>
                  </c:pt>
                  <c:pt idx="99">
                    <c:v>2025</c:v>
                  </c:pt>
                </c:lvl>
              </c:multiLvlStrCache>
            </c:multiLvlStrRef>
          </c:cat>
          <c:val>
            <c:numRef>
              <c:f>Sheet1!$B$2:$B$101</c:f>
              <c:numCache>
                <c:formatCode>General</c:formatCode>
                <c:ptCount val="100"/>
                <c:pt idx="0">
                  <c:v>1.153</c:v>
                </c:pt>
                <c:pt idx="1">
                  <c:v>1.601</c:v>
                </c:pt>
                <c:pt idx="2">
                  <c:v>2.238</c:v>
                </c:pt>
                <c:pt idx="3">
                  <c:v>2.131</c:v>
                </c:pt>
                <c:pt idx="4">
                  <c:v>1.73</c:v>
                </c:pt>
                <c:pt idx="5">
                  <c:v>1.111</c:v>
                </c:pt>
                <c:pt idx="6">
                  <c:v>1.101</c:v>
                </c:pt>
                <c:pt idx="7">
                  <c:v>1.688</c:v>
                </c:pt>
                <c:pt idx="8">
                  <c:v>1.616</c:v>
                </c:pt>
                <c:pt idx="9">
                  <c:v>2.307</c:v>
                </c:pt>
                <c:pt idx="10">
                  <c:v>3.087</c:v>
                </c:pt>
                <c:pt idx="11">
                  <c:v>2.043</c:v>
                </c:pt>
                <c:pt idx="12">
                  <c:v>2.574</c:v>
                </c:pt>
                <c:pt idx="13">
                  <c:v>2.626</c:v>
                </c:pt>
                <c:pt idx="14">
                  <c:v>2.355</c:v>
                </c:pt>
                <c:pt idx="15">
                  <c:v>1.912</c:v>
                </c:pt>
                <c:pt idx="16">
                  <c:v>2.055</c:v>
                </c:pt>
                <c:pt idx="17">
                  <c:v>2.534</c:v>
                </c:pt>
                <c:pt idx="18">
                  <c:v>2.973</c:v>
                </c:pt>
                <c:pt idx="19">
                  <c:v>4.017</c:v>
                </c:pt>
                <c:pt idx="20">
                  <c:v>3.092</c:v>
                </c:pt>
                <c:pt idx="21">
                  <c:v>2.968</c:v>
                </c:pt>
                <c:pt idx="22">
                  <c:v>3.08</c:v>
                </c:pt>
                <c:pt idx="23">
                  <c:v>3.663</c:v>
                </c:pt>
                <c:pt idx="24">
                  <c:v>4.422</c:v>
                </c:pt>
                <c:pt idx="25">
                  <c:v>5.289</c:v>
                </c:pt>
                <c:pt idx="26">
                  <c:v>6.19</c:v>
                </c:pt>
                <c:pt idx="27">
                  <c:v>6.205</c:v>
                </c:pt>
                <c:pt idx="28">
                  <c:v>9.255</c:v>
                </c:pt>
                <c:pt idx="29">
                  <c:v>12.444</c:v>
                </c:pt>
                <c:pt idx="30">
                  <c:v>12.846</c:v>
                </c:pt>
                <c:pt idx="31">
                  <c:v>11.278</c:v>
                </c:pt>
                <c:pt idx="32">
                  <c:v>15.27</c:v>
                </c:pt>
                <c:pt idx="33">
                  <c:v>17.1</c:v>
                </c:pt>
                <c:pt idx="34">
                  <c:v>16.797</c:v>
                </c:pt>
                <c:pt idx="35">
                  <c:v>21.707</c:v>
                </c:pt>
                <c:pt idx="36">
                  <c:v>19.339</c:v>
                </c:pt>
                <c:pt idx="37">
                  <c:v>23.247</c:v>
                </c:pt>
                <c:pt idx="38">
                  <c:v>26.841</c:v>
                </c:pt>
                <c:pt idx="39">
                  <c:v>29.637</c:v>
                </c:pt>
                <c:pt idx="40">
                  <c:v>26.259</c:v>
                </c:pt>
                <c:pt idx="41">
                  <c:v>30.821</c:v>
                </c:pt>
                <c:pt idx="42">
                  <c:v>33.905</c:v>
                </c:pt>
                <c:pt idx="43">
                  <c:v>28.2</c:v>
                </c:pt>
                <c:pt idx="44">
                  <c:v>27.43</c:v>
                </c:pt>
                <c:pt idx="45">
                  <c:v>30.189</c:v>
                </c:pt>
                <c:pt idx="46">
                  <c:v>35.582</c:v>
                </c:pt>
                <c:pt idx="47">
                  <c:v>27.215</c:v>
                </c:pt>
                <c:pt idx="48">
                  <c:v>17.904</c:v>
                </c:pt>
                <c:pt idx="49">
                  <c:v>23.112</c:v>
                </c:pt>
                <c:pt idx="50">
                  <c:v>27.003</c:v>
                </c:pt>
                <c:pt idx="51">
                  <c:v>23.711</c:v>
                </c:pt>
                <c:pt idx="52">
                  <c:v>23.452</c:v>
                </c:pt>
                <c:pt idx="53">
                  <c:v>24.459</c:v>
                </c:pt>
                <c:pt idx="54">
                  <c:v>28.309</c:v>
                </c:pt>
                <c:pt idx="55">
                  <c:v>25.34</c:v>
                </c:pt>
                <c:pt idx="56">
                  <c:v>29.092</c:v>
                </c:pt>
                <c:pt idx="57">
                  <c:v>34.525</c:v>
                </c:pt>
                <c:pt idx="58">
                  <c:v>34.781</c:v>
                </c:pt>
                <c:pt idx="59">
                  <c:v>44.016</c:v>
                </c:pt>
                <c:pt idx="60">
                  <c:v>54.038</c:v>
                </c:pt>
                <c:pt idx="61">
                  <c:v>51.69</c:v>
                </c:pt>
                <c:pt idx="62">
                  <c:v>58.807</c:v>
                </c:pt>
                <c:pt idx="63">
                  <c:v>73.18</c:v>
                </c:pt>
                <c:pt idx="64">
                  <c:v>67.348</c:v>
                </c:pt>
                <c:pt idx="65">
                  <c:v>79.766</c:v>
                </c:pt>
                <c:pt idx="66">
                  <c:v>89.536</c:v>
                </c:pt>
                <c:pt idx="67">
                  <c:v>95.821</c:v>
                </c:pt>
                <c:pt idx="68">
                  <c:v>93.751</c:v>
                </c:pt>
                <c:pt idx="69">
                  <c:v>126.556</c:v>
                </c:pt>
                <c:pt idx="70">
                  <c:v>151.348</c:v>
                </c:pt>
                <c:pt idx="71">
                  <c:v>196.096</c:v>
                </c:pt>
                <c:pt idx="72">
                  <c:v>242.18</c:v>
                </c:pt>
                <c:pt idx="73">
                  <c:v>286.689</c:v>
                </c:pt>
                <c:pt idx="74">
                  <c:v>261.34</c:v>
                </c:pt>
                <c:pt idx="75">
                  <c:v>224.35</c:v>
                </c:pt>
                <c:pt idx="76">
                  <c:v>174.906</c:v>
                </c:pt>
                <c:pt idx="77">
                  <c:v>209.901</c:v>
                </c:pt>
                <c:pt idx="78">
                  <c:v>229.333</c:v>
                </c:pt>
                <c:pt idx="79">
                  <c:v>237.473</c:v>
                </c:pt>
                <c:pt idx="80">
                  <c:v>264.629</c:v>
                </c:pt>
                <c:pt idx="81">
                  <c:v>270.301</c:v>
                </c:pt>
                <c:pt idx="82">
                  <c:v>164.106</c:v>
                </c:pt>
                <c:pt idx="83">
                  <c:v>207.734</c:v>
                </c:pt>
                <c:pt idx="84">
                  <c:v>233.359</c:v>
                </c:pt>
                <c:pt idx="85">
                  <c:v>231.42</c:v>
                </c:pt>
                <c:pt idx="86">
                  <c:v>265.673</c:v>
                </c:pt>
                <c:pt idx="87">
                  <c:v>339.52</c:v>
                </c:pt>
                <c:pt idx="88">
                  <c:v>390.423</c:v>
                </c:pt>
                <c:pt idx="89">
                  <c:v>395.498</c:v>
                </c:pt>
                <c:pt idx="90">
                  <c:v>432.909</c:v>
                </c:pt>
                <c:pt idx="91">
                  <c:v>512.635</c:v>
                </c:pt>
                <c:pt idx="92">
                  <c:v>493.872</c:v>
                </c:pt>
                <c:pt idx="93">
                  <c:v>609.107</c:v>
                </c:pt>
                <c:pt idx="94">
                  <c:v>712.084</c:v>
                </c:pt>
                <c:pt idx="95">
                  <c:v>853.28</c:v>
                </c:pt>
                <c:pt idx="96">
                  <c:v>681.427</c:v>
                </c:pt>
                <c:pt idx="97">
                  <c:v>802.353</c:v>
                </c:pt>
                <c:pt idx="98">
                  <c:v>1013.992</c:v>
                </c:pt>
                <c:pt idx="99">
                  <c:v>1140.107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logBase val="10"/>
          <c:orientation val="minMax"/>
          <c:max val="1500"/>
          <c:min val="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AA4B2"/>
                </a:solidFill>
                <a:latin typeface="+mn-lt"/>
              </a:defRPr>
            </a:pPr>
            <a:r>
              <a:rPr sz="1200" b="0" i="0" u="none" strike="noStrike">
                <a:solidFill>
                  <a:srgbClr val="9AA4B2"/>
                </a:solidFill>
                <a:latin typeface="+mn-lt"/>
              </a:rPr>
              <a:t>$1 invested in US stocks in January 1926, after inflation (log scale)</a:t>
            </a:r>
          </a:p>
        </c:rich>
      </c:tx>
      <c:layout/>
      <c:overlay val="0"/>
    </c:title>
    <c:autoTitleDeleted val="0"/>
    <c:plotArea>
      <c:layout/>
      <c:lineChart>
        <c:varyColors val="0"/>
        <c:ser>
          <c:idx val="0"/>
          <c:order val="0"/>
          <c:tx>
            <c:strRef>
              <c:f>Sheet1!$B$1</c:f>
              <c:strCache>
                <c:ptCount val="1"/>
                <c:pt idx="0">
                  <c:v>$1 in US stocks, after inflation</c:v>
                </c:pt>
              </c:strCache>
            </c:strRef>
          </c:tx>
          <c:spPr>
            <a:solidFill>
              <a:srgbClr val="E3A93B"/>
            </a:solidFill>
            <a:ln w="31750" cap="flat">
              <a:solidFill>
                <a:srgbClr val="E3A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3A93B"/>
              </a:solidFill>
              <a:ln w="9525" cap="flat">
                <a:solidFill>
                  <a:srgbClr val="E3A93B"/>
                </a:solidFill>
                <a:prstDash val="solid"/>
                <a:round/>
              </a:ln>
              <a:effectLst/>
            </c:spPr>
          </c:marker>
          <c:cat>
            <c:multiLvlStrRef>
              <c:f>Sheet1!$A$2:$A$101</c:f>
              <c:multiLvlStrCache>
                <c:ptCount val="100"/>
                <c:lvl>
                  <c:pt idx="0">
                    <c:v>1926</c:v>
                  </c:pt>
                  <c:pt idx="1">
                    <c:v>1927</c:v>
                  </c:pt>
                  <c:pt idx="2">
                    <c:v>1928</c:v>
                  </c:pt>
                  <c:pt idx="3">
                    <c:v>1929</c:v>
                  </c:pt>
                  <c:pt idx="4">
                    <c:v>1930</c:v>
                  </c:pt>
                  <c:pt idx="5">
                    <c:v>1931</c:v>
                  </c:pt>
                  <c:pt idx="6">
                    <c:v>1932</c:v>
                  </c:pt>
                  <c:pt idx="7">
                    <c:v>1933</c:v>
                  </c:pt>
                  <c:pt idx="8">
                    <c:v>1934</c:v>
                  </c:pt>
                  <c:pt idx="9">
                    <c:v>1935</c:v>
                  </c:pt>
                  <c:pt idx="10">
                    <c:v>1936</c:v>
                  </c:pt>
                  <c:pt idx="11">
                    <c:v>1937</c:v>
                  </c:pt>
                  <c:pt idx="12">
                    <c:v>1938</c:v>
                  </c:pt>
                  <c:pt idx="13">
                    <c:v>1939</c:v>
                  </c:pt>
                  <c:pt idx="14">
                    <c:v>1940</c:v>
                  </c:pt>
                  <c:pt idx="15">
                    <c:v>1941</c:v>
                  </c:pt>
                  <c:pt idx="16">
                    <c:v>1942</c:v>
                  </c:pt>
                  <c:pt idx="17">
                    <c:v>1943</c:v>
                  </c:pt>
                  <c:pt idx="18">
                    <c:v>1944</c:v>
                  </c:pt>
                  <c:pt idx="19">
                    <c:v>1945</c:v>
                  </c:pt>
                  <c:pt idx="20">
                    <c:v>1946</c:v>
                  </c:pt>
                  <c:pt idx="21">
                    <c:v>1947</c:v>
                  </c:pt>
                  <c:pt idx="22">
                    <c:v>1948</c:v>
                  </c:pt>
                  <c:pt idx="23">
                    <c:v>1949</c:v>
                  </c:pt>
                  <c:pt idx="24">
                    <c:v>1950</c:v>
                  </c:pt>
                  <c:pt idx="25">
                    <c:v>1951</c:v>
                  </c:pt>
                  <c:pt idx="26">
                    <c:v>1952</c:v>
                  </c:pt>
                  <c:pt idx="27">
                    <c:v>1953</c:v>
                  </c:pt>
                  <c:pt idx="28">
                    <c:v>1954</c:v>
                  </c:pt>
                  <c:pt idx="29">
                    <c:v>1955</c:v>
                  </c:pt>
                  <c:pt idx="30">
                    <c:v>1956</c:v>
                  </c:pt>
                  <c:pt idx="31">
                    <c:v>1957</c:v>
                  </c:pt>
                  <c:pt idx="32">
                    <c:v>1958</c:v>
                  </c:pt>
                  <c:pt idx="33">
                    <c:v>1959</c:v>
                  </c:pt>
                  <c:pt idx="34">
                    <c:v>1960</c:v>
                  </c:pt>
                  <c:pt idx="35">
                    <c:v>1961</c:v>
                  </c:pt>
                  <c:pt idx="36">
                    <c:v>1962</c:v>
                  </c:pt>
                  <c:pt idx="37">
                    <c:v>1963</c:v>
                  </c:pt>
                  <c:pt idx="38">
                    <c:v>1964</c:v>
                  </c:pt>
                  <c:pt idx="39">
                    <c:v>1965</c:v>
                  </c:pt>
                  <c:pt idx="40">
                    <c:v>1966</c:v>
                  </c:pt>
                  <c:pt idx="41">
                    <c:v>1967</c:v>
                  </c:pt>
                  <c:pt idx="42">
                    <c:v>1968</c:v>
                  </c:pt>
                  <c:pt idx="43">
                    <c:v>1969</c:v>
                  </c:pt>
                  <c:pt idx="44">
                    <c:v>1970</c:v>
                  </c:pt>
                  <c:pt idx="45">
                    <c:v>1971</c:v>
                  </c:pt>
                  <c:pt idx="46">
                    <c:v>1972</c:v>
                  </c:pt>
                  <c:pt idx="47">
                    <c:v>1973</c:v>
                  </c:pt>
                  <c:pt idx="48">
                    <c:v>1974</c:v>
                  </c:pt>
                  <c:pt idx="49">
                    <c:v>1975</c:v>
                  </c:pt>
                  <c:pt idx="50">
                    <c:v>1976</c:v>
                  </c:pt>
                  <c:pt idx="51">
                    <c:v>1977</c:v>
                  </c:pt>
                  <c:pt idx="52">
                    <c:v>1978</c:v>
                  </c:pt>
                  <c:pt idx="53">
                    <c:v>1979</c:v>
                  </c:pt>
                  <c:pt idx="54">
                    <c:v>1980</c:v>
                  </c:pt>
                  <c:pt idx="55">
                    <c:v>1981</c:v>
                  </c:pt>
                  <c:pt idx="56">
                    <c:v>1982</c:v>
                  </c:pt>
                  <c:pt idx="57">
                    <c:v>1983</c:v>
                  </c:pt>
                  <c:pt idx="58">
                    <c:v>1984</c:v>
                  </c:pt>
                  <c:pt idx="59">
                    <c:v>1985</c:v>
                  </c:pt>
                  <c:pt idx="60">
                    <c:v>1986</c:v>
                  </c:pt>
                  <c:pt idx="61">
                    <c:v>1987</c:v>
                  </c:pt>
                  <c:pt idx="62">
                    <c:v>1988</c:v>
                  </c:pt>
                  <c:pt idx="63">
                    <c:v>1989</c:v>
                  </c:pt>
                  <c:pt idx="64">
                    <c:v>1990</c:v>
                  </c:pt>
                  <c:pt idx="65">
                    <c:v>1991</c:v>
                  </c:pt>
                  <c:pt idx="66">
                    <c:v>1992</c:v>
                  </c:pt>
                  <c:pt idx="67">
                    <c:v>1993</c:v>
                  </c:pt>
                  <c:pt idx="68">
                    <c:v>1994</c:v>
                  </c:pt>
                  <c:pt idx="69">
                    <c:v>1995</c:v>
                  </c:pt>
                  <c:pt idx="70">
                    <c:v>1996</c:v>
                  </c:pt>
                  <c:pt idx="71">
                    <c:v>1997</c:v>
                  </c:pt>
                  <c:pt idx="72">
                    <c:v>1998</c:v>
                  </c:pt>
                  <c:pt idx="73">
                    <c:v>1999</c:v>
                  </c:pt>
                  <c:pt idx="74">
                    <c:v>2000</c:v>
                  </c:pt>
                  <c:pt idx="75">
                    <c:v>2001</c:v>
                  </c:pt>
                  <c:pt idx="76">
                    <c:v>2002</c:v>
                  </c:pt>
                  <c:pt idx="77">
                    <c:v>2003</c:v>
                  </c:pt>
                  <c:pt idx="78">
                    <c:v>2004</c:v>
                  </c:pt>
                  <c:pt idx="79">
                    <c:v>2005</c:v>
                  </c:pt>
                  <c:pt idx="80">
                    <c:v>2006</c:v>
                  </c:pt>
                  <c:pt idx="81">
                    <c:v>2007</c:v>
                  </c:pt>
                  <c:pt idx="82">
                    <c:v>2008</c:v>
                  </c:pt>
                  <c:pt idx="83">
                    <c:v>2009</c:v>
                  </c:pt>
                  <c:pt idx="84">
                    <c:v>2010</c:v>
                  </c:pt>
                  <c:pt idx="85">
                    <c:v>2011</c:v>
                  </c:pt>
                  <c:pt idx="86">
                    <c:v>2012</c:v>
                  </c:pt>
                  <c:pt idx="87">
                    <c:v>2013</c:v>
                  </c:pt>
                  <c:pt idx="88">
                    <c:v>2014</c:v>
                  </c:pt>
                  <c:pt idx="89">
                    <c:v>2015</c:v>
                  </c:pt>
                  <c:pt idx="90">
                    <c:v>2016</c:v>
                  </c:pt>
                  <c:pt idx="91">
                    <c:v>2017</c:v>
                  </c:pt>
                  <c:pt idx="92">
                    <c:v>2018</c:v>
                  </c:pt>
                  <c:pt idx="93">
                    <c:v>2019</c:v>
                  </c:pt>
                  <c:pt idx="94">
                    <c:v>2020</c:v>
                  </c:pt>
                  <c:pt idx="95">
                    <c:v>2021</c:v>
                  </c:pt>
                  <c:pt idx="96">
                    <c:v>2022</c:v>
                  </c:pt>
                  <c:pt idx="97">
                    <c:v>2023</c:v>
                  </c:pt>
                  <c:pt idx="98">
                    <c:v>2024</c:v>
                  </c:pt>
                  <c:pt idx="99">
                    <c:v>2025</c:v>
                  </c:pt>
                </c:lvl>
              </c:multiLvlStrCache>
            </c:multiLvlStrRef>
          </c:cat>
          <c:val>
            <c:numRef>
              <c:f>Sheet1!$B$2:$B$101</c:f>
              <c:numCache>
                <c:formatCode>General</c:formatCode>
                <c:ptCount val="100"/>
                <c:pt idx="0">
                  <c:v>1.153</c:v>
                </c:pt>
                <c:pt idx="1">
                  <c:v>1.601</c:v>
                </c:pt>
                <c:pt idx="2">
                  <c:v>2.238</c:v>
                </c:pt>
                <c:pt idx="3">
                  <c:v>2.131</c:v>
                </c:pt>
                <c:pt idx="4">
                  <c:v>1.73</c:v>
                </c:pt>
                <c:pt idx="5">
                  <c:v>1.111</c:v>
                </c:pt>
                <c:pt idx="6">
                  <c:v>1.101</c:v>
                </c:pt>
                <c:pt idx="7">
                  <c:v>1.688</c:v>
                </c:pt>
                <c:pt idx="8">
                  <c:v>1.616</c:v>
                </c:pt>
                <c:pt idx="9">
                  <c:v>2.307</c:v>
                </c:pt>
                <c:pt idx="10">
                  <c:v>3.087</c:v>
                </c:pt>
                <c:pt idx="11">
                  <c:v>2.043</c:v>
                </c:pt>
                <c:pt idx="12">
                  <c:v>2.574</c:v>
                </c:pt>
                <c:pt idx="13">
                  <c:v>2.626</c:v>
                </c:pt>
                <c:pt idx="14">
                  <c:v>2.355</c:v>
                </c:pt>
                <c:pt idx="15">
                  <c:v>1.912</c:v>
                </c:pt>
                <c:pt idx="16">
                  <c:v>2.055</c:v>
                </c:pt>
                <c:pt idx="17">
                  <c:v>2.534</c:v>
                </c:pt>
                <c:pt idx="18">
                  <c:v>2.973</c:v>
                </c:pt>
                <c:pt idx="19">
                  <c:v>4.017</c:v>
                </c:pt>
                <c:pt idx="20">
                  <c:v>3.092</c:v>
                </c:pt>
                <c:pt idx="21">
                  <c:v>2.968</c:v>
                </c:pt>
                <c:pt idx="22">
                  <c:v>3.08</c:v>
                </c:pt>
                <c:pt idx="23">
                  <c:v>3.663</c:v>
                </c:pt>
                <c:pt idx="24">
                  <c:v>4.422</c:v>
                </c:pt>
                <c:pt idx="25">
                  <c:v>5.289</c:v>
                </c:pt>
                <c:pt idx="26">
                  <c:v>6.19</c:v>
                </c:pt>
                <c:pt idx="27">
                  <c:v>6.205</c:v>
                </c:pt>
                <c:pt idx="28">
                  <c:v>9.255</c:v>
                </c:pt>
                <c:pt idx="29">
                  <c:v>12.444</c:v>
                </c:pt>
                <c:pt idx="30">
                  <c:v>12.846</c:v>
                </c:pt>
                <c:pt idx="31">
                  <c:v>11.278</c:v>
                </c:pt>
                <c:pt idx="32">
                  <c:v>15.27</c:v>
                </c:pt>
                <c:pt idx="33">
                  <c:v>17.1</c:v>
                </c:pt>
                <c:pt idx="34">
                  <c:v>16.797</c:v>
                </c:pt>
                <c:pt idx="35">
                  <c:v>21.707</c:v>
                </c:pt>
                <c:pt idx="36">
                  <c:v>19.339</c:v>
                </c:pt>
                <c:pt idx="37">
                  <c:v>23.247</c:v>
                </c:pt>
                <c:pt idx="38">
                  <c:v>26.841</c:v>
                </c:pt>
                <c:pt idx="39">
                  <c:v>29.637</c:v>
                </c:pt>
                <c:pt idx="40">
                  <c:v>26.259</c:v>
                </c:pt>
                <c:pt idx="41">
                  <c:v>30.821</c:v>
                </c:pt>
                <c:pt idx="42">
                  <c:v>33.905</c:v>
                </c:pt>
                <c:pt idx="43">
                  <c:v>28.2</c:v>
                </c:pt>
                <c:pt idx="44">
                  <c:v>27.43</c:v>
                </c:pt>
                <c:pt idx="45">
                  <c:v>30.189</c:v>
                </c:pt>
                <c:pt idx="46">
                  <c:v>35.582</c:v>
                </c:pt>
                <c:pt idx="47">
                  <c:v>27.215</c:v>
                </c:pt>
                <c:pt idx="48">
                  <c:v>17.904</c:v>
                </c:pt>
                <c:pt idx="49">
                  <c:v>23.112</c:v>
                </c:pt>
                <c:pt idx="50">
                  <c:v>27.003</c:v>
                </c:pt>
                <c:pt idx="51">
                  <c:v>23.711</c:v>
                </c:pt>
                <c:pt idx="52">
                  <c:v>23.452</c:v>
                </c:pt>
                <c:pt idx="53">
                  <c:v>24.459</c:v>
                </c:pt>
                <c:pt idx="54">
                  <c:v>28.309</c:v>
                </c:pt>
                <c:pt idx="55">
                  <c:v>25.34</c:v>
                </c:pt>
                <c:pt idx="56">
                  <c:v>29.092</c:v>
                </c:pt>
                <c:pt idx="57">
                  <c:v>34.525</c:v>
                </c:pt>
                <c:pt idx="58">
                  <c:v>34.781</c:v>
                </c:pt>
                <c:pt idx="59">
                  <c:v>44.016</c:v>
                </c:pt>
                <c:pt idx="60">
                  <c:v>54.038</c:v>
                </c:pt>
                <c:pt idx="61">
                  <c:v>51.69</c:v>
                </c:pt>
                <c:pt idx="62">
                  <c:v>58.807</c:v>
                </c:pt>
                <c:pt idx="63">
                  <c:v>73.18</c:v>
                </c:pt>
                <c:pt idx="64">
                  <c:v>67.348</c:v>
                </c:pt>
                <c:pt idx="65">
                  <c:v>79.766</c:v>
                </c:pt>
                <c:pt idx="66">
                  <c:v>89.536</c:v>
                </c:pt>
                <c:pt idx="67">
                  <c:v>95.821</c:v>
                </c:pt>
                <c:pt idx="68">
                  <c:v>93.751</c:v>
                </c:pt>
                <c:pt idx="69">
                  <c:v>126.556</c:v>
                </c:pt>
                <c:pt idx="70">
                  <c:v>151.348</c:v>
                </c:pt>
                <c:pt idx="71">
                  <c:v>196.096</c:v>
                </c:pt>
                <c:pt idx="72">
                  <c:v>242.18</c:v>
                </c:pt>
                <c:pt idx="73">
                  <c:v>286.689</c:v>
                </c:pt>
                <c:pt idx="74">
                  <c:v>261.34</c:v>
                </c:pt>
                <c:pt idx="75">
                  <c:v>224.35</c:v>
                </c:pt>
                <c:pt idx="76">
                  <c:v>174.906</c:v>
                </c:pt>
                <c:pt idx="77">
                  <c:v>209.901</c:v>
                </c:pt>
                <c:pt idx="78">
                  <c:v>229.333</c:v>
                </c:pt>
                <c:pt idx="79">
                  <c:v>237.473</c:v>
                </c:pt>
                <c:pt idx="80">
                  <c:v>264.629</c:v>
                </c:pt>
                <c:pt idx="81">
                  <c:v>270.301</c:v>
                </c:pt>
                <c:pt idx="82">
                  <c:v>164.106</c:v>
                </c:pt>
                <c:pt idx="83">
                  <c:v>207.734</c:v>
                </c:pt>
                <c:pt idx="84">
                  <c:v>233.359</c:v>
                </c:pt>
                <c:pt idx="85">
                  <c:v>231.42</c:v>
                </c:pt>
                <c:pt idx="86">
                  <c:v>265.673</c:v>
                </c:pt>
                <c:pt idx="87">
                  <c:v>339.52</c:v>
                </c:pt>
                <c:pt idx="88">
                  <c:v>390.423</c:v>
                </c:pt>
                <c:pt idx="89">
                  <c:v>395.498</c:v>
                </c:pt>
                <c:pt idx="90">
                  <c:v>432.909</c:v>
                </c:pt>
                <c:pt idx="91">
                  <c:v>512.635</c:v>
                </c:pt>
                <c:pt idx="92">
                  <c:v>493.872</c:v>
                </c:pt>
                <c:pt idx="93">
                  <c:v>609.107</c:v>
                </c:pt>
                <c:pt idx="94">
                  <c:v>712.084</c:v>
                </c:pt>
                <c:pt idx="95">
                  <c:v>853.28</c:v>
                </c:pt>
                <c:pt idx="96">
                  <c:v>681.427</c:v>
                </c:pt>
                <c:pt idx="97">
                  <c:v>802.353</c:v>
                </c:pt>
                <c:pt idx="98">
                  <c:v>1013.992</c:v>
                </c:pt>
                <c:pt idx="99">
                  <c:v>1140.107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AA4B2"/>
                </a:solidFill>
                <a:latin typeface="+mn-lt"/>
              </a:defRPr>
            </a:pPr>
            <a:endParaRPr lang="en-US"/>
          </a:p>
        </c:txPr>
        <c:crossAx val="2094734552"/>
        <c:crosses val="autoZero"/>
        <c:auto val="1"/>
        <c:lblAlgn val="ctr"/>
        <c:noMultiLvlLbl val="1"/>
        <c:tickLblSkip val="10"/>
      </c:catAx>
      <c:valAx>
        <c:axId val="2094734552"/>
        <c:scaling>
          <c:logBase val="10"/>
          <c:orientation val="minMax"/>
          <c:max val="2000"/>
          <c:min val="1"/>
        </c:scaling>
        <c:delete val="0"/>
        <c:axPos val="l"/>
        <c:majorGridlines>
          <c:spPr>
            <a:ln w="9525" cap="flat">
              <a:solidFill>
                <a:srgbClr val="2A313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AA4B2"/>
                </a:solidFill>
                <a:latin typeface="+mn-lt"/>
              </a:defRPr>
            </a:pPr>
            <a:r>
              <a:rPr sz="1200" b="0" i="0" u="none" strike="noStrike">
                <a:solidFill>
                  <a:srgbClr val="9AA4B2"/>
                </a:solidFill>
                <a:latin typeface="+mn-lt"/>
              </a:rPr>
              <a:t>Lines of code, by file</a:t>
            </a:r>
          </a:p>
        </c:rich>
      </c:tx>
      <c:layout/>
      <c:overlay val="0"/>
    </c:title>
    <c:autoTitleDeleted val="0"/>
    <c:plotArea>
      <c:layout/>
      <c:barChart>
        <c:barDir val="bar"/>
        <c:grouping val="clustered"/>
        <c:varyColors val="0"/>
        <c:ser>
          <c:idx val="0"/>
          <c:order val="0"/>
          <c:tx>
            <c:strRef>
              <c:f>Sheet1!$B$1</c:f>
              <c:strCache>
                <c:ptCount val="1"/>
                <c:pt idx="0">
                  <c:v>Lines</c:v>
                </c:pt>
              </c:strCache>
            </c:strRef>
          </c:tx>
          <c:spPr>
            <a:solidFill>
              <a:srgbClr val="E3A93B"/>
            </a:solidFill>
            <a:effectLst/>
          </c:spPr>
          <c:invertIfNegative val="0"/>
          <c:dLbls>
            <c:numFmt formatCode="#,##0" sourceLinked="0"/>
            <c:txPr>
              <a:bodyPr/>
              <a:lstStyle/>
              <a:p>
                <a:pPr>
                  <a:defRPr b="0" i="0" strike="noStrike" sz="1200" u="none">
                    <a:solidFill>
                      <a:srgbClr val="E8EBF0"/>
                    </a:solidFill>
                    <a:latin typeface="+mn-lt"/>
                  </a:defRPr>
                </a:pPr>
              </a:p>
            </c:txPr>
            <c:showLegendKey val="0"/>
            <c:showVal val="1"/>
            <c:showCatName val="0"/>
            <c:showSerName val="0"/>
            <c:showPercent val="0"/>
            <c:showBubbleSize val="0"/>
            <c:showLeaderLines val="0"/>
          </c:dLbls>
          <c:cat>
            <c:multiLvlStrRef>
              <c:f>Sheet1!$A$2:$A$7</c:f>
              <c:multiLvlStrCache>
                <c:ptCount val="6"/>
                <c:lvl>
                  <c:pt idx="0">
                    <c:v>math.js</c:v>
                  </c:pt>
                  <c:pt idx="1">
                    <c:v>drawdown.js</c:v>
                  </c:pt>
                  <c:pt idx="2">
                    <c:v>data files</c:v>
                  </c:pt>
                  <c:pt idx="3">
                    <c:v>plan.js</c:v>
                  </c:pt>
                  <c:pt idx="4">
                    <c:v>bridge.js</c:v>
                  </c:pt>
                  <c:pt idx="5">
                    <c:v>calculators.js</c:v>
                  </c:pt>
                </c:lvl>
              </c:multiLvlStrCache>
            </c:multiLvlStrRef>
          </c:cat>
          <c:val>
            <c:numRef>
              <c:f>Sheet1!$B$2:$B$7</c:f>
              <c:numCache>
                <c:formatCode>General</c:formatCode>
                <c:ptCount val="6"/>
                <c:pt idx="0">
                  <c:v>2389</c:v>
                </c:pt>
                <c:pt idx="1">
                  <c:v>1435</c:v>
                </c:pt>
                <c:pt idx="2">
                  <c:v>1100</c:v>
                </c:pt>
                <c:pt idx="3">
                  <c:v>833</c:v>
                </c:pt>
                <c:pt idx="4">
                  <c:v>471</c:v>
                </c:pt>
                <c:pt idx="5">
                  <c:v>408</c:v>
                </c:pt>
              </c:numCache>
            </c:numRef>
          </c:val>
        </c:ser>
        <c:dLbls>
          <c:numFmt formatCode="#,##0" sourceLinked="0"/>
          <c:txPr>
            <a:bodyPr/>
            <a:lstStyle/>
            <a:p>
              <a:pPr>
                <a:defRPr b="0" i="0" strike="noStrike" sz="1200" u="none">
                  <a:solidFill>
                    <a:srgbClr val="E8EB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E8EBF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RetCalc is a free retirement planning toolkit at retcalc.app. The art on this slide is real: every 30-year stretch of a 60/40 portfolio since 1926, after inflation, from the same data the tools use. The amber line is the middle outcome. That spread is the whole point of the site: plans are tested against all of those paths, not one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results from the live site: the Drawdown Simulator, Income Tax, the Stages calculator against history, the Budget, and Social Security. The whole site runs in the visitor's browser and covers the full arc, from saving to drawing it down. 14 tools, 3 calculators and 2 guided walkthroughs, all free, with no ads and no account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One: the household is entered once and every tool reads it, and tools hand results to each other. Two: plans are tested against real market history, month by month since 1926, not a single average return. Three: privacy. The math runs in the browser; an account only syncs saved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every tool tests against: 1,200 months of stock, bond and inflation history from January 1926 to December 2025, from Robert Shiller at Yale and the BLS. A dollar grew to about $1,140 after inflation, but the falls on the right are what break retirements. A plan that only sees the average never meets them; RetCalc replays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follow the order life brings the questions: the basics today, growing savings, planning the handoff, and making it last. Two walkthroughs stitch them together for people who would rather be guided.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is the calculator for real life, where saving changes: early career, kids at home, peak earning, coasting. Each stage has its own numbers, and the kids builder can create the stages for you. The chart shows the sample plan against every historical window since 1926, with dashed lines where each stage begins. Basic and Advanced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calculators ask how much you will have. This asks whether it lasts once spending starts. The sample here, a million dollars at 4%, lasted in 785 of 835 historical starts; it failed only for retirements beginning in the late 1960s. The success grid on the right shows every withdrawal rate against every stock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Tax works for a salary or for a year of retirement withdrawals. Retirement mode is the unusual part: it stacks long-term gains on top of ordinary income, taxes Social Security through the 0, 50 and 85 percent tiers, applies the senior deduction, and reports the real marginal rate on the next dollar.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tab lays out spending. The Paycheck tab turns gross pay into taxes, bills and savings, and every slider reruns the tax math by deduction kind and by earner. Three one-click plans: the usual order, max tax breaks, or stay flexible. It can send the savings split straight into the Advanced or Stages calculator.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 is a check-up. It finds the number to aim for, tests it against history, scores readiness out of 100 and lists the moves that matter. The sample couple here scored 98. It ends in a printable report; the pages on the right are that couple's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people who would rather get straight to the numbers. Gross pay to take-home, a budget, where each paycheck goes, and where that saving leads by retirement, children included. It runs the real tools inside it and ends with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from the live site, carried tool to tool by the hand-off buttons. Their budget and paycheck give $1,803 per month of saving. Stages, with the kids builder, gets them to $743,576 in today's dollars at 65. Social Security adds $6,236 per month from 67. The Drawdown Simulator says the plan lasted in all 835 historical retirements. Step-by-step screenshots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Pages are prerendered on Vercel. All the math runs in a Web Worker in the browser, so the page never freezes. Saved data goes to the browser first; an optional Supabase account syncs it, with row-level security. Error reports go to Sentry with every input stripped. The appendix covers the engine, testing, hosting, accounts and every data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RetCalc: free, private, and tested against a century of markets. The appendix that follows has a slide for every tool and the full story of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11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E111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6576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548640" y="1828800"/>
            <a:ext cx="6400800" cy="2743200"/>
          </a:xfrm>
          <a:prstGeom prst="rect">
            <a:avLst/>
          </a:prstGeom>
          <a:noFill/>
          <a:ln/>
        </p:spPr>
        <p:txBody>
          <a:bodyPr wrap="square" rtlCol="0"/>
          <a:lstStyle>
            <a:lvl1pPr algn="l" indent="0" marL="0">
              <a:buNone/>
              <a:defRPr lang="en-US" sz="6000" b="1" dirty="0">
                <a:solidFill>
                  <a:schemeClr val="bg2"/>
                </a:solidFill>
              </a:defRPr>
            </a:lvl1pPr>
          </a:lstStyle>
          <a:p>
            <a:pPr algn="l"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548640" y="6419088"/>
            <a:ext cx="3657600" cy="274320"/>
          </a:xfrm>
          <a:prstGeom prst="rect">
            <a:avLst/>
          </a:prstGeom>
          <a:noFill/>
          <a:ln/>
        </p:spPr>
        <p:txBody>
          <a:bodyPr wrap="square" lIns="0" tIns="0" rIns="0" bIns="0" rtlCol="0" anchor="ctr"/>
          <a:lstStyle/>
          <a:p>
            <a:pPr indent="0" marL="0">
              <a:buNone/>
            </a:pPr>
            <a:r>
              <a:rPr lang="en-US" sz="1000" dirty="0">
                <a:solidFill>
                  <a:srgbClr val="9AA4B2"/>
                </a:solidFill>
              </a:rPr>
              <a:t>RetCalc  ·  retcalc.app</a:t>
            </a:r>
            <a:endParaRPr lang="en-US" sz="1000" dirty="0"/>
          </a:p>
        </p:txBody>
      </p:sp>
      <p:sp>
        <p:nvSpPr>
          <p:cNvPr id="3" name="Text 1"/>
          <p:cNvSpPr/>
          <p:nvPr>
            <p:ph idx="101" type="body" hasCustomPrompt="1"/>
          </p:nvPr>
        </p:nvSpPr>
        <p:spPr>
          <a:xfrm>
            <a:off x="548640" y="384048"/>
            <a:ext cx="822960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548640" y="713232"/>
            <a:ext cx="11094415" cy="685800"/>
          </a:xfrm>
          <a:prstGeom prst="rect">
            <a:avLst/>
          </a:prstGeom>
          <a:noFill/>
          <a:ln/>
        </p:spPr>
        <p:txBody>
          <a:bodyPr wrap="square" rtlCol="0"/>
          <a:lstStyle>
            <a:lvl1pPr algn="l" indent="0" marL="0">
              <a:buNone/>
              <a:defRPr lang="en-US" sz="3400" b="1" dirty="0">
                <a:solidFill>
                  <a:schemeClr val="bg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PLIT">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548640" y="6419088"/>
            <a:ext cx="3657600" cy="274320"/>
          </a:xfrm>
          <a:prstGeom prst="rect">
            <a:avLst/>
          </a:prstGeom>
          <a:noFill/>
          <a:ln/>
        </p:spPr>
        <p:txBody>
          <a:bodyPr wrap="square" lIns="0" tIns="0" rIns="0" bIns="0" rtlCol="0" anchor="ctr"/>
          <a:lstStyle/>
          <a:p>
            <a:pPr indent="0" marL="0">
              <a:buNone/>
            </a:pPr>
            <a:r>
              <a:rPr lang="en-US" sz="1000" dirty="0">
                <a:solidFill>
                  <a:srgbClr val="9AA4B2"/>
                </a:solidFill>
              </a:rPr>
              <a:t>RetCalc  ·  retcalc.app</a:t>
            </a:r>
            <a:endParaRPr lang="en-US" sz="1000" dirty="0"/>
          </a:p>
        </p:txBody>
      </p:sp>
      <p:sp>
        <p:nvSpPr>
          <p:cNvPr id="3" name="Text 1"/>
          <p:cNvSpPr/>
          <p:nvPr>
            <p:ph idx="101" type="body" hasCustomPrompt="1"/>
          </p:nvPr>
        </p:nvSpPr>
        <p:spPr>
          <a:xfrm>
            <a:off x="548640" y="548640"/>
            <a:ext cx="402336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548640" y="896112"/>
            <a:ext cx="4114800" cy="1325880"/>
          </a:xfrm>
          <a:prstGeom prst="rect">
            <a:avLst/>
          </a:prstGeom>
          <a:noFill/>
          <a:ln/>
        </p:spPr>
        <p:txBody>
          <a:bodyPr wrap="square" rtlCol="0"/>
          <a:lstStyle>
            <a:lvl1pPr algn="l" indent="0" marL="0">
              <a:buNone/>
              <a:defRPr lang="en-US" sz="3000" b="1" dirty="0">
                <a:solidFill>
                  <a:schemeClr val="bg2"/>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etcalc.app"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5.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5.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5.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retcalc.app"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7.xml"/><Relationship Id="rId13" Type="http://schemas.openxmlformats.org/officeDocument/2006/relationships/slide" Target="slide28.xml"/><Relationship Id="rId14" Type="http://schemas.openxmlformats.org/officeDocument/2006/relationships/slide" Target="slide29.xml"/><Relationship Id="rId15" Type="http://schemas.openxmlformats.org/officeDocument/2006/relationships/slide" Target="slide30.xml"/><Relationship Id="rId16" Type="http://schemas.openxmlformats.org/officeDocument/2006/relationships/slide" Target="slide31.xml"/><Relationship Id="rId17" Type="http://schemas.openxmlformats.org/officeDocument/2006/relationships/slide" Target="slide32.xml"/><Relationship Id="rId18" Type="http://schemas.openxmlformats.org/officeDocument/2006/relationships/slide" Target="slide33.xml"/><Relationship Id="rId19" Type="http://schemas.openxmlformats.org/officeDocument/2006/relationships/slide" Target="slide34.xml"/><Relationship Id="rId20" Type="http://schemas.openxmlformats.org/officeDocument/2006/relationships/slide" Target="slide35.xml"/><Relationship Id="rId21" Type="http://schemas.openxmlformats.org/officeDocument/2006/relationships/slide" Target="slide36.xml"/><Relationship Id="rId22" Type="http://schemas.openxmlformats.org/officeDocument/2006/relationships/slide" Target="slide37.xml"/><Relationship Id="rId23" Type="http://schemas.openxmlformats.org/officeDocument/2006/relationships/slide" Target="slide38.xml"/><Relationship Id="rId24" Type="http://schemas.openxmlformats.org/officeDocument/2006/relationships/slide" Target="slide39.xml"/><Relationship Id="rId25" Type="http://schemas.openxmlformats.org/officeDocument/2006/relationships/slide" Target="slide40.xml"/><Relationship Id="rId26" Type="http://schemas.openxmlformats.org/officeDocument/2006/relationships/slideLayout" Target="../slideLayouts/slideLayout3.xml"/><Relationship Id="rId2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retcalc.app/calculator" TargetMode="Externa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retcalc.app/stages" TargetMode="Externa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retcalc.app/drawdown" TargetMode="Externa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slideLayout" Target="../slideLayouts/slideLayout5.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retcalc.app/optimizer" TargetMode="Externa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slideLayout" Target="../slideLayouts/slideLayout5.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retcalc.app/social-security" TargetMode="External"/><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slideLayout" Target="../slideLayouts/slideLayout5.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etcalc.app/bridge" TargetMode="Externa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slideLayout" Target="../slideLayouts/slideLayout5.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retcalc.app/roth" TargetMode="Externa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slideLayout" Target="../slideLayouts/slideLayout5.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retcalc.app/healthcare" TargetMode="Externa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retcalc.app/fire" TargetMode="Externa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5.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retcalc.app/backtest" TargetMode="External"/><Relationship Id="rId2" Type="http://schemas.openxmlformats.org/officeDocument/2006/relationships/image" Target="../media/image-26-1.png"/><Relationship Id="rId3" Type="http://schemas.openxmlformats.org/officeDocument/2006/relationships/image" Target="../media/image-26-2.png"/><Relationship Id="rId4" Type="http://schemas.openxmlformats.org/officeDocument/2006/relationships/slideLayout" Target="../slideLayouts/slideLayout5.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retcalc.app/college" TargetMode="Externa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5.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retcalc.app/rentbuy" TargetMode="External"/><Relationship Id="rId2" Type="http://schemas.openxmlformats.org/officeDocument/2006/relationships/image" Target="../media/image-28-1.png"/><Relationship Id="rId3" Type="http://schemas.openxmlformats.org/officeDocument/2006/relationships/image" Target="../media/image-28-2.png"/><Relationship Id="rId4" Type="http://schemas.openxmlformats.org/officeDocument/2006/relationships/slideLayout" Target="../slideLayouts/slideLayout5.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retcalc.app/incometax" TargetMode="External"/><Relationship Id="rId2" Type="http://schemas.openxmlformats.org/officeDocument/2006/relationships/image" Target="../media/image-29-1.png"/><Relationship Id="rId3" Type="http://schemas.openxmlformats.org/officeDocument/2006/relationships/image" Target="../media/image-29-2.png"/><Relationship Id="rId4" Type="http://schemas.openxmlformats.org/officeDocument/2006/relationships/slideLayout" Target="../slideLayouts/slideLayout5.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retcalc.app/budget" TargetMode="Externa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retcalc.app/debt" TargetMode="External"/><Relationship Id="rId2" Type="http://schemas.openxmlformats.org/officeDocument/2006/relationships/image" Target="../media/image-31-1.png"/><Relationship Id="rId3" Type="http://schemas.openxmlformats.org/officeDocument/2006/relationships/image" Target="../media/image-31-2.png"/><Relationship Id="rId4" Type="http://schemas.openxmlformats.org/officeDocument/2006/relationships/image" Target="../media/image-31-3.png"/><Relationship Id="rId5" Type="http://schemas.openxmlformats.org/officeDocument/2006/relationships/slideLayout" Target="../slideLayouts/slideLayout5.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retcalc.app/mortgage" TargetMode="External"/><Relationship Id="rId2" Type="http://schemas.openxmlformats.org/officeDocument/2006/relationships/image" Target="../media/image-32-1.png"/><Relationship Id="rId3" Type="http://schemas.openxmlformats.org/officeDocument/2006/relationships/image" Target="../media/image-32-2.png"/><Relationship Id="rId4" Type="http://schemas.openxmlformats.org/officeDocument/2006/relationships/slideLayout" Target="../slideLayouts/slideLayout5.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slideLayout" Target="../slideLayouts/slideLayout4.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image" Target="../media/image-38-3.jpg"/><Relationship Id="rId4" Type="http://schemas.openxmlformats.org/officeDocument/2006/relationships/image" Target="../media/image-38-4.jp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erikalfriend/Projects/RetCalc/.claude/worktrees/marketing-package/marketing/deck/img/cover_fan.png">    </p:cNvPr>
          <p:cNvPicPr>
            <a:picLocks noChangeAspect="1"/>
          </p:cNvPicPr>
          <p:nvPr/>
        </p:nvPicPr>
        <p:blipFill>
          <a:blip r:embed="rId1">
            <a:alphaModFix amt="85000"/>
          </a:blip>
          <a:stretch>
            <a:fillRect/>
          </a:stretch>
        </p:blipFill>
        <p:spPr>
          <a:xfrm>
            <a:off x="0" y="2560320"/>
            <a:ext cx="12191695" cy="4298647"/>
          </a:xfrm>
          <a:prstGeom prst="rect">
            <a:avLst/>
          </a:prstGeom>
        </p:spPr>
      </p:pic>
      <p:pic>
        <p:nvPicPr>
          <p:cNvPr id="3" name="Image 1" descr="/Users/erikalfriend/Projects/RetCalc/.claude/worktrees/marketing-package/marketing/deck/img/logo.png">    </p:cNvPr>
          <p:cNvPicPr>
            <a:picLocks noChangeAspect="1"/>
          </p:cNvPicPr>
          <p:nvPr/>
        </p:nvPicPr>
        <p:blipFill>
          <a:blip r:embed="rId2"/>
          <a:stretch>
            <a:fillRect/>
          </a:stretch>
        </p:blipFill>
        <p:spPr>
          <a:xfrm>
            <a:off x="548640" y="457200"/>
            <a:ext cx="384048" cy="384048"/>
          </a:xfrm>
          <a:prstGeom prst="rect">
            <a:avLst/>
          </a:prstGeom>
        </p:spPr>
      </p:pic>
      <p:sp>
        <p:nvSpPr>
          <p:cNvPr id="4" name="Text 0"/>
          <p:cNvSpPr txBox="1"/>
          <p:nvPr/>
        </p:nvSpPr>
        <p:spPr>
          <a:xfrm>
            <a:off x="1042416" y="457200"/>
            <a:ext cx="1828800" cy="384048"/>
          </a:xfrm>
          <a:prstGeom prst="rect">
            <a:avLst/>
          </a:prstGeom>
          <a:noFill/>
          <a:ln/>
        </p:spPr>
        <p:txBody>
          <a:bodyPr wrap="square" lIns="0" tIns="0" rIns="0" bIns="0" rtlCol="0" anchor="ctr"/>
          <a:lstStyle/>
          <a:p>
            <a:pPr indent="0" marL="0">
              <a:buNone/>
            </a:pPr>
            <a:r>
              <a:rPr lang="en-US" sz="1428" b="1" dirty="0">
                <a:solidFill>
                  <a:srgbClr val="E8EBF0"/>
                </a:solidFill>
              </a:rPr>
              <a:t>RetCalc</a:t>
            </a:r>
            <a:endParaRPr lang="en-US" sz="1428" dirty="0"/>
          </a:p>
        </p:txBody>
      </p:sp>
      <p:sp>
        <p:nvSpPr>
          <p:cNvPr id="5" name="Text 1"/>
          <p:cNvSpPr txBox="1"/>
          <p:nvPr/>
        </p:nvSpPr>
        <p:spPr>
          <a:xfrm>
            <a:off x="7985455" y="502920"/>
            <a:ext cx="3657600" cy="274320"/>
          </a:xfrm>
          <a:prstGeom prst="rect">
            <a:avLst/>
          </a:prstGeom>
          <a:noFill/>
          <a:ln/>
        </p:spPr>
        <p:txBody>
          <a:bodyPr wrap="square" lIns="0" tIns="0" rIns="0" bIns="0" rtlCol="0" anchor="t"/>
          <a:lstStyle/>
          <a:p>
            <a:pPr algn="r" indent="0" marL="0">
              <a:buNone/>
            </a:pPr>
            <a:r>
              <a:rPr lang="en-US" sz="1100" spc="300" kern="0" dirty="0">
                <a:solidFill>
                  <a:srgbClr val="9AA4B2"/>
                </a:solidFill>
              </a:rPr>
              <a:t>PRODUCT OVERVIEW</a:t>
            </a:r>
            <a:endParaRPr lang="en-US" sz="1100" dirty="0"/>
          </a:p>
        </p:txBody>
      </p:sp>
      <p:sp>
        <p:nvSpPr>
          <p:cNvPr id="6" name="Text 2"/>
          <p:cNvSpPr txBox="1"/>
          <p:nvPr/>
        </p:nvSpPr>
        <p:spPr>
          <a:xfrm>
            <a:off x="548640" y="1143000"/>
            <a:ext cx="8686800" cy="2514600"/>
          </a:xfrm>
          <a:prstGeom prst="rect">
            <a:avLst/>
          </a:prstGeom>
          <a:noFill/>
          <a:ln/>
        </p:spPr>
        <p:txBody>
          <a:bodyPr wrap="square" lIns="0" tIns="0" rIns="0" bIns="0" rtlCol="0" anchor="t"/>
          <a:lstStyle/>
          <a:p>
            <a:pPr indent="0" marL="0">
              <a:lnSpc>
                <a:spcPct val="92000"/>
              </a:lnSpc>
              <a:buNone/>
            </a:pPr>
            <a:r>
              <a:rPr lang="en-US" sz="6000" b="1" dirty="0">
                <a:solidFill>
                  <a:srgbClr val="E8EBF0"/>
                </a:solidFill>
              </a:rPr>
              <a:t>The complete</a:t>
            </a:r>
            <a:endParaRPr lang="en-US" sz="6000" dirty="0"/>
          </a:p>
          <a:p>
            <a:pPr indent="0" marL="0">
              <a:lnSpc>
                <a:spcPct val="92000"/>
              </a:lnSpc>
              <a:buNone/>
            </a:pPr>
            <a:r>
              <a:rPr lang="en-US" sz="6000" b="1" dirty="0">
                <a:solidFill>
                  <a:srgbClr val="E3A93B"/>
                </a:solidFill>
              </a:rPr>
              <a:t>retirement planning</a:t>
            </a:r>
            <a:endParaRPr lang="en-US" sz="6000" dirty="0"/>
          </a:p>
          <a:p>
            <a:pPr indent="0" marL="0">
              <a:lnSpc>
                <a:spcPct val="92000"/>
              </a:lnSpc>
              <a:buNone/>
            </a:pPr>
            <a:r>
              <a:rPr lang="en-US" sz="6000" b="1" dirty="0">
                <a:solidFill>
                  <a:srgbClr val="E8EBF0"/>
                </a:solidFill>
              </a:rPr>
              <a:t>toolkit.</a:t>
            </a:r>
            <a:endParaRPr lang="en-US" sz="6000" dirty="0"/>
          </a:p>
        </p:txBody>
      </p:sp>
      <p:sp>
        <p:nvSpPr>
          <p:cNvPr id="7" name="Text 3"/>
          <p:cNvSpPr txBox="1"/>
          <p:nvPr/>
        </p:nvSpPr>
        <p:spPr>
          <a:xfrm>
            <a:off x="548640" y="3703320"/>
            <a:ext cx="6035040" cy="731520"/>
          </a:xfrm>
          <a:prstGeom prst="rect">
            <a:avLst/>
          </a:prstGeom>
          <a:noFill/>
          <a:ln/>
        </p:spPr>
        <p:txBody>
          <a:bodyPr wrap="square" lIns="0" tIns="0" rIns="0" bIns="0" rtlCol="0" anchor="t"/>
          <a:lstStyle/>
          <a:p>
            <a:pPr indent="0" marL="0">
              <a:buNone/>
            </a:pPr>
            <a:r>
              <a:rPr lang="en-US" sz="1800" dirty="0">
                <a:solidFill>
                  <a:srgbClr val="9AA4B2"/>
                </a:solidFill>
              </a:rPr>
              <a:t>A calculator, two guided walkthroughs and fourteen planning tools, each tested against every market since 1926.</a:t>
            </a:r>
            <a:endParaRPr lang="en-US" sz="1800" dirty="0"/>
          </a:p>
        </p:txBody>
      </p:sp>
      <p:sp>
        <p:nvSpPr>
          <p:cNvPr id="8" name="Text 4"/>
          <p:cNvSpPr txBox="1"/>
          <p:nvPr/>
        </p:nvSpPr>
        <p:spPr>
          <a:xfrm>
            <a:off x="8899855" y="6263640"/>
            <a:ext cx="2743200" cy="365760"/>
          </a:xfrm>
          <a:prstGeom prst="rect">
            <a:avLst/>
          </a:prstGeom>
          <a:noFill/>
          <a:ln/>
        </p:spPr>
        <p:txBody>
          <a:bodyPr wrap="square" lIns="0" tIns="0" rIns="0" bIns="0" rtlCol="0" anchor="t"/>
          <a:lstStyle/>
          <a:p>
            <a:pPr algn="r" indent="0" marL="0">
              <a:buNone/>
            </a:pPr>
            <a:r>
              <a:rPr lang="en-US" sz="1800" b="1" u="sng" dirty="0">
                <a:solidFill>
                  <a:srgbClr val="E3A93B"/>
                </a:solidFill>
                <a:hlinkClick r:id="rId3" invalidUrl="" action="" tgtFrame="" tooltip="https://retcalc.app" history="1" highlightClick="0" endSnd="0">
                  <a:extLst>
                    <a:ext uri="{A12FA001-AC4F-418D-AE19-62706E023703}">
                      <ahyp:hlinkClr xmlns:ahyp="http://schemas.microsoft.com/office/drawing/2018/hyperlinkcolor" val="tx"/>
                    </a:ext>
                  </a:extLst>
                </a:hlinkClick>
              </a:rPr>
              <a:t>retcalc.app</a:t>
            </a:r>
            <a:endParaRPr lang="en-US" sz="1800" dirty="0"/>
          </a:p>
        </p:txBody>
      </p:sp>
      <p:sp>
        <p:nvSpPr>
          <p:cNvPr id="9" name="Text 5"/>
          <p:cNvSpPr txBox="1"/>
          <p:nvPr/>
        </p:nvSpPr>
        <p:spPr>
          <a:xfrm>
            <a:off x="548640" y="6355080"/>
            <a:ext cx="6400800" cy="274320"/>
          </a:xfrm>
          <a:prstGeom prst="rect">
            <a:avLst/>
          </a:prstGeom>
          <a:noFill/>
          <a:ln/>
        </p:spPr>
        <p:txBody>
          <a:bodyPr wrap="square" lIns="0" tIns="0" rIns="0" bIns="0" rtlCol="0" anchor="t"/>
          <a:lstStyle/>
          <a:p>
            <a:pPr indent="0" marL="0">
              <a:buNone/>
            </a:pPr>
            <a:r>
              <a:rPr lang="en-US" sz="1000" dirty="0">
                <a:solidFill>
                  <a:srgbClr val="9AA4B2"/>
                </a:solidFill>
              </a:rPr>
              <a:t>Every 30-year stretch since 1926 for a 60/40 portfolio, after inflation. The amber line is the middle one.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WHAT IT IS</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A whole retirement plan, in one place</a:t>
            </a:r>
            <a:endParaRPr lang="en-US" sz="3000" dirty="0"/>
          </a:p>
        </p:txBody>
      </p:sp>
      <p:sp>
        <p:nvSpPr>
          <p:cNvPr id="4" name="Text 2"/>
          <p:cNvSpPr txBox="1"/>
          <p:nvPr/>
        </p:nvSpPr>
        <p:spPr>
          <a:xfrm>
            <a:off x="548640" y="2331720"/>
            <a:ext cx="4114800" cy="1325880"/>
          </a:xfrm>
          <a:prstGeom prst="rect">
            <a:avLst/>
          </a:prstGeom>
          <a:noFill/>
          <a:ln/>
        </p:spPr>
        <p:txBody>
          <a:bodyPr wrap="square" lIns="0" tIns="0" rIns="0" bIns="0" rtlCol="0" anchor="t"/>
          <a:lstStyle/>
          <a:p>
            <a:pPr indent="0" marL="0">
              <a:buNone/>
            </a:pPr>
            <a:r>
              <a:rPr lang="en-US" sz="1500" dirty="0">
                <a:solidFill>
                  <a:srgbClr val="9AA4B2"/>
                </a:solidFill>
              </a:rPr>
              <a:t>From a first paycheck to a last withdrawal: what to save, where to put it, whether it will last, what it costs in tax and health insurance, and when to claim Social Security.</a:t>
            </a:r>
            <a:endParaRPr lang="en-US" sz="1500" dirty="0"/>
          </a:p>
        </p:txBody>
      </p:sp>
      <p:sp>
        <p:nvSpPr>
          <p:cNvPr id="5" name="Text 3"/>
          <p:cNvSpPr txBox="1"/>
          <p:nvPr/>
        </p:nvSpPr>
        <p:spPr>
          <a:xfrm>
            <a:off x="548640" y="3840480"/>
            <a:ext cx="2011680" cy="438912"/>
          </a:xfrm>
          <a:prstGeom prst="rect">
            <a:avLst/>
          </a:prstGeom>
          <a:noFill/>
          <a:ln/>
        </p:spPr>
        <p:txBody>
          <a:bodyPr wrap="square" lIns="0" tIns="0" rIns="0" bIns="0" rtlCol="0" anchor="t"/>
          <a:lstStyle/>
          <a:p>
            <a:pPr indent="0" marL="0">
              <a:buNone/>
            </a:pPr>
            <a:r>
              <a:rPr lang="en-US" sz="2800" b="1" dirty="0">
                <a:solidFill>
                  <a:srgbClr val="E3A93B"/>
                </a:solidFill>
              </a:rPr>
              <a:t>14</a:t>
            </a:r>
            <a:endParaRPr lang="en-US" sz="2800" dirty="0"/>
          </a:p>
        </p:txBody>
      </p:sp>
      <p:sp>
        <p:nvSpPr>
          <p:cNvPr id="6" name="Text 4"/>
          <p:cNvSpPr txBox="1"/>
          <p:nvPr/>
        </p:nvSpPr>
        <p:spPr>
          <a:xfrm>
            <a:off x="548640" y="4315968"/>
            <a:ext cx="2011680" cy="274320"/>
          </a:xfrm>
          <a:prstGeom prst="rect">
            <a:avLst/>
          </a:prstGeom>
          <a:noFill/>
          <a:ln/>
        </p:spPr>
        <p:txBody>
          <a:bodyPr wrap="square" lIns="0" tIns="0" rIns="0" bIns="0" rtlCol="0" anchor="t"/>
          <a:lstStyle/>
          <a:p>
            <a:pPr indent="0" marL="0">
              <a:buNone/>
            </a:pPr>
            <a:r>
              <a:rPr lang="en-US" sz="1200" dirty="0">
                <a:solidFill>
                  <a:srgbClr val="9AA4B2"/>
                </a:solidFill>
              </a:rPr>
              <a:t>planning tools</a:t>
            </a:r>
            <a:endParaRPr lang="en-US" sz="1200" dirty="0"/>
          </a:p>
        </p:txBody>
      </p:sp>
      <p:sp>
        <p:nvSpPr>
          <p:cNvPr id="7" name="Text 5"/>
          <p:cNvSpPr txBox="1"/>
          <p:nvPr/>
        </p:nvSpPr>
        <p:spPr>
          <a:xfrm>
            <a:off x="2651760" y="3840480"/>
            <a:ext cx="2011680" cy="438912"/>
          </a:xfrm>
          <a:prstGeom prst="rect">
            <a:avLst/>
          </a:prstGeom>
          <a:noFill/>
          <a:ln/>
        </p:spPr>
        <p:txBody>
          <a:bodyPr wrap="square" lIns="0" tIns="0" rIns="0" bIns="0" rtlCol="0" anchor="t"/>
          <a:lstStyle/>
          <a:p>
            <a:pPr indent="0" marL="0">
              <a:buNone/>
            </a:pPr>
            <a:r>
              <a:rPr lang="en-US" sz="2800" b="1" dirty="0">
                <a:solidFill>
                  <a:srgbClr val="E8EBF0"/>
                </a:solidFill>
              </a:rPr>
              <a:t>3</a:t>
            </a:r>
            <a:endParaRPr lang="en-US" sz="2800" dirty="0"/>
          </a:p>
        </p:txBody>
      </p:sp>
      <p:sp>
        <p:nvSpPr>
          <p:cNvPr id="8" name="Text 6"/>
          <p:cNvSpPr txBox="1"/>
          <p:nvPr/>
        </p:nvSpPr>
        <p:spPr>
          <a:xfrm>
            <a:off x="2651760" y="4315968"/>
            <a:ext cx="2011680" cy="274320"/>
          </a:xfrm>
          <a:prstGeom prst="rect">
            <a:avLst/>
          </a:prstGeom>
          <a:noFill/>
          <a:ln/>
        </p:spPr>
        <p:txBody>
          <a:bodyPr wrap="square" lIns="0" tIns="0" rIns="0" bIns="0" rtlCol="0" anchor="t"/>
          <a:lstStyle/>
          <a:p>
            <a:pPr indent="0" marL="0">
              <a:buNone/>
            </a:pPr>
            <a:r>
              <a:rPr lang="en-US" sz="1200" dirty="0">
                <a:solidFill>
                  <a:srgbClr val="9AA4B2"/>
                </a:solidFill>
              </a:rPr>
              <a:t>calculators</a:t>
            </a:r>
            <a:endParaRPr lang="en-US" sz="1200" dirty="0"/>
          </a:p>
        </p:txBody>
      </p:sp>
      <p:sp>
        <p:nvSpPr>
          <p:cNvPr id="9" name="Text 7"/>
          <p:cNvSpPr txBox="1"/>
          <p:nvPr/>
        </p:nvSpPr>
        <p:spPr>
          <a:xfrm>
            <a:off x="548640" y="4617720"/>
            <a:ext cx="2011680" cy="438912"/>
          </a:xfrm>
          <a:prstGeom prst="rect">
            <a:avLst/>
          </a:prstGeom>
          <a:noFill/>
          <a:ln/>
        </p:spPr>
        <p:txBody>
          <a:bodyPr wrap="square" lIns="0" tIns="0" rIns="0" bIns="0" rtlCol="0" anchor="t"/>
          <a:lstStyle/>
          <a:p>
            <a:pPr indent="0" marL="0">
              <a:buNone/>
            </a:pPr>
            <a:r>
              <a:rPr lang="en-US" sz="2800" b="1" dirty="0">
                <a:solidFill>
                  <a:srgbClr val="E8EBF0"/>
                </a:solidFill>
              </a:rPr>
              <a:t>2</a:t>
            </a:r>
            <a:endParaRPr lang="en-US" sz="2800" dirty="0"/>
          </a:p>
        </p:txBody>
      </p:sp>
      <p:sp>
        <p:nvSpPr>
          <p:cNvPr id="10" name="Text 8"/>
          <p:cNvSpPr txBox="1"/>
          <p:nvPr/>
        </p:nvSpPr>
        <p:spPr>
          <a:xfrm>
            <a:off x="548640" y="5093208"/>
            <a:ext cx="2011680" cy="274320"/>
          </a:xfrm>
          <a:prstGeom prst="rect">
            <a:avLst/>
          </a:prstGeom>
          <a:noFill/>
          <a:ln/>
        </p:spPr>
        <p:txBody>
          <a:bodyPr wrap="square" lIns="0" tIns="0" rIns="0" bIns="0" rtlCol="0" anchor="t"/>
          <a:lstStyle/>
          <a:p>
            <a:pPr indent="0" marL="0">
              <a:buNone/>
            </a:pPr>
            <a:r>
              <a:rPr lang="en-US" sz="1200" dirty="0">
                <a:solidFill>
                  <a:srgbClr val="9AA4B2"/>
                </a:solidFill>
              </a:rPr>
              <a:t>guided walkthroughs</a:t>
            </a:r>
            <a:endParaRPr lang="en-US" sz="1200" dirty="0"/>
          </a:p>
        </p:txBody>
      </p:sp>
      <p:sp>
        <p:nvSpPr>
          <p:cNvPr id="11" name="Text 9"/>
          <p:cNvSpPr txBox="1"/>
          <p:nvPr/>
        </p:nvSpPr>
        <p:spPr>
          <a:xfrm>
            <a:off x="2651760" y="4617720"/>
            <a:ext cx="2011680" cy="438912"/>
          </a:xfrm>
          <a:prstGeom prst="rect">
            <a:avLst/>
          </a:prstGeom>
          <a:noFill/>
          <a:ln/>
        </p:spPr>
        <p:txBody>
          <a:bodyPr wrap="square" lIns="0" tIns="0" rIns="0" bIns="0" rtlCol="0" anchor="t"/>
          <a:lstStyle/>
          <a:p>
            <a:pPr indent="0" marL="0">
              <a:buNone/>
            </a:pPr>
            <a:r>
              <a:rPr lang="en-US" sz="2800" b="1" dirty="0">
                <a:solidFill>
                  <a:srgbClr val="E8EBF0"/>
                </a:solidFill>
              </a:rPr>
              <a:t>100 yrs</a:t>
            </a:r>
            <a:endParaRPr lang="en-US" sz="2800" dirty="0"/>
          </a:p>
        </p:txBody>
      </p:sp>
      <p:sp>
        <p:nvSpPr>
          <p:cNvPr id="12" name="Text 10"/>
          <p:cNvSpPr txBox="1"/>
          <p:nvPr/>
        </p:nvSpPr>
        <p:spPr>
          <a:xfrm>
            <a:off x="2651760" y="5093208"/>
            <a:ext cx="2011680" cy="274320"/>
          </a:xfrm>
          <a:prstGeom prst="rect">
            <a:avLst/>
          </a:prstGeom>
          <a:noFill/>
          <a:ln/>
        </p:spPr>
        <p:txBody>
          <a:bodyPr wrap="square" lIns="0" tIns="0" rIns="0" bIns="0" rtlCol="0" anchor="t"/>
          <a:lstStyle/>
          <a:p>
            <a:pPr indent="0" marL="0">
              <a:buNone/>
            </a:pPr>
            <a:r>
              <a:rPr lang="en-US" sz="1200" dirty="0">
                <a:solidFill>
                  <a:srgbClr val="9AA4B2"/>
                </a:solidFill>
              </a:rPr>
              <a:t>of monthly market data</a:t>
            </a:r>
            <a:endParaRPr lang="en-US" sz="1200" dirty="0"/>
          </a:p>
        </p:txBody>
      </p:sp>
      <p:sp>
        <p:nvSpPr>
          <p:cNvPr id="13" name="Text 11"/>
          <p:cNvSpPr txBox="1"/>
          <p:nvPr/>
        </p:nvSpPr>
        <p:spPr>
          <a:xfrm>
            <a:off x="548640" y="5394960"/>
            <a:ext cx="2011680" cy="438912"/>
          </a:xfrm>
          <a:prstGeom prst="rect">
            <a:avLst/>
          </a:prstGeom>
          <a:noFill/>
          <a:ln/>
        </p:spPr>
        <p:txBody>
          <a:bodyPr wrap="square" lIns="0" tIns="0" rIns="0" bIns="0" rtlCol="0" anchor="t"/>
          <a:lstStyle/>
          <a:p>
            <a:pPr indent="0" marL="0">
              <a:buNone/>
            </a:pPr>
            <a:r>
              <a:rPr lang="en-US" sz="2800" b="1" dirty="0">
                <a:solidFill>
                  <a:srgbClr val="E8EBF0"/>
                </a:solidFill>
              </a:rPr>
              <a:t>$0</a:t>
            </a:r>
            <a:endParaRPr lang="en-US" sz="2800" dirty="0"/>
          </a:p>
        </p:txBody>
      </p:sp>
      <p:sp>
        <p:nvSpPr>
          <p:cNvPr id="14" name="Text 12"/>
          <p:cNvSpPr txBox="1"/>
          <p:nvPr/>
        </p:nvSpPr>
        <p:spPr>
          <a:xfrm>
            <a:off x="548640" y="5870448"/>
            <a:ext cx="2011680" cy="274320"/>
          </a:xfrm>
          <a:prstGeom prst="rect">
            <a:avLst/>
          </a:prstGeom>
          <a:noFill/>
          <a:ln/>
        </p:spPr>
        <p:txBody>
          <a:bodyPr wrap="square" lIns="0" tIns="0" rIns="0" bIns="0" rtlCol="0" anchor="t"/>
          <a:lstStyle/>
          <a:p>
            <a:pPr indent="0" marL="0">
              <a:buNone/>
            </a:pPr>
            <a:r>
              <a:rPr lang="en-US" sz="1200" dirty="0">
                <a:solidFill>
                  <a:srgbClr val="9AA4B2"/>
                </a:solidFill>
              </a:rPr>
              <a:t>no ads, no account needed</a:t>
            </a:r>
            <a:endParaRPr lang="en-US" sz="1200" dirty="0"/>
          </a:p>
        </p:txBody>
      </p:sp>
      <p:sp>
        <p:nvSpPr>
          <p:cNvPr id="15" name="Shape 13"/>
          <p:cNvSpPr/>
          <p:nvPr/>
        </p:nvSpPr>
        <p:spPr>
          <a:xfrm>
            <a:off x="4983480" y="0"/>
            <a:ext cx="7208215" cy="6858000"/>
          </a:xfrm>
          <a:prstGeom prst="rect">
            <a:avLst/>
          </a:prstGeom>
          <a:solidFill>
            <a:srgbClr val="151A21"/>
          </a:solidFill>
          <a:ln/>
        </p:spPr>
      </p:sp>
      <p:pic>
        <p:nvPicPr>
          <p:cNvPr id="16" name="Image 0" descr="/Users/erikalfriend/Projects/RetCalc/.claude/worktrees/marketing-package/marketing/deck/img/drawdown_1_historicalmonte-carl_0_0.62.png">    </p:cNvPr>
          <p:cNvPicPr>
            <a:picLocks noChangeAspect="1"/>
          </p:cNvPicPr>
          <p:nvPr/>
        </p:nvPicPr>
        <p:blipFill>
          <a:blip r:embed="rId1"/>
          <a:stretch>
            <a:fillRect/>
          </a:stretch>
        </p:blipFill>
        <p:spPr>
          <a:xfrm>
            <a:off x="5349240" y="894505"/>
            <a:ext cx="4335626" cy="938958"/>
          </a:xfrm>
          <a:prstGeom prst="rect">
            <a:avLst/>
          </a:prstGeom>
          <a:effectLst>
            <a:outerShdw sx="100000" sy="100000" kx="0" ky="0" algn="bl" rotWithShape="0" blurRad="254000" dist="101600" dir="5400000">
              <a:srgbClr val="000000">
                <a:alpha val="50000"/>
              </a:srgbClr>
            </a:outerShdw>
          </a:effectLst>
        </p:spPr>
      </p:pic>
      <p:pic>
        <p:nvPicPr>
          <p:cNvPr id="17" name="Image 1" descr="/Users/erikalfriend/Projects/RetCalc/.claude/worktrees/marketing-package/marketing/deck/img/incometax_1_after-taxtake-homere_0.15_1.png">    </p:cNvPr>
          <p:cNvPicPr>
            <a:picLocks noChangeAspect="1"/>
          </p:cNvPicPr>
          <p:nvPr/>
        </p:nvPicPr>
        <p:blipFill>
          <a:blip r:embed="rId2"/>
          <a:stretch>
            <a:fillRect/>
          </a:stretch>
        </p:blipFill>
        <p:spPr>
          <a:xfrm>
            <a:off x="9886034" y="894505"/>
            <a:ext cx="1939901" cy="938958"/>
          </a:xfrm>
          <a:prstGeom prst="rect">
            <a:avLst/>
          </a:prstGeom>
          <a:effectLst>
            <a:outerShdw sx="100000" sy="100000" kx="0" ky="0" algn="bl" rotWithShape="0" blurRad="254000" dist="101600" dir="5400000">
              <a:srgbClr val="000000">
                <a:alpha val="50000"/>
              </a:srgbClr>
            </a:outerShdw>
          </a:effectLst>
        </p:spPr>
      </p:pic>
      <p:pic>
        <p:nvPicPr>
          <p:cNvPr id="18" name="Image 2" descr="/Users/erikalfriend/Projects/RetCalc/.claude/worktrees/marketing-package/marketing/deck/img/stages_hist_45000_0.27_0.8.png">    </p:cNvPr>
          <p:cNvPicPr>
            <a:picLocks noChangeAspect="1"/>
          </p:cNvPicPr>
          <p:nvPr/>
        </p:nvPicPr>
        <p:blipFill>
          <a:blip r:embed="rId3"/>
          <a:stretch>
            <a:fillRect/>
          </a:stretch>
        </p:blipFill>
        <p:spPr>
          <a:xfrm>
            <a:off x="5349240" y="2034631"/>
            <a:ext cx="4484355" cy="1862732"/>
          </a:xfrm>
          <a:prstGeom prst="rect">
            <a:avLst/>
          </a:prstGeom>
          <a:effectLst>
            <a:outerShdw sx="100000" sy="100000" kx="0" ky="0" algn="bl" rotWithShape="0" blurRad="254000" dist="101600" dir="5400000">
              <a:srgbClr val="000000">
                <a:alpha val="50000"/>
              </a:srgbClr>
            </a:outerShdw>
          </a:effectLst>
        </p:spPr>
      </p:pic>
      <p:pic>
        <p:nvPicPr>
          <p:cNvPr id="19" name="Image 3" descr="/Users/erikalfriend/Projects/RetCalc/.claude/worktrees/marketing-package/marketing/deck/img/budget_1_where-it-goes_0_0.535.png">    </p:cNvPr>
          <p:cNvPicPr>
            <a:picLocks noChangeAspect="1"/>
          </p:cNvPicPr>
          <p:nvPr/>
        </p:nvPicPr>
        <p:blipFill>
          <a:blip r:embed="rId4"/>
          <a:stretch>
            <a:fillRect/>
          </a:stretch>
        </p:blipFill>
        <p:spPr>
          <a:xfrm>
            <a:off x="10034763" y="2034631"/>
            <a:ext cx="1791172" cy="1862732"/>
          </a:xfrm>
          <a:prstGeom prst="rect">
            <a:avLst/>
          </a:prstGeom>
          <a:effectLst>
            <a:outerShdw sx="100000" sy="100000" kx="0" ky="0" algn="bl" rotWithShape="0" blurRad="254000" dist="101600" dir="5400000">
              <a:srgbClr val="000000">
                <a:alpha val="50000"/>
              </a:srgbClr>
            </a:outerShdw>
          </a:effectLst>
        </p:spPr>
      </p:pic>
      <p:pic>
        <p:nvPicPr>
          <p:cNvPr id="20" name="Image 4" descr="/Users/erikalfriend/Projects/RetCalc/.claude/worktrees/marketing-package/marketing/deck/img/ss_1_pick-the-age-you-cla_0_0.8.png">    </p:cNvPr>
          <p:cNvPicPr>
            <a:picLocks noChangeAspect="1"/>
          </p:cNvPicPr>
          <p:nvPr/>
        </p:nvPicPr>
        <p:blipFill>
          <a:blip r:embed="rId5"/>
          <a:stretch>
            <a:fillRect/>
          </a:stretch>
        </p:blipFill>
        <p:spPr>
          <a:xfrm>
            <a:off x="5349240" y="4098531"/>
            <a:ext cx="6476695" cy="1864964"/>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HOW IT WORKS</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Three ideas run through every page</a:t>
            </a:r>
            <a:endParaRPr lang="en-US" sz="3400" dirty="0"/>
          </a:p>
        </p:txBody>
      </p:sp>
      <p:sp>
        <p:nvSpPr>
          <p:cNvPr id="4" name="Shape 2"/>
          <p:cNvSpPr/>
          <p:nvPr/>
        </p:nvSpPr>
        <p:spPr>
          <a:xfrm>
            <a:off x="548640" y="1600200"/>
            <a:ext cx="3515258" cy="4617720"/>
          </a:xfrm>
          <a:prstGeom prst="roundRect">
            <a:avLst>
              <a:gd name="adj" fmla="val 3902"/>
            </a:avLst>
          </a:prstGeom>
          <a:solidFill>
            <a:srgbClr val="1C222B"/>
          </a:solidFill>
          <a:ln/>
        </p:spPr>
      </p:sp>
      <p:sp>
        <p:nvSpPr>
          <p:cNvPr id="5" name="Shape 3"/>
          <p:cNvSpPr/>
          <p:nvPr/>
        </p:nvSpPr>
        <p:spPr>
          <a:xfrm>
            <a:off x="868680" y="1920240"/>
            <a:ext cx="658368" cy="658368"/>
          </a:xfrm>
          <a:prstGeom prst="ellipse">
            <a:avLst/>
          </a:prstGeom>
          <a:solidFill>
            <a:srgbClr val="E3A93B"/>
          </a:solidFill>
          <a:ln/>
        </p:spPr>
      </p:sp>
      <p:pic>
        <p:nvPicPr>
          <p:cNvPr id="6" name="Image 0" descr="/Users/erikalfriend/Projects/RetCalc/.claude/worktrees/marketing-package/marketing/deck/img/icon_LuHouse_0E1116.png">    </p:cNvPr>
          <p:cNvPicPr>
            <a:picLocks noChangeAspect="1"/>
          </p:cNvPicPr>
          <p:nvPr/>
        </p:nvPicPr>
        <p:blipFill>
          <a:blip r:embed="rId1"/>
          <a:stretch>
            <a:fillRect/>
          </a:stretch>
        </p:blipFill>
        <p:spPr>
          <a:xfrm>
            <a:off x="1026688" y="2078248"/>
            <a:ext cx="342351" cy="342351"/>
          </a:xfrm>
          <a:prstGeom prst="rect">
            <a:avLst/>
          </a:prstGeom>
        </p:spPr>
      </p:pic>
      <p:sp>
        <p:nvSpPr>
          <p:cNvPr id="7" name="Text 4"/>
          <p:cNvSpPr txBox="1"/>
          <p:nvPr/>
        </p:nvSpPr>
        <p:spPr>
          <a:xfrm>
            <a:off x="2966618" y="1920240"/>
            <a:ext cx="777240" cy="457200"/>
          </a:xfrm>
          <a:prstGeom prst="rect">
            <a:avLst/>
          </a:prstGeom>
          <a:noFill/>
          <a:ln/>
        </p:spPr>
        <p:txBody>
          <a:bodyPr wrap="square" lIns="0" tIns="0" rIns="0" bIns="0" rtlCol="0" anchor="t"/>
          <a:lstStyle/>
          <a:p>
            <a:pPr algn="r" indent="0" marL="0">
              <a:buNone/>
            </a:pPr>
            <a:r>
              <a:rPr lang="en-US" sz="2400" b="1" dirty="0">
                <a:solidFill>
                  <a:srgbClr val="2A313C"/>
                </a:solidFill>
              </a:rPr>
              <a:t>01</a:t>
            </a:r>
            <a:endParaRPr lang="en-US" sz="2400" dirty="0"/>
          </a:p>
        </p:txBody>
      </p:sp>
      <p:sp>
        <p:nvSpPr>
          <p:cNvPr id="8" name="Text 5"/>
          <p:cNvSpPr txBox="1"/>
          <p:nvPr/>
        </p:nvSpPr>
        <p:spPr>
          <a:xfrm>
            <a:off x="868680" y="2788920"/>
            <a:ext cx="2875178" cy="731520"/>
          </a:xfrm>
          <a:prstGeom prst="rect">
            <a:avLst/>
          </a:prstGeom>
          <a:noFill/>
          <a:ln/>
        </p:spPr>
        <p:txBody>
          <a:bodyPr wrap="square" lIns="0" tIns="0" rIns="0" bIns="0" rtlCol="0" anchor="t"/>
          <a:lstStyle/>
          <a:p>
            <a:pPr indent="0" marL="0">
              <a:buNone/>
            </a:pPr>
            <a:r>
              <a:rPr lang="en-US" sz="2200" b="1" dirty="0">
                <a:solidFill>
                  <a:srgbClr val="E8EBF0"/>
                </a:solidFill>
              </a:rPr>
              <a:t>One household, every tool</a:t>
            </a:r>
            <a:endParaRPr lang="en-US" sz="2200" dirty="0"/>
          </a:p>
        </p:txBody>
      </p:sp>
      <p:sp>
        <p:nvSpPr>
          <p:cNvPr id="9" name="Text 6"/>
          <p:cNvSpPr txBox="1"/>
          <p:nvPr/>
        </p:nvSpPr>
        <p:spPr>
          <a:xfrm>
            <a:off x="868680" y="3566160"/>
            <a:ext cx="2875178" cy="1645920"/>
          </a:xfrm>
          <a:prstGeom prst="rect">
            <a:avLst/>
          </a:prstGeom>
          <a:noFill/>
          <a:ln/>
        </p:spPr>
        <p:txBody>
          <a:bodyPr wrap="square" lIns="0" tIns="0" rIns="0" bIns="0" rtlCol="0" anchor="t"/>
          <a:lstStyle/>
          <a:p>
            <a:pPr indent="0" marL="0">
              <a:buNone/>
            </a:pPr>
            <a:r>
              <a:rPr lang="en-US" sz="1400" dirty="0">
                <a:solidFill>
                  <a:srgbClr val="9AA4B2"/>
                </a:solidFill>
              </a:rPr>
              <a:t>Ages, state, savings, income and spending are entered once and fill in everywhere, and each tool hands its results to the next.</a:t>
            </a:r>
            <a:endParaRPr lang="en-US" sz="1400" dirty="0"/>
          </a:p>
        </p:txBody>
      </p:sp>
      <p:sp>
        <p:nvSpPr>
          <p:cNvPr id="10" name="Shape 7"/>
          <p:cNvSpPr/>
          <p:nvPr/>
        </p:nvSpPr>
        <p:spPr>
          <a:xfrm>
            <a:off x="4338218" y="1600200"/>
            <a:ext cx="3515258" cy="4617720"/>
          </a:xfrm>
          <a:prstGeom prst="roundRect">
            <a:avLst>
              <a:gd name="adj" fmla="val 3902"/>
            </a:avLst>
          </a:prstGeom>
          <a:solidFill>
            <a:srgbClr val="1C222B"/>
          </a:solidFill>
          <a:ln/>
        </p:spPr>
      </p:sp>
      <p:sp>
        <p:nvSpPr>
          <p:cNvPr id="11" name="Shape 8"/>
          <p:cNvSpPr/>
          <p:nvPr/>
        </p:nvSpPr>
        <p:spPr>
          <a:xfrm>
            <a:off x="4658258" y="1920240"/>
            <a:ext cx="658368" cy="658368"/>
          </a:xfrm>
          <a:prstGeom prst="ellipse">
            <a:avLst/>
          </a:prstGeom>
          <a:solidFill>
            <a:srgbClr val="E3A93B"/>
          </a:solidFill>
          <a:ln/>
        </p:spPr>
      </p:sp>
      <p:pic>
        <p:nvPicPr>
          <p:cNvPr id="12" name="Image 1" descr="/Users/erikalfriend/Projects/RetCalc/.claude/worktrees/marketing-package/marketing/deck/img/icon_LuHistory_0E1116.png">    </p:cNvPr>
          <p:cNvPicPr>
            <a:picLocks noChangeAspect="1"/>
          </p:cNvPicPr>
          <p:nvPr/>
        </p:nvPicPr>
        <p:blipFill>
          <a:blip r:embed="rId2"/>
          <a:stretch>
            <a:fillRect/>
          </a:stretch>
        </p:blipFill>
        <p:spPr>
          <a:xfrm>
            <a:off x="4816267" y="2078248"/>
            <a:ext cx="342351" cy="342351"/>
          </a:xfrm>
          <a:prstGeom prst="rect">
            <a:avLst/>
          </a:prstGeom>
        </p:spPr>
      </p:pic>
      <p:sp>
        <p:nvSpPr>
          <p:cNvPr id="13" name="Text 9"/>
          <p:cNvSpPr txBox="1"/>
          <p:nvPr/>
        </p:nvSpPr>
        <p:spPr>
          <a:xfrm>
            <a:off x="6756197" y="1920240"/>
            <a:ext cx="777240" cy="457200"/>
          </a:xfrm>
          <a:prstGeom prst="rect">
            <a:avLst/>
          </a:prstGeom>
          <a:noFill/>
          <a:ln/>
        </p:spPr>
        <p:txBody>
          <a:bodyPr wrap="square" lIns="0" tIns="0" rIns="0" bIns="0" rtlCol="0" anchor="t"/>
          <a:lstStyle/>
          <a:p>
            <a:pPr algn="r" indent="0" marL="0">
              <a:buNone/>
            </a:pPr>
            <a:r>
              <a:rPr lang="en-US" sz="2400" b="1" dirty="0">
                <a:solidFill>
                  <a:srgbClr val="2A313C"/>
                </a:solidFill>
              </a:rPr>
              <a:t>02</a:t>
            </a:r>
            <a:endParaRPr lang="en-US" sz="2400" dirty="0"/>
          </a:p>
        </p:txBody>
      </p:sp>
      <p:sp>
        <p:nvSpPr>
          <p:cNvPr id="14" name="Text 10"/>
          <p:cNvSpPr txBox="1"/>
          <p:nvPr/>
        </p:nvSpPr>
        <p:spPr>
          <a:xfrm>
            <a:off x="4658258" y="2788920"/>
            <a:ext cx="2875178" cy="731520"/>
          </a:xfrm>
          <a:prstGeom prst="rect">
            <a:avLst/>
          </a:prstGeom>
          <a:noFill/>
          <a:ln/>
        </p:spPr>
        <p:txBody>
          <a:bodyPr wrap="square" lIns="0" tIns="0" rIns="0" bIns="0" rtlCol="0" anchor="t"/>
          <a:lstStyle/>
          <a:p>
            <a:pPr indent="0" marL="0">
              <a:buNone/>
            </a:pPr>
            <a:r>
              <a:rPr lang="en-US" sz="2200" b="1" dirty="0">
                <a:solidFill>
                  <a:srgbClr val="E8EBF0"/>
                </a:solidFill>
              </a:rPr>
              <a:t>Tested against history</a:t>
            </a:r>
            <a:endParaRPr lang="en-US" sz="2200" dirty="0"/>
          </a:p>
        </p:txBody>
      </p:sp>
      <p:sp>
        <p:nvSpPr>
          <p:cNvPr id="15" name="Text 11"/>
          <p:cNvSpPr txBox="1"/>
          <p:nvPr/>
        </p:nvSpPr>
        <p:spPr>
          <a:xfrm>
            <a:off x="4658258" y="3566160"/>
            <a:ext cx="2875178" cy="1645920"/>
          </a:xfrm>
          <a:prstGeom prst="rect">
            <a:avLst/>
          </a:prstGeom>
          <a:noFill/>
          <a:ln/>
        </p:spPr>
        <p:txBody>
          <a:bodyPr wrap="square" lIns="0" tIns="0" rIns="0" bIns="0" rtlCol="0" anchor="t"/>
          <a:lstStyle/>
          <a:p>
            <a:pPr indent="0" marL="0">
              <a:buNone/>
            </a:pPr>
            <a:r>
              <a:rPr lang="en-US" sz="1400" dirty="0">
                <a:solidFill>
                  <a:srgbClr val="9AA4B2"/>
                </a:solidFill>
              </a:rPr>
              <a:t>One average return hides the order returns come in, and that order decides whether a retirement lasts. Every plan is replayed through each starting month since January 1926.</a:t>
            </a:r>
            <a:endParaRPr lang="en-US" sz="1400" dirty="0"/>
          </a:p>
        </p:txBody>
      </p:sp>
      <p:sp>
        <p:nvSpPr>
          <p:cNvPr id="16" name="Shape 12"/>
          <p:cNvSpPr/>
          <p:nvPr/>
        </p:nvSpPr>
        <p:spPr>
          <a:xfrm>
            <a:off x="8127797" y="1600200"/>
            <a:ext cx="3515258" cy="4617720"/>
          </a:xfrm>
          <a:prstGeom prst="roundRect">
            <a:avLst>
              <a:gd name="adj" fmla="val 3902"/>
            </a:avLst>
          </a:prstGeom>
          <a:solidFill>
            <a:srgbClr val="1C222B"/>
          </a:solidFill>
          <a:ln/>
        </p:spPr>
      </p:sp>
      <p:sp>
        <p:nvSpPr>
          <p:cNvPr id="17" name="Shape 13"/>
          <p:cNvSpPr/>
          <p:nvPr/>
        </p:nvSpPr>
        <p:spPr>
          <a:xfrm>
            <a:off x="8447837" y="1920240"/>
            <a:ext cx="658368" cy="658368"/>
          </a:xfrm>
          <a:prstGeom prst="ellipse">
            <a:avLst/>
          </a:prstGeom>
          <a:solidFill>
            <a:srgbClr val="E3A93B"/>
          </a:solidFill>
          <a:ln/>
        </p:spPr>
      </p:sp>
      <p:pic>
        <p:nvPicPr>
          <p:cNvPr id="18" name="Image 2" descr="/Users/erikalfriend/Projects/RetCalc/.claude/worktrees/marketing-package/marketing/deck/img/icon_LuLock_0E1116.png">    </p:cNvPr>
          <p:cNvPicPr>
            <a:picLocks noChangeAspect="1"/>
          </p:cNvPicPr>
          <p:nvPr/>
        </p:nvPicPr>
        <p:blipFill>
          <a:blip r:embed="rId3"/>
          <a:stretch>
            <a:fillRect/>
          </a:stretch>
        </p:blipFill>
        <p:spPr>
          <a:xfrm>
            <a:off x="8605845" y="2078248"/>
            <a:ext cx="342351" cy="342351"/>
          </a:xfrm>
          <a:prstGeom prst="rect">
            <a:avLst/>
          </a:prstGeom>
        </p:spPr>
      </p:pic>
      <p:sp>
        <p:nvSpPr>
          <p:cNvPr id="19" name="Text 14"/>
          <p:cNvSpPr txBox="1"/>
          <p:nvPr/>
        </p:nvSpPr>
        <p:spPr>
          <a:xfrm>
            <a:off x="10545775" y="1920240"/>
            <a:ext cx="777240" cy="457200"/>
          </a:xfrm>
          <a:prstGeom prst="rect">
            <a:avLst/>
          </a:prstGeom>
          <a:noFill/>
          <a:ln/>
        </p:spPr>
        <p:txBody>
          <a:bodyPr wrap="square" lIns="0" tIns="0" rIns="0" bIns="0" rtlCol="0" anchor="t"/>
          <a:lstStyle/>
          <a:p>
            <a:pPr algn="r" indent="0" marL="0">
              <a:buNone/>
            </a:pPr>
            <a:r>
              <a:rPr lang="en-US" sz="2400" b="1" dirty="0">
                <a:solidFill>
                  <a:srgbClr val="2A313C"/>
                </a:solidFill>
              </a:rPr>
              <a:t>03</a:t>
            </a:r>
            <a:endParaRPr lang="en-US" sz="2400" dirty="0"/>
          </a:p>
        </p:txBody>
      </p:sp>
      <p:sp>
        <p:nvSpPr>
          <p:cNvPr id="20" name="Text 15"/>
          <p:cNvSpPr txBox="1"/>
          <p:nvPr/>
        </p:nvSpPr>
        <p:spPr>
          <a:xfrm>
            <a:off x="8447837" y="2788920"/>
            <a:ext cx="2875178" cy="731520"/>
          </a:xfrm>
          <a:prstGeom prst="rect">
            <a:avLst/>
          </a:prstGeom>
          <a:noFill/>
          <a:ln/>
        </p:spPr>
        <p:txBody>
          <a:bodyPr wrap="square" lIns="0" tIns="0" rIns="0" bIns="0" rtlCol="0" anchor="t"/>
          <a:lstStyle/>
          <a:p>
            <a:pPr indent="0" marL="0">
              <a:buNone/>
            </a:pPr>
            <a:r>
              <a:rPr lang="en-US" sz="2200" b="1" dirty="0">
                <a:solidFill>
                  <a:srgbClr val="E8EBF0"/>
                </a:solidFill>
              </a:rPr>
              <a:t>Private by default</a:t>
            </a:r>
            <a:endParaRPr lang="en-US" sz="2200" dirty="0"/>
          </a:p>
        </p:txBody>
      </p:sp>
      <p:sp>
        <p:nvSpPr>
          <p:cNvPr id="21" name="Text 16"/>
          <p:cNvSpPr txBox="1"/>
          <p:nvPr/>
        </p:nvSpPr>
        <p:spPr>
          <a:xfrm>
            <a:off x="8447837" y="3566160"/>
            <a:ext cx="2875178" cy="1645920"/>
          </a:xfrm>
          <a:prstGeom prst="rect">
            <a:avLst/>
          </a:prstGeom>
          <a:noFill/>
          <a:ln/>
        </p:spPr>
        <p:txBody>
          <a:bodyPr wrap="square" lIns="0" tIns="0" rIns="0" bIns="0" rtlCol="0" anchor="t"/>
          <a:lstStyle/>
          <a:p>
            <a:pPr indent="0" marL="0">
              <a:buNone/>
            </a:pPr>
            <a:r>
              <a:rPr lang="en-US" sz="1400" dirty="0">
                <a:solidFill>
                  <a:srgbClr val="9AA4B2"/>
                </a:solidFill>
              </a:rPr>
              <a:t>Every calculation runs in the visitor's own browser. An optional account only keeps a household, saved scenarios and the Guide in step across devices.</a:t>
            </a:r>
            <a:endParaRPr lang="en-US" sz="1400" dirty="0"/>
          </a:p>
        </p:txBody>
      </p:sp>
      <p:sp>
        <p:nvSpPr>
          <p:cNvPr id="22" name="Shape 17"/>
          <p:cNvSpPr/>
          <p:nvPr/>
        </p:nvSpPr>
        <p:spPr>
          <a:xfrm>
            <a:off x="983687" y="5074920"/>
            <a:ext cx="1322582" cy="457200"/>
          </a:xfrm>
          <a:prstGeom prst="line">
            <a:avLst/>
          </a:prstGeom>
          <a:noFill/>
          <a:ln w="15875">
            <a:solidFill>
              <a:srgbClr val="2A313C"/>
            </a:solidFill>
            <a:prstDash val="dash"/>
          </a:ln>
        </p:spPr>
      </p:sp>
      <p:sp>
        <p:nvSpPr>
          <p:cNvPr id="23" name="Shape 18"/>
          <p:cNvSpPr/>
          <p:nvPr/>
        </p:nvSpPr>
        <p:spPr>
          <a:xfrm flipH="1">
            <a:off x="983687" y="5532120"/>
            <a:ext cx="1322582" cy="457200"/>
          </a:xfrm>
          <a:prstGeom prst="line">
            <a:avLst/>
          </a:prstGeom>
          <a:noFill/>
          <a:ln w="15875">
            <a:solidFill>
              <a:srgbClr val="2A313C"/>
            </a:solidFill>
            <a:prstDash val="dash"/>
          </a:ln>
        </p:spPr>
      </p:sp>
      <p:sp>
        <p:nvSpPr>
          <p:cNvPr id="24" name="Shape 19"/>
          <p:cNvSpPr/>
          <p:nvPr/>
        </p:nvSpPr>
        <p:spPr>
          <a:xfrm flipH="1">
            <a:off x="2306269" y="5532120"/>
            <a:ext cx="914" cy="521208"/>
          </a:xfrm>
          <a:prstGeom prst="line">
            <a:avLst/>
          </a:prstGeom>
          <a:noFill/>
          <a:ln w="15875">
            <a:solidFill>
              <a:srgbClr val="2A313C"/>
            </a:solidFill>
            <a:prstDash val="dash"/>
          </a:ln>
        </p:spPr>
      </p:sp>
      <p:sp>
        <p:nvSpPr>
          <p:cNvPr id="25" name="Shape 20"/>
          <p:cNvSpPr/>
          <p:nvPr/>
        </p:nvSpPr>
        <p:spPr>
          <a:xfrm flipH="1">
            <a:off x="2306269" y="5074920"/>
            <a:ext cx="1322582" cy="457200"/>
          </a:xfrm>
          <a:prstGeom prst="line">
            <a:avLst/>
          </a:prstGeom>
          <a:noFill/>
          <a:ln w="15875">
            <a:solidFill>
              <a:srgbClr val="2A313C"/>
            </a:solidFill>
            <a:prstDash val="dash"/>
          </a:ln>
        </p:spPr>
      </p:sp>
      <p:sp>
        <p:nvSpPr>
          <p:cNvPr id="26" name="Shape 21"/>
          <p:cNvSpPr/>
          <p:nvPr/>
        </p:nvSpPr>
        <p:spPr>
          <a:xfrm>
            <a:off x="2306269" y="5532120"/>
            <a:ext cx="1322582" cy="457200"/>
          </a:xfrm>
          <a:prstGeom prst="line">
            <a:avLst/>
          </a:prstGeom>
          <a:noFill/>
          <a:ln w="15875">
            <a:solidFill>
              <a:srgbClr val="2A313C"/>
            </a:solidFill>
            <a:prstDash val="dash"/>
          </a:ln>
        </p:spPr>
      </p:sp>
      <p:sp>
        <p:nvSpPr>
          <p:cNvPr id="27" name="Shape 22"/>
          <p:cNvSpPr/>
          <p:nvPr/>
        </p:nvSpPr>
        <p:spPr>
          <a:xfrm>
            <a:off x="2306269" y="5010912"/>
            <a:ext cx="914" cy="521208"/>
          </a:xfrm>
          <a:prstGeom prst="line">
            <a:avLst/>
          </a:prstGeom>
          <a:noFill/>
          <a:ln w="15875">
            <a:solidFill>
              <a:srgbClr val="2A313C"/>
            </a:solidFill>
            <a:prstDash val="dash"/>
          </a:ln>
        </p:spPr>
      </p:sp>
      <p:sp>
        <p:nvSpPr>
          <p:cNvPr id="28" name="Shape 23"/>
          <p:cNvSpPr/>
          <p:nvPr/>
        </p:nvSpPr>
        <p:spPr>
          <a:xfrm>
            <a:off x="892247" y="4983480"/>
            <a:ext cx="182880" cy="182880"/>
          </a:xfrm>
          <a:prstGeom prst="ellipse">
            <a:avLst/>
          </a:prstGeom>
          <a:solidFill>
            <a:srgbClr val="E3A93B"/>
          </a:solidFill>
          <a:ln/>
        </p:spPr>
      </p:sp>
      <p:sp>
        <p:nvSpPr>
          <p:cNvPr id="29" name="Shape 24"/>
          <p:cNvSpPr/>
          <p:nvPr/>
        </p:nvSpPr>
        <p:spPr>
          <a:xfrm>
            <a:off x="892247" y="5897880"/>
            <a:ext cx="182880" cy="182880"/>
          </a:xfrm>
          <a:prstGeom prst="ellipse">
            <a:avLst/>
          </a:prstGeom>
          <a:solidFill>
            <a:srgbClr val="E0749B"/>
          </a:solidFill>
          <a:ln/>
        </p:spPr>
      </p:sp>
      <p:sp>
        <p:nvSpPr>
          <p:cNvPr id="30" name="Shape 25"/>
          <p:cNvSpPr/>
          <p:nvPr/>
        </p:nvSpPr>
        <p:spPr>
          <a:xfrm>
            <a:off x="2214829" y="5961888"/>
            <a:ext cx="182880" cy="182880"/>
          </a:xfrm>
          <a:prstGeom prst="ellipse">
            <a:avLst/>
          </a:prstGeom>
          <a:solidFill>
            <a:srgbClr val="5AA9E6"/>
          </a:solidFill>
          <a:ln/>
        </p:spPr>
      </p:sp>
      <p:sp>
        <p:nvSpPr>
          <p:cNvPr id="31" name="Shape 26"/>
          <p:cNvSpPr/>
          <p:nvPr/>
        </p:nvSpPr>
        <p:spPr>
          <a:xfrm>
            <a:off x="3537411" y="4983480"/>
            <a:ext cx="182880" cy="182880"/>
          </a:xfrm>
          <a:prstGeom prst="ellipse">
            <a:avLst/>
          </a:prstGeom>
          <a:solidFill>
            <a:srgbClr val="46B9A6"/>
          </a:solidFill>
          <a:ln/>
        </p:spPr>
      </p:sp>
      <p:sp>
        <p:nvSpPr>
          <p:cNvPr id="32" name="Shape 27"/>
          <p:cNvSpPr/>
          <p:nvPr/>
        </p:nvSpPr>
        <p:spPr>
          <a:xfrm>
            <a:off x="3537411" y="5897880"/>
            <a:ext cx="182880" cy="182880"/>
          </a:xfrm>
          <a:prstGeom prst="ellipse">
            <a:avLst/>
          </a:prstGeom>
          <a:solidFill>
            <a:srgbClr val="9670EC"/>
          </a:solidFill>
          <a:ln/>
        </p:spPr>
      </p:sp>
      <p:sp>
        <p:nvSpPr>
          <p:cNvPr id="33" name="Shape 28"/>
          <p:cNvSpPr/>
          <p:nvPr/>
        </p:nvSpPr>
        <p:spPr>
          <a:xfrm>
            <a:off x="2214829" y="4919472"/>
            <a:ext cx="182880" cy="182880"/>
          </a:xfrm>
          <a:prstGeom prst="ellipse">
            <a:avLst/>
          </a:prstGeom>
          <a:solidFill>
            <a:srgbClr val="E0749B"/>
          </a:solidFill>
          <a:ln/>
        </p:spPr>
      </p:sp>
      <p:sp>
        <p:nvSpPr>
          <p:cNvPr id="34" name="Shape 29"/>
          <p:cNvSpPr/>
          <p:nvPr/>
        </p:nvSpPr>
        <p:spPr>
          <a:xfrm>
            <a:off x="1574749" y="5340096"/>
            <a:ext cx="1463040" cy="384048"/>
          </a:xfrm>
          <a:prstGeom prst="roundRect">
            <a:avLst>
              <a:gd name="adj" fmla="val 50000"/>
            </a:avLst>
          </a:prstGeom>
          <a:solidFill>
            <a:srgbClr val="E3A93B"/>
          </a:solidFill>
          <a:ln/>
        </p:spPr>
      </p:sp>
      <p:sp>
        <p:nvSpPr>
          <p:cNvPr id="35" name="Text 30"/>
          <p:cNvSpPr txBox="1"/>
          <p:nvPr/>
        </p:nvSpPr>
        <p:spPr>
          <a:xfrm>
            <a:off x="1574749" y="5340096"/>
            <a:ext cx="1463040" cy="384048"/>
          </a:xfrm>
          <a:prstGeom prst="rect">
            <a:avLst/>
          </a:prstGeom>
          <a:noFill/>
          <a:ln/>
        </p:spPr>
        <p:txBody>
          <a:bodyPr wrap="square" lIns="0" tIns="0" rIns="0" bIns="0" rtlCol="0" anchor="ctr"/>
          <a:lstStyle/>
          <a:p>
            <a:pPr algn="ctr" indent="0" marL="0">
              <a:buNone/>
            </a:pPr>
            <a:r>
              <a:rPr lang="en-US" sz="1200" b="1" dirty="0">
                <a:solidFill>
                  <a:srgbClr val="0E1116"/>
                </a:solidFill>
              </a:rPr>
              <a:t>Your household</a:t>
            </a:r>
            <a:endParaRPr lang="en-US" sz="1200" dirty="0"/>
          </a:p>
        </p:txBody>
      </p:sp>
      <p:graphicFrame>
        <p:nvGraphicFramePr>
          <p:cNvPr id="36" name="Chart 0" descr=""/>
          <p:cNvGraphicFramePr/>
          <p:nvPr/>
        </p:nvGraphicFramePr>
        <p:xfrm>
          <a:off x="4658258" y="5120640"/>
          <a:ext cx="2875178" cy="914400"/>
        </p:xfrm>
        <a:graphic xmlns:a="http://schemas.openxmlformats.org/drawingml/2006/main">
          <a:graphicData uri="http://schemas.openxmlformats.org/drawingml/2006/chart">
            <c:chart xmlns:c="http://schemas.openxmlformats.org/drawingml/2006/chart" r:id="rId4"/>
          </a:graphicData>
        </a:graphic>
      </p:graphicFrame>
      <p:sp>
        <p:nvSpPr>
          <p:cNvPr id="37" name="Text 31"/>
          <p:cNvSpPr txBox="1"/>
          <p:nvPr/>
        </p:nvSpPr>
        <p:spPr>
          <a:xfrm>
            <a:off x="8447837" y="5212080"/>
            <a:ext cx="2875178" cy="731520"/>
          </a:xfrm>
          <a:prstGeom prst="rect">
            <a:avLst/>
          </a:prstGeom>
          <a:noFill/>
          <a:ln/>
        </p:spPr>
        <p:txBody>
          <a:bodyPr wrap="square" lIns="0" tIns="0" rIns="0" bIns="0" rtlCol="0" anchor="t"/>
          <a:lstStyle/>
          <a:p>
            <a:pPr indent="0" marL="0">
              <a:buNone/>
            </a:pPr>
            <a:r>
              <a:rPr lang="en-US" sz="1400" i="1" dirty="0">
                <a:solidFill>
                  <a:srgbClr val="E3A93B"/>
                </a:solidFill>
              </a:rPr>
              <a:t>"Nothing leaves your browser unless you sign in to save it."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TESTED AGAINST HISTORY</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A hundred years of markets, every month of it</a:t>
            </a:r>
            <a:endParaRPr lang="en-US" sz="3400" dirty="0"/>
          </a:p>
        </p:txBody>
      </p:sp>
      <p:graphicFrame>
        <p:nvGraphicFramePr>
          <p:cNvPr id="4" name="Chart 0" descr=""/>
          <p:cNvGraphicFramePr/>
          <p:nvPr/>
        </p:nvGraphicFramePr>
        <p:xfrm>
          <a:off x="411480" y="1508760"/>
          <a:ext cx="7863840" cy="4800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732520" y="1554480"/>
            <a:ext cx="2910535" cy="868680"/>
          </a:xfrm>
          <a:prstGeom prst="rect">
            <a:avLst/>
          </a:prstGeom>
          <a:noFill/>
          <a:ln/>
        </p:spPr>
        <p:txBody>
          <a:bodyPr wrap="square" lIns="0" tIns="0" rIns="0" bIns="0" rtlCol="0" anchor="t"/>
          <a:lstStyle/>
          <a:p>
            <a:pPr indent="0" marL="0">
              <a:buNone/>
            </a:pPr>
            <a:r>
              <a:rPr lang="en-US" sz="6000" b="1" dirty="0">
                <a:solidFill>
                  <a:srgbClr val="E3A93B"/>
                </a:solidFill>
              </a:rPr>
              <a:t>$1,140</a:t>
            </a:r>
            <a:endParaRPr lang="en-US" sz="6000" dirty="0"/>
          </a:p>
        </p:txBody>
      </p:sp>
      <p:sp>
        <p:nvSpPr>
          <p:cNvPr id="6" name="Text 3"/>
          <p:cNvSpPr txBox="1"/>
          <p:nvPr/>
        </p:nvSpPr>
        <p:spPr>
          <a:xfrm>
            <a:off x="8732520" y="2468880"/>
            <a:ext cx="2910535" cy="685800"/>
          </a:xfrm>
          <a:prstGeom prst="rect">
            <a:avLst/>
          </a:prstGeom>
          <a:noFill/>
          <a:ln/>
        </p:spPr>
        <p:txBody>
          <a:bodyPr wrap="square" lIns="0" tIns="0" rIns="0" bIns="0" rtlCol="0" anchor="t"/>
          <a:lstStyle/>
          <a:p>
            <a:pPr indent="0" marL="0">
              <a:buNone/>
            </a:pPr>
            <a:r>
              <a:rPr lang="en-US" sz="1300" dirty="0">
                <a:solidFill>
                  <a:srgbClr val="9AA4B2"/>
                </a:solidFill>
              </a:rPr>
              <a:t>What that dollar grew to by the end of 2025, after inflation, with dividends reinvested.</a:t>
            </a:r>
            <a:endParaRPr lang="en-US" sz="1300" dirty="0"/>
          </a:p>
        </p:txBody>
      </p:sp>
      <p:sp>
        <p:nvSpPr>
          <p:cNvPr id="7" name="Text 4"/>
          <p:cNvSpPr txBox="1"/>
          <p:nvPr/>
        </p:nvSpPr>
        <p:spPr>
          <a:xfrm>
            <a:off x="8732520" y="3337560"/>
            <a:ext cx="2910535" cy="274320"/>
          </a:xfrm>
          <a:prstGeom prst="rect">
            <a:avLst/>
          </a:prstGeom>
          <a:noFill/>
          <a:ln/>
        </p:spPr>
        <p:txBody>
          <a:bodyPr wrap="square" lIns="0" tIns="0" rIns="0" bIns="0" rtlCol="0" anchor="t"/>
          <a:lstStyle/>
          <a:p>
            <a:pPr indent="0" marL="0">
              <a:buNone/>
            </a:pPr>
            <a:r>
              <a:rPr lang="en-US" sz="1100" b="1" spc="100" kern="0" dirty="0">
                <a:solidFill>
                  <a:srgbClr val="9AA4B2"/>
                </a:solidFill>
              </a:rPr>
              <a:t>THE STRETCHES THAT DECIDE A RETIREMENT</a:t>
            </a:r>
            <a:endParaRPr lang="en-US" sz="1100" dirty="0"/>
          </a:p>
        </p:txBody>
      </p:sp>
      <p:sp>
        <p:nvSpPr>
          <p:cNvPr id="8" name="Text 5"/>
          <p:cNvSpPr txBox="1"/>
          <p:nvPr/>
        </p:nvSpPr>
        <p:spPr>
          <a:xfrm>
            <a:off x="8732520" y="3703320"/>
            <a:ext cx="1188720" cy="548640"/>
          </a:xfrm>
          <a:prstGeom prst="rect">
            <a:avLst/>
          </a:prstGeom>
          <a:noFill/>
          <a:ln/>
        </p:spPr>
        <p:txBody>
          <a:bodyPr wrap="square" lIns="0" tIns="0" rIns="0" bIns="0" rtlCol="0" anchor="ctr"/>
          <a:lstStyle/>
          <a:p>
            <a:pPr indent="0" marL="0">
              <a:buNone/>
            </a:pPr>
            <a:r>
              <a:rPr lang="en-US" sz="2800" b="1" dirty="0">
                <a:solidFill>
                  <a:srgbClr val="F0716A"/>
                </a:solidFill>
              </a:rPr>
              <a:t>−77%</a:t>
            </a:r>
            <a:endParaRPr lang="en-US" sz="2800" dirty="0"/>
          </a:p>
        </p:txBody>
      </p:sp>
      <p:sp>
        <p:nvSpPr>
          <p:cNvPr id="9" name="Text 6"/>
          <p:cNvSpPr txBox="1"/>
          <p:nvPr/>
        </p:nvSpPr>
        <p:spPr>
          <a:xfrm>
            <a:off x="10012680" y="3703320"/>
            <a:ext cx="1630375" cy="548640"/>
          </a:xfrm>
          <a:prstGeom prst="rect">
            <a:avLst/>
          </a:prstGeom>
          <a:noFill/>
          <a:ln/>
        </p:spPr>
        <p:txBody>
          <a:bodyPr wrap="square" lIns="0" tIns="0" rIns="0" bIns="0" rtlCol="0" anchor="ctr"/>
          <a:lstStyle/>
          <a:p>
            <a:pPr indent="0" marL="0">
              <a:buNone/>
            </a:pPr>
            <a:r>
              <a:rPr lang="en-US" sz="1400" b="1" dirty="0">
                <a:solidFill>
                  <a:srgbClr val="E8EBF0"/>
                </a:solidFill>
              </a:rPr>
              <a:t>The Great Depression</a:t>
            </a:r>
            <a:endParaRPr lang="en-US" sz="1400" dirty="0"/>
          </a:p>
          <a:p>
            <a:pPr indent="0" marL="0">
              <a:buNone/>
            </a:pPr>
            <a:r>
              <a:rPr lang="en-US" sz="1100" dirty="0">
                <a:solidFill>
                  <a:srgbClr val="9AA4B2"/>
                </a:solidFill>
              </a:rPr>
              <a:t>1929–32, after inflation</a:t>
            </a:r>
            <a:endParaRPr lang="en-US" sz="1400" dirty="0"/>
          </a:p>
        </p:txBody>
      </p:sp>
      <p:sp>
        <p:nvSpPr>
          <p:cNvPr id="10" name="Text 7"/>
          <p:cNvSpPr txBox="1"/>
          <p:nvPr/>
        </p:nvSpPr>
        <p:spPr>
          <a:xfrm>
            <a:off x="8732520" y="4361688"/>
            <a:ext cx="1188720" cy="548640"/>
          </a:xfrm>
          <a:prstGeom prst="rect">
            <a:avLst/>
          </a:prstGeom>
          <a:noFill/>
          <a:ln/>
        </p:spPr>
        <p:txBody>
          <a:bodyPr wrap="square" lIns="0" tIns="0" rIns="0" bIns="0" rtlCol="0" anchor="ctr"/>
          <a:lstStyle/>
          <a:p>
            <a:pPr indent="0" marL="0">
              <a:buNone/>
            </a:pPr>
            <a:r>
              <a:rPr lang="en-US" sz="2800" b="1" dirty="0">
                <a:solidFill>
                  <a:srgbClr val="F0716A"/>
                </a:solidFill>
              </a:rPr>
              <a:t>−50%</a:t>
            </a:r>
            <a:endParaRPr lang="en-US" sz="2800" dirty="0"/>
          </a:p>
        </p:txBody>
      </p:sp>
      <p:sp>
        <p:nvSpPr>
          <p:cNvPr id="11" name="Text 8"/>
          <p:cNvSpPr txBox="1"/>
          <p:nvPr/>
        </p:nvSpPr>
        <p:spPr>
          <a:xfrm>
            <a:off x="10012680" y="4361688"/>
            <a:ext cx="1630375" cy="548640"/>
          </a:xfrm>
          <a:prstGeom prst="rect">
            <a:avLst/>
          </a:prstGeom>
          <a:noFill/>
          <a:ln/>
        </p:spPr>
        <p:txBody>
          <a:bodyPr wrap="square" lIns="0" tIns="0" rIns="0" bIns="0" rtlCol="0" anchor="ctr"/>
          <a:lstStyle/>
          <a:p>
            <a:pPr indent="0" marL="0">
              <a:buNone/>
            </a:pPr>
            <a:r>
              <a:rPr lang="en-US" sz="1400" b="1" dirty="0">
                <a:solidFill>
                  <a:srgbClr val="E8EBF0"/>
                </a:solidFill>
              </a:rPr>
              <a:t>Stagflation</a:t>
            </a:r>
            <a:endParaRPr lang="en-US" sz="1400" dirty="0"/>
          </a:p>
          <a:p>
            <a:pPr indent="0" marL="0">
              <a:buNone/>
            </a:pPr>
            <a:r>
              <a:rPr lang="en-US" sz="1100" dirty="0">
                <a:solidFill>
                  <a:srgbClr val="9AA4B2"/>
                </a:solidFill>
              </a:rPr>
              <a:t>1973–74, after inflation</a:t>
            </a:r>
            <a:endParaRPr lang="en-US" sz="1400" dirty="0"/>
          </a:p>
        </p:txBody>
      </p:sp>
      <p:sp>
        <p:nvSpPr>
          <p:cNvPr id="12" name="Text 9"/>
          <p:cNvSpPr txBox="1"/>
          <p:nvPr/>
        </p:nvSpPr>
        <p:spPr>
          <a:xfrm>
            <a:off x="8732520" y="5020056"/>
            <a:ext cx="1188720" cy="548640"/>
          </a:xfrm>
          <a:prstGeom prst="rect">
            <a:avLst/>
          </a:prstGeom>
          <a:noFill/>
          <a:ln/>
        </p:spPr>
        <p:txBody>
          <a:bodyPr wrap="square" lIns="0" tIns="0" rIns="0" bIns="0" rtlCol="0" anchor="ctr"/>
          <a:lstStyle/>
          <a:p>
            <a:pPr indent="0" marL="0">
              <a:buNone/>
            </a:pPr>
            <a:r>
              <a:rPr lang="en-US" sz="2800" b="1" dirty="0">
                <a:solidFill>
                  <a:srgbClr val="F0716A"/>
                </a:solidFill>
              </a:rPr>
              <a:t>−45%</a:t>
            </a:r>
            <a:endParaRPr lang="en-US" sz="2800" dirty="0"/>
          </a:p>
        </p:txBody>
      </p:sp>
      <p:sp>
        <p:nvSpPr>
          <p:cNvPr id="13" name="Text 10"/>
          <p:cNvSpPr txBox="1"/>
          <p:nvPr/>
        </p:nvSpPr>
        <p:spPr>
          <a:xfrm>
            <a:off x="10012680" y="5020056"/>
            <a:ext cx="1630375" cy="548640"/>
          </a:xfrm>
          <a:prstGeom prst="rect">
            <a:avLst/>
          </a:prstGeom>
          <a:noFill/>
          <a:ln/>
        </p:spPr>
        <p:txBody>
          <a:bodyPr wrap="square" lIns="0" tIns="0" rIns="0" bIns="0" rtlCol="0" anchor="ctr"/>
          <a:lstStyle/>
          <a:p>
            <a:pPr indent="0" marL="0">
              <a:buNone/>
            </a:pPr>
            <a:r>
              <a:rPr lang="en-US" sz="1400" b="1" dirty="0">
                <a:solidFill>
                  <a:srgbClr val="E8EBF0"/>
                </a:solidFill>
              </a:rPr>
              <a:t>The dot-com bust</a:t>
            </a:r>
            <a:endParaRPr lang="en-US" sz="1400" dirty="0"/>
          </a:p>
          <a:p>
            <a:pPr indent="0" marL="0">
              <a:buNone/>
            </a:pPr>
            <a:r>
              <a:rPr lang="en-US" sz="1100" dirty="0">
                <a:solidFill>
                  <a:srgbClr val="9AA4B2"/>
                </a:solidFill>
              </a:rPr>
              <a:t>2000–03, after inflation</a:t>
            </a:r>
            <a:endParaRPr lang="en-US" sz="1400" dirty="0"/>
          </a:p>
        </p:txBody>
      </p:sp>
      <p:sp>
        <p:nvSpPr>
          <p:cNvPr id="14" name="Text 11"/>
          <p:cNvSpPr txBox="1"/>
          <p:nvPr/>
        </p:nvSpPr>
        <p:spPr>
          <a:xfrm>
            <a:off x="8732520" y="5678424"/>
            <a:ext cx="1188720" cy="548640"/>
          </a:xfrm>
          <a:prstGeom prst="rect">
            <a:avLst/>
          </a:prstGeom>
          <a:noFill/>
          <a:ln/>
        </p:spPr>
        <p:txBody>
          <a:bodyPr wrap="square" lIns="0" tIns="0" rIns="0" bIns="0" rtlCol="0" anchor="ctr"/>
          <a:lstStyle/>
          <a:p>
            <a:pPr indent="0" marL="0">
              <a:buNone/>
            </a:pPr>
            <a:r>
              <a:rPr lang="en-US" sz="2800" b="1" dirty="0">
                <a:solidFill>
                  <a:srgbClr val="F0716A"/>
                </a:solidFill>
              </a:rPr>
              <a:t>−50%</a:t>
            </a:r>
            <a:endParaRPr lang="en-US" sz="2800" dirty="0"/>
          </a:p>
        </p:txBody>
      </p:sp>
      <p:sp>
        <p:nvSpPr>
          <p:cNvPr id="15" name="Text 12"/>
          <p:cNvSpPr txBox="1"/>
          <p:nvPr/>
        </p:nvSpPr>
        <p:spPr>
          <a:xfrm>
            <a:off x="10012680" y="5678424"/>
            <a:ext cx="1630375" cy="548640"/>
          </a:xfrm>
          <a:prstGeom prst="rect">
            <a:avLst/>
          </a:prstGeom>
          <a:noFill/>
          <a:ln/>
        </p:spPr>
        <p:txBody>
          <a:bodyPr wrap="square" lIns="0" tIns="0" rIns="0" bIns="0" rtlCol="0" anchor="ctr"/>
          <a:lstStyle/>
          <a:p>
            <a:pPr indent="0" marL="0">
              <a:buNone/>
            </a:pPr>
            <a:r>
              <a:rPr lang="en-US" sz="1400" b="1" dirty="0">
                <a:solidFill>
                  <a:srgbClr val="E8EBF0"/>
                </a:solidFill>
              </a:rPr>
              <a:t>The 2008 crash</a:t>
            </a:r>
            <a:endParaRPr lang="en-US" sz="1400" dirty="0"/>
          </a:p>
          <a:p>
            <a:pPr indent="0" marL="0">
              <a:buNone/>
            </a:pPr>
            <a:r>
              <a:rPr lang="en-US" sz="1100" dirty="0">
                <a:solidFill>
                  <a:srgbClr val="9AA4B2"/>
                </a:solidFill>
              </a:rPr>
              <a:t>2007–09, after inflation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WHERE TO START</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A tool for every stage of the road</a:t>
            </a:r>
            <a:endParaRPr lang="en-US" sz="3400" dirty="0"/>
          </a:p>
        </p:txBody>
      </p:sp>
      <p:sp>
        <p:nvSpPr>
          <p:cNvPr id="4" name="Shape 2"/>
          <p:cNvSpPr/>
          <p:nvPr/>
        </p:nvSpPr>
        <p:spPr>
          <a:xfrm>
            <a:off x="548640" y="1600200"/>
            <a:ext cx="2755316" cy="868680"/>
          </a:xfrm>
          <a:prstGeom prst="homePlate">
            <a:avLst/>
          </a:prstGeom>
          <a:solidFill>
            <a:srgbClr val="9670EC"/>
          </a:solidFill>
          <a:ln/>
        </p:spPr>
      </p:sp>
      <p:sp>
        <p:nvSpPr>
          <p:cNvPr id="5" name="Text 3"/>
          <p:cNvSpPr txBox="1"/>
          <p:nvPr/>
        </p:nvSpPr>
        <p:spPr>
          <a:xfrm>
            <a:off x="777240" y="1600200"/>
            <a:ext cx="2224964" cy="868680"/>
          </a:xfrm>
          <a:prstGeom prst="rect">
            <a:avLst/>
          </a:prstGeom>
          <a:noFill/>
          <a:ln/>
        </p:spPr>
        <p:txBody>
          <a:bodyPr wrap="square" lIns="0" tIns="0" rIns="0" bIns="0" rtlCol="0" anchor="ctr"/>
          <a:lstStyle/>
          <a:p>
            <a:pPr indent="0" marL="0">
              <a:buNone/>
            </a:pPr>
            <a:r>
              <a:rPr lang="en-US" sz="2000" b="1" dirty="0">
                <a:solidFill>
                  <a:srgbClr val="0E1116"/>
                </a:solidFill>
              </a:rPr>
              <a:t>Today</a:t>
            </a:r>
            <a:endParaRPr lang="en-US" sz="1400" dirty="0"/>
          </a:p>
          <a:p>
            <a:pPr indent="0" marL="0">
              <a:buNone/>
            </a:pPr>
            <a:r>
              <a:rPr lang="en-US" sz="1200" dirty="0">
                <a:solidFill>
                  <a:srgbClr val="0E1116"/>
                </a:solidFill>
              </a:rPr>
              <a:t>Get the basics right</a:t>
            </a:r>
            <a:endParaRPr lang="en-US" sz="1400" dirty="0"/>
          </a:p>
        </p:txBody>
      </p:sp>
      <p:sp>
        <p:nvSpPr>
          <p:cNvPr id="6" name="Shape 4"/>
          <p:cNvSpPr/>
          <p:nvPr/>
        </p:nvSpPr>
        <p:spPr>
          <a:xfrm>
            <a:off x="621792" y="2697480"/>
            <a:ext cx="2517572" cy="457200"/>
          </a:xfrm>
          <a:prstGeom prst="roundRect">
            <a:avLst>
              <a:gd name="adj" fmla="val 20000"/>
            </a:avLst>
          </a:prstGeom>
          <a:solidFill>
            <a:srgbClr val="1C222B"/>
          </a:solidFill>
          <a:ln/>
        </p:spPr>
      </p:sp>
      <p:sp>
        <p:nvSpPr>
          <p:cNvPr id="7" name="Shape 5"/>
          <p:cNvSpPr/>
          <p:nvPr/>
        </p:nvSpPr>
        <p:spPr>
          <a:xfrm>
            <a:off x="777240" y="2862072"/>
            <a:ext cx="128016" cy="128016"/>
          </a:xfrm>
          <a:prstGeom prst="ellipse">
            <a:avLst/>
          </a:prstGeom>
          <a:solidFill>
            <a:srgbClr val="9670EC"/>
          </a:solidFill>
          <a:ln/>
        </p:spPr>
      </p:sp>
      <p:sp>
        <p:nvSpPr>
          <p:cNvPr id="8" name="Text 6"/>
          <p:cNvSpPr txBox="1"/>
          <p:nvPr/>
        </p:nvSpPr>
        <p:spPr>
          <a:xfrm>
            <a:off x="1024128" y="2697480"/>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Income Tax</a:t>
            </a:r>
            <a:endParaRPr lang="en-US" sz="1300" dirty="0"/>
          </a:p>
        </p:txBody>
      </p:sp>
      <p:sp>
        <p:nvSpPr>
          <p:cNvPr id="9" name="Shape 7"/>
          <p:cNvSpPr/>
          <p:nvPr/>
        </p:nvSpPr>
        <p:spPr>
          <a:xfrm>
            <a:off x="621792" y="3264408"/>
            <a:ext cx="2517572" cy="457200"/>
          </a:xfrm>
          <a:prstGeom prst="roundRect">
            <a:avLst>
              <a:gd name="adj" fmla="val 20000"/>
            </a:avLst>
          </a:prstGeom>
          <a:solidFill>
            <a:srgbClr val="1C222B"/>
          </a:solidFill>
          <a:ln/>
        </p:spPr>
      </p:sp>
      <p:sp>
        <p:nvSpPr>
          <p:cNvPr id="10" name="Shape 8"/>
          <p:cNvSpPr/>
          <p:nvPr/>
        </p:nvSpPr>
        <p:spPr>
          <a:xfrm>
            <a:off x="777240" y="3429000"/>
            <a:ext cx="128016" cy="128016"/>
          </a:xfrm>
          <a:prstGeom prst="ellipse">
            <a:avLst/>
          </a:prstGeom>
          <a:solidFill>
            <a:srgbClr val="9670EC"/>
          </a:solidFill>
          <a:ln/>
        </p:spPr>
      </p:sp>
      <p:sp>
        <p:nvSpPr>
          <p:cNvPr id="11" name="Text 9"/>
          <p:cNvSpPr txBox="1"/>
          <p:nvPr/>
        </p:nvSpPr>
        <p:spPr>
          <a:xfrm>
            <a:off x="1024128" y="3264408"/>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Budget</a:t>
            </a:r>
            <a:endParaRPr lang="en-US" sz="1300" dirty="0"/>
          </a:p>
        </p:txBody>
      </p:sp>
      <p:sp>
        <p:nvSpPr>
          <p:cNvPr id="12" name="Shape 10"/>
          <p:cNvSpPr/>
          <p:nvPr/>
        </p:nvSpPr>
        <p:spPr>
          <a:xfrm>
            <a:off x="621792" y="3831336"/>
            <a:ext cx="2517572" cy="457200"/>
          </a:xfrm>
          <a:prstGeom prst="roundRect">
            <a:avLst>
              <a:gd name="adj" fmla="val 20000"/>
            </a:avLst>
          </a:prstGeom>
          <a:solidFill>
            <a:srgbClr val="1C222B"/>
          </a:solidFill>
          <a:ln/>
        </p:spPr>
      </p:sp>
      <p:sp>
        <p:nvSpPr>
          <p:cNvPr id="13" name="Shape 11"/>
          <p:cNvSpPr/>
          <p:nvPr/>
        </p:nvSpPr>
        <p:spPr>
          <a:xfrm>
            <a:off x="777240" y="3995928"/>
            <a:ext cx="128016" cy="128016"/>
          </a:xfrm>
          <a:prstGeom prst="ellipse">
            <a:avLst/>
          </a:prstGeom>
          <a:solidFill>
            <a:srgbClr val="9670EC"/>
          </a:solidFill>
          <a:ln/>
        </p:spPr>
      </p:sp>
      <p:sp>
        <p:nvSpPr>
          <p:cNvPr id="14" name="Text 12"/>
          <p:cNvSpPr txBox="1"/>
          <p:nvPr/>
        </p:nvSpPr>
        <p:spPr>
          <a:xfrm>
            <a:off x="1024128" y="3831336"/>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Debt Payoff</a:t>
            </a:r>
            <a:endParaRPr lang="en-US" sz="1300" dirty="0"/>
          </a:p>
        </p:txBody>
      </p:sp>
      <p:sp>
        <p:nvSpPr>
          <p:cNvPr id="15" name="Shape 13"/>
          <p:cNvSpPr/>
          <p:nvPr/>
        </p:nvSpPr>
        <p:spPr>
          <a:xfrm>
            <a:off x="621792" y="4398264"/>
            <a:ext cx="2517572" cy="457200"/>
          </a:xfrm>
          <a:prstGeom prst="roundRect">
            <a:avLst>
              <a:gd name="adj" fmla="val 20000"/>
            </a:avLst>
          </a:prstGeom>
          <a:solidFill>
            <a:srgbClr val="1C222B"/>
          </a:solidFill>
          <a:ln/>
        </p:spPr>
      </p:sp>
      <p:sp>
        <p:nvSpPr>
          <p:cNvPr id="16" name="Shape 14"/>
          <p:cNvSpPr/>
          <p:nvPr/>
        </p:nvSpPr>
        <p:spPr>
          <a:xfrm>
            <a:off x="777240" y="4562856"/>
            <a:ext cx="128016" cy="128016"/>
          </a:xfrm>
          <a:prstGeom prst="ellipse">
            <a:avLst/>
          </a:prstGeom>
          <a:solidFill>
            <a:srgbClr val="9670EC"/>
          </a:solidFill>
          <a:ln/>
        </p:spPr>
      </p:sp>
      <p:sp>
        <p:nvSpPr>
          <p:cNvPr id="17" name="Text 15"/>
          <p:cNvSpPr txBox="1"/>
          <p:nvPr/>
        </p:nvSpPr>
        <p:spPr>
          <a:xfrm>
            <a:off x="1024128" y="4398264"/>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Mortgage Calculator</a:t>
            </a:r>
            <a:endParaRPr lang="en-US" sz="1300" dirty="0"/>
          </a:p>
        </p:txBody>
      </p:sp>
      <p:sp>
        <p:nvSpPr>
          <p:cNvPr id="18" name="Shape 16"/>
          <p:cNvSpPr/>
          <p:nvPr/>
        </p:nvSpPr>
        <p:spPr>
          <a:xfrm>
            <a:off x="621792" y="4965192"/>
            <a:ext cx="2517572" cy="457200"/>
          </a:xfrm>
          <a:prstGeom prst="roundRect">
            <a:avLst>
              <a:gd name="adj" fmla="val 20000"/>
            </a:avLst>
          </a:prstGeom>
          <a:solidFill>
            <a:srgbClr val="1C222B"/>
          </a:solidFill>
          <a:ln/>
        </p:spPr>
      </p:sp>
      <p:sp>
        <p:nvSpPr>
          <p:cNvPr id="19" name="Shape 17"/>
          <p:cNvSpPr/>
          <p:nvPr/>
        </p:nvSpPr>
        <p:spPr>
          <a:xfrm>
            <a:off x="777240" y="5129784"/>
            <a:ext cx="128016" cy="128016"/>
          </a:xfrm>
          <a:prstGeom prst="ellipse">
            <a:avLst/>
          </a:prstGeom>
          <a:solidFill>
            <a:srgbClr val="9670EC"/>
          </a:solidFill>
          <a:ln/>
        </p:spPr>
      </p:sp>
      <p:sp>
        <p:nvSpPr>
          <p:cNvPr id="20" name="Text 18"/>
          <p:cNvSpPr txBox="1"/>
          <p:nvPr/>
        </p:nvSpPr>
        <p:spPr>
          <a:xfrm>
            <a:off x="1024128" y="4965192"/>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Rent vs. Buy</a:t>
            </a:r>
            <a:endParaRPr lang="en-US" sz="1300" dirty="0"/>
          </a:p>
        </p:txBody>
      </p:sp>
      <p:sp>
        <p:nvSpPr>
          <p:cNvPr id="21" name="Shape 19"/>
          <p:cNvSpPr/>
          <p:nvPr/>
        </p:nvSpPr>
        <p:spPr>
          <a:xfrm>
            <a:off x="3212516" y="1600200"/>
            <a:ext cx="2883332" cy="868680"/>
          </a:xfrm>
          <a:prstGeom prst="chevron">
            <a:avLst/>
          </a:prstGeom>
          <a:solidFill>
            <a:srgbClr val="46B9A6"/>
          </a:solidFill>
          <a:ln/>
        </p:spPr>
      </p:sp>
      <p:sp>
        <p:nvSpPr>
          <p:cNvPr id="22" name="Text 20"/>
          <p:cNvSpPr txBox="1"/>
          <p:nvPr/>
        </p:nvSpPr>
        <p:spPr>
          <a:xfrm>
            <a:off x="3642284" y="1600200"/>
            <a:ext cx="2224964" cy="868680"/>
          </a:xfrm>
          <a:prstGeom prst="rect">
            <a:avLst/>
          </a:prstGeom>
          <a:noFill/>
          <a:ln/>
        </p:spPr>
        <p:txBody>
          <a:bodyPr wrap="square" lIns="0" tIns="0" rIns="0" bIns="0" rtlCol="0" anchor="ctr"/>
          <a:lstStyle/>
          <a:p>
            <a:pPr indent="0" marL="0">
              <a:buNone/>
            </a:pPr>
            <a:r>
              <a:rPr lang="en-US" sz="2000" b="1" dirty="0">
                <a:solidFill>
                  <a:srgbClr val="0E1116"/>
                </a:solidFill>
              </a:rPr>
              <a:t>Saving years</a:t>
            </a:r>
            <a:endParaRPr lang="en-US" sz="1400" dirty="0"/>
          </a:p>
          <a:p>
            <a:pPr indent="0" marL="0">
              <a:buNone/>
            </a:pPr>
            <a:r>
              <a:rPr lang="en-US" sz="1200" dirty="0">
                <a:solidFill>
                  <a:srgbClr val="0E1116"/>
                </a:solidFill>
              </a:rPr>
              <a:t>Grow it</a:t>
            </a:r>
            <a:endParaRPr lang="en-US" sz="1400" dirty="0"/>
          </a:p>
        </p:txBody>
      </p:sp>
      <p:sp>
        <p:nvSpPr>
          <p:cNvPr id="23" name="Shape 21"/>
          <p:cNvSpPr/>
          <p:nvPr/>
        </p:nvSpPr>
        <p:spPr>
          <a:xfrm>
            <a:off x="3395396" y="2697480"/>
            <a:ext cx="2517572" cy="457200"/>
          </a:xfrm>
          <a:prstGeom prst="roundRect">
            <a:avLst>
              <a:gd name="adj" fmla="val 20000"/>
            </a:avLst>
          </a:prstGeom>
          <a:solidFill>
            <a:srgbClr val="1C222B"/>
          </a:solidFill>
          <a:ln/>
        </p:spPr>
      </p:sp>
      <p:sp>
        <p:nvSpPr>
          <p:cNvPr id="24" name="Shape 22"/>
          <p:cNvSpPr/>
          <p:nvPr/>
        </p:nvSpPr>
        <p:spPr>
          <a:xfrm>
            <a:off x="3550844" y="2862072"/>
            <a:ext cx="128016" cy="128016"/>
          </a:xfrm>
          <a:prstGeom prst="ellipse">
            <a:avLst/>
          </a:prstGeom>
          <a:solidFill>
            <a:srgbClr val="E3A93B"/>
          </a:solidFill>
          <a:ln/>
        </p:spPr>
      </p:sp>
      <p:sp>
        <p:nvSpPr>
          <p:cNvPr id="25" name="Text 23"/>
          <p:cNvSpPr txBox="1"/>
          <p:nvPr/>
        </p:nvSpPr>
        <p:spPr>
          <a:xfrm>
            <a:off x="3797732" y="2697480"/>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Calculator  </a:t>
            </a:r>
            <a:pPr indent="0" marL="0">
              <a:buNone/>
            </a:pPr>
            <a:r>
              <a:rPr lang="en-US" sz="1100" dirty="0">
                <a:solidFill>
                  <a:srgbClr val="9AA4B2"/>
                </a:solidFill>
              </a:rPr>
              <a:t>Basic · Advanced · Stages</a:t>
            </a:r>
            <a:endParaRPr lang="en-US" sz="1300" dirty="0"/>
          </a:p>
        </p:txBody>
      </p:sp>
      <p:sp>
        <p:nvSpPr>
          <p:cNvPr id="26" name="Shape 24"/>
          <p:cNvSpPr/>
          <p:nvPr/>
        </p:nvSpPr>
        <p:spPr>
          <a:xfrm>
            <a:off x="3395396" y="3264408"/>
            <a:ext cx="2517572" cy="457200"/>
          </a:xfrm>
          <a:prstGeom prst="roundRect">
            <a:avLst>
              <a:gd name="adj" fmla="val 20000"/>
            </a:avLst>
          </a:prstGeom>
          <a:solidFill>
            <a:srgbClr val="1C222B"/>
          </a:solidFill>
          <a:ln/>
        </p:spPr>
      </p:sp>
      <p:sp>
        <p:nvSpPr>
          <p:cNvPr id="27" name="Shape 25"/>
          <p:cNvSpPr/>
          <p:nvPr/>
        </p:nvSpPr>
        <p:spPr>
          <a:xfrm>
            <a:off x="3550844" y="3429000"/>
            <a:ext cx="128016" cy="128016"/>
          </a:xfrm>
          <a:prstGeom prst="ellipse">
            <a:avLst/>
          </a:prstGeom>
          <a:solidFill>
            <a:srgbClr val="46B9A6"/>
          </a:solidFill>
          <a:ln/>
        </p:spPr>
      </p:sp>
      <p:sp>
        <p:nvSpPr>
          <p:cNvPr id="28" name="Text 26"/>
          <p:cNvSpPr txBox="1"/>
          <p:nvPr/>
        </p:nvSpPr>
        <p:spPr>
          <a:xfrm>
            <a:off x="3797732" y="3264408"/>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FIRE Calculator</a:t>
            </a:r>
            <a:endParaRPr lang="en-US" sz="1300" dirty="0"/>
          </a:p>
        </p:txBody>
      </p:sp>
      <p:sp>
        <p:nvSpPr>
          <p:cNvPr id="29" name="Shape 27"/>
          <p:cNvSpPr/>
          <p:nvPr/>
        </p:nvSpPr>
        <p:spPr>
          <a:xfrm>
            <a:off x="3395396" y="3831336"/>
            <a:ext cx="2517572" cy="457200"/>
          </a:xfrm>
          <a:prstGeom prst="roundRect">
            <a:avLst>
              <a:gd name="adj" fmla="val 20000"/>
            </a:avLst>
          </a:prstGeom>
          <a:solidFill>
            <a:srgbClr val="1C222B"/>
          </a:solidFill>
          <a:ln/>
        </p:spPr>
      </p:sp>
      <p:sp>
        <p:nvSpPr>
          <p:cNvPr id="30" name="Shape 28"/>
          <p:cNvSpPr/>
          <p:nvPr/>
        </p:nvSpPr>
        <p:spPr>
          <a:xfrm>
            <a:off x="3550844" y="3995928"/>
            <a:ext cx="128016" cy="128016"/>
          </a:xfrm>
          <a:prstGeom prst="ellipse">
            <a:avLst/>
          </a:prstGeom>
          <a:solidFill>
            <a:srgbClr val="46B9A6"/>
          </a:solidFill>
          <a:ln/>
        </p:spPr>
      </p:sp>
      <p:sp>
        <p:nvSpPr>
          <p:cNvPr id="31" name="Text 29"/>
          <p:cNvSpPr txBox="1"/>
          <p:nvPr/>
        </p:nvSpPr>
        <p:spPr>
          <a:xfrm>
            <a:off x="3797732" y="3831336"/>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Portfolio Backtest</a:t>
            </a:r>
            <a:endParaRPr lang="en-US" sz="1300" dirty="0"/>
          </a:p>
        </p:txBody>
      </p:sp>
      <p:sp>
        <p:nvSpPr>
          <p:cNvPr id="32" name="Shape 30"/>
          <p:cNvSpPr/>
          <p:nvPr/>
        </p:nvSpPr>
        <p:spPr>
          <a:xfrm>
            <a:off x="3395396" y="4398264"/>
            <a:ext cx="2517572" cy="457200"/>
          </a:xfrm>
          <a:prstGeom prst="roundRect">
            <a:avLst>
              <a:gd name="adj" fmla="val 20000"/>
            </a:avLst>
          </a:prstGeom>
          <a:solidFill>
            <a:srgbClr val="1C222B"/>
          </a:solidFill>
          <a:ln/>
        </p:spPr>
      </p:sp>
      <p:sp>
        <p:nvSpPr>
          <p:cNvPr id="33" name="Shape 31"/>
          <p:cNvSpPr/>
          <p:nvPr/>
        </p:nvSpPr>
        <p:spPr>
          <a:xfrm>
            <a:off x="3550844" y="4562856"/>
            <a:ext cx="128016" cy="128016"/>
          </a:xfrm>
          <a:prstGeom prst="ellipse">
            <a:avLst/>
          </a:prstGeom>
          <a:solidFill>
            <a:srgbClr val="46B9A6"/>
          </a:solidFill>
          <a:ln/>
        </p:spPr>
      </p:sp>
      <p:sp>
        <p:nvSpPr>
          <p:cNvPr id="34" name="Text 32"/>
          <p:cNvSpPr txBox="1"/>
          <p:nvPr/>
        </p:nvSpPr>
        <p:spPr>
          <a:xfrm>
            <a:off x="3797732" y="4398264"/>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College Savings</a:t>
            </a:r>
            <a:endParaRPr lang="en-US" sz="1300" dirty="0"/>
          </a:p>
        </p:txBody>
      </p:sp>
      <p:sp>
        <p:nvSpPr>
          <p:cNvPr id="35" name="Shape 33"/>
          <p:cNvSpPr/>
          <p:nvPr/>
        </p:nvSpPr>
        <p:spPr>
          <a:xfrm>
            <a:off x="5986120" y="1600200"/>
            <a:ext cx="2883332" cy="868680"/>
          </a:xfrm>
          <a:prstGeom prst="chevron">
            <a:avLst/>
          </a:prstGeom>
          <a:solidFill>
            <a:srgbClr val="5AA9E6"/>
          </a:solidFill>
          <a:ln/>
        </p:spPr>
      </p:sp>
      <p:sp>
        <p:nvSpPr>
          <p:cNvPr id="36" name="Text 34"/>
          <p:cNvSpPr txBox="1"/>
          <p:nvPr/>
        </p:nvSpPr>
        <p:spPr>
          <a:xfrm>
            <a:off x="6415888" y="1600200"/>
            <a:ext cx="2224964" cy="868680"/>
          </a:xfrm>
          <a:prstGeom prst="rect">
            <a:avLst/>
          </a:prstGeom>
          <a:noFill/>
          <a:ln/>
        </p:spPr>
        <p:txBody>
          <a:bodyPr wrap="square" lIns="0" tIns="0" rIns="0" bIns="0" rtlCol="0" anchor="ctr"/>
          <a:lstStyle/>
          <a:p>
            <a:pPr indent="0" marL="0">
              <a:buNone/>
            </a:pPr>
            <a:r>
              <a:rPr lang="en-US" sz="2000" b="1" dirty="0">
                <a:solidFill>
                  <a:srgbClr val="0E1116"/>
                </a:solidFill>
              </a:rPr>
              <a:t>Getting close</a:t>
            </a:r>
            <a:endParaRPr lang="en-US" sz="1400" dirty="0"/>
          </a:p>
          <a:p>
            <a:pPr indent="0" marL="0">
              <a:buNone/>
            </a:pPr>
            <a:r>
              <a:rPr lang="en-US" sz="1200" dirty="0">
                <a:solidFill>
                  <a:srgbClr val="0E1116"/>
                </a:solidFill>
              </a:rPr>
              <a:t>Plan the handoff</a:t>
            </a:r>
            <a:endParaRPr lang="en-US" sz="1400" dirty="0"/>
          </a:p>
        </p:txBody>
      </p:sp>
      <p:sp>
        <p:nvSpPr>
          <p:cNvPr id="37" name="Shape 35"/>
          <p:cNvSpPr/>
          <p:nvPr/>
        </p:nvSpPr>
        <p:spPr>
          <a:xfrm>
            <a:off x="6169000" y="2697480"/>
            <a:ext cx="2517572" cy="457200"/>
          </a:xfrm>
          <a:prstGeom prst="roundRect">
            <a:avLst>
              <a:gd name="adj" fmla="val 20000"/>
            </a:avLst>
          </a:prstGeom>
          <a:solidFill>
            <a:srgbClr val="1C222B"/>
          </a:solidFill>
          <a:ln/>
        </p:spPr>
      </p:sp>
      <p:sp>
        <p:nvSpPr>
          <p:cNvPr id="38" name="Shape 36"/>
          <p:cNvSpPr/>
          <p:nvPr/>
        </p:nvSpPr>
        <p:spPr>
          <a:xfrm>
            <a:off x="6324448" y="2862072"/>
            <a:ext cx="128016" cy="128016"/>
          </a:xfrm>
          <a:prstGeom prst="ellipse">
            <a:avLst/>
          </a:prstGeom>
          <a:solidFill>
            <a:srgbClr val="5AA9E6"/>
          </a:solidFill>
          <a:ln/>
        </p:spPr>
      </p:sp>
      <p:sp>
        <p:nvSpPr>
          <p:cNvPr id="39" name="Text 37"/>
          <p:cNvSpPr txBox="1"/>
          <p:nvPr/>
        </p:nvSpPr>
        <p:spPr>
          <a:xfrm>
            <a:off x="6571336" y="2697480"/>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Social Security Calculator</a:t>
            </a:r>
            <a:endParaRPr lang="en-US" sz="1300" dirty="0"/>
          </a:p>
        </p:txBody>
      </p:sp>
      <p:sp>
        <p:nvSpPr>
          <p:cNvPr id="40" name="Shape 38"/>
          <p:cNvSpPr/>
          <p:nvPr/>
        </p:nvSpPr>
        <p:spPr>
          <a:xfrm>
            <a:off x="6169000" y="3264408"/>
            <a:ext cx="2517572" cy="457200"/>
          </a:xfrm>
          <a:prstGeom prst="roundRect">
            <a:avLst>
              <a:gd name="adj" fmla="val 20000"/>
            </a:avLst>
          </a:prstGeom>
          <a:solidFill>
            <a:srgbClr val="1C222B"/>
          </a:solidFill>
          <a:ln/>
        </p:spPr>
      </p:sp>
      <p:sp>
        <p:nvSpPr>
          <p:cNvPr id="41" name="Shape 39"/>
          <p:cNvSpPr/>
          <p:nvPr/>
        </p:nvSpPr>
        <p:spPr>
          <a:xfrm>
            <a:off x="6324448" y="3429000"/>
            <a:ext cx="128016" cy="128016"/>
          </a:xfrm>
          <a:prstGeom prst="ellipse">
            <a:avLst/>
          </a:prstGeom>
          <a:solidFill>
            <a:srgbClr val="5AA9E6"/>
          </a:solidFill>
          <a:ln/>
        </p:spPr>
      </p:sp>
      <p:sp>
        <p:nvSpPr>
          <p:cNvPr id="42" name="Text 40"/>
          <p:cNvSpPr txBox="1"/>
          <p:nvPr/>
        </p:nvSpPr>
        <p:spPr>
          <a:xfrm>
            <a:off x="6571336" y="3264408"/>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Healthcare Cost Planner</a:t>
            </a:r>
            <a:endParaRPr lang="en-US" sz="1300" dirty="0"/>
          </a:p>
        </p:txBody>
      </p:sp>
      <p:sp>
        <p:nvSpPr>
          <p:cNvPr id="43" name="Shape 41"/>
          <p:cNvSpPr/>
          <p:nvPr/>
        </p:nvSpPr>
        <p:spPr>
          <a:xfrm>
            <a:off x="6169000" y="3831336"/>
            <a:ext cx="2517572" cy="457200"/>
          </a:xfrm>
          <a:prstGeom prst="roundRect">
            <a:avLst>
              <a:gd name="adj" fmla="val 20000"/>
            </a:avLst>
          </a:prstGeom>
          <a:solidFill>
            <a:srgbClr val="1C222B"/>
          </a:solidFill>
          <a:ln/>
        </p:spPr>
      </p:sp>
      <p:sp>
        <p:nvSpPr>
          <p:cNvPr id="44" name="Shape 42"/>
          <p:cNvSpPr/>
          <p:nvPr/>
        </p:nvSpPr>
        <p:spPr>
          <a:xfrm>
            <a:off x="6324448" y="3995928"/>
            <a:ext cx="128016" cy="128016"/>
          </a:xfrm>
          <a:prstGeom prst="ellipse">
            <a:avLst/>
          </a:prstGeom>
          <a:solidFill>
            <a:srgbClr val="5AA9E6"/>
          </a:solidFill>
          <a:ln/>
        </p:spPr>
      </p:sp>
      <p:sp>
        <p:nvSpPr>
          <p:cNvPr id="45" name="Text 43"/>
          <p:cNvSpPr txBox="1"/>
          <p:nvPr/>
        </p:nvSpPr>
        <p:spPr>
          <a:xfrm>
            <a:off x="6571336" y="3831336"/>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Early Retirement Bridge</a:t>
            </a:r>
            <a:endParaRPr lang="en-US" sz="1300" dirty="0"/>
          </a:p>
        </p:txBody>
      </p:sp>
      <p:sp>
        <p:nvSpPr>
          <p:cNvPr id="46" name="Shape 44"/>
          <p:cNvSpPr/>
          <p:nvPr/>
        </p:nvSpPr>
        <p:spPr>
          <a:xfrm>
            <a:off x="6169000" y="4398264"/>
            <a:ext cx="2517572" cy="457200"/>
          </a:xfrm>
          <a:prstGeom prst="roundRect">
            <a:avLst>
              <a:gd name="adj" fmla="val 20000"/>
            </a:avLst>
          </a:prstGeom>
          <a:solidFill>
            <a:srgbClr val="1C222B"/>
          </a:solidFill>
          <a:ln/>
        </p:spPr>
      </p:sp>
      <p:sp>
        <p:nvSpPr>
          <p:cNvPr id="47" name="Shape 45"/>
          <p:cNvSpPr/>
          <p:nvPr/>
        </p:nvSpPr>
        <p:spPr>
          <a:xfrm>
            <a:off x="6324448" y="4562856"/>
            <a:ext cx="128016" cy="128016"/>
          </a:xfrm>
          <a:prstGeom prst="ellipse">
            <a:avLst/>
          </a:prstGeom>
          <a:solidFill>
            <a:srgbClr val="5AA9E6"/>
          </a:solidFill>
          <a:ln/>
        </p:spPr>
      </p:sp>
      <p:sp>
        <p:nvSpPr>
          <p:cNvPr id="48" name="Text 46"/>
          <p:cNvSpPr txBox="1"/>
          <p:nvPr/>
        </p:nvSpPr>
        <p:spPr>
          <a:xfrm>
            <a:off x="6571336" y="4398264"/>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Roth Conversion Calculator</a:t>
            </a:r>
            <a:endParaRPr lang="en-US" sz="1300" dirty="0"/>
          </a:p>
        </p:txBody>
      </p:sp>
      <p:sp>
        <p:nvSpPr>
          <p:cNvPr id="49" name="Shape 47"/>
          <p:cNvSpPr/>
          <p:nvPr/>
        </p:nvSpPr>
        <p:spPr>
          <a:xfrm>
            <a:off x="6169000" y="4965192"/>
            <a:ext cx="2517572" cy="457200"/>
          </a:xfrm>
          <a:prstGeom prst="roundRect">
            <a:avLst>
              <a:gd name="adj" fmla="val 20000"/>
            </a:avLst>
          </a:prstGeom>
          <a:solidFill>
            <a:srgbClr val="1C222B"/>
          </a:solidFill>
          <a:ln/>
        </p:spPr>
      </p:sp>
      <p:sp>
        <p:nvSpPr>
          <p:cNvPr id="50" name="Shape 48"/>
          <p:cNvSpPr/>
          <p:nvPr/>
        </p:nvSpPr>
        <p:spPr>
          <a:xfrm>
            <a:off x="6324448" y="5129784"/>
            <a:ext cx="128016" cy="128016"/>
          </a:xfrm>
          <a:prstGeom prst="ellipse">
            <a:avLst/>
          </a:prstGeom>
          <a:solidFill>
            <a:srgbClr val="5AA9E6"/>
          </a:solidFill>
          <a:ln/>
        </p:spPr>
      </p:sp>
      <p:sp>
        <p:nvSpPr>
          <p:cNvPr id="51" name="Text 49"/>
          <p:cNvSpPr txBox="1"/>
          <p:nvPr/>
        </p:nvSpPr>
        <p:spPr>
          <a:xfrm>
            <a:off x="6571336" y="4965192"/>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Retirement Plan Optimizer</a:t>
            </a:r>
            <a:endParaRPr lang="en-US" sz="1300" dirty="0"/>
          </a:p>
        </p:txBody>
      </p:sp>
      <p:sp>
        <p:nvSpPr>
          <p:cNvPr id="52" name="Shape 50"/>
          <p:cNvSpPr/>
          <p:nvPr/>
        </p:nvSpPr>
        <p:spPr>
          <a:xfrm>
            <a:off x="8759723" y="1600200"/>
            <a:ext cx="2883332" cy="868680"/>
          </a:xfrm>
          <a:prstGeom prst="chevron">
            <a:avLst/>
          </a:prstGeom>
          <a:solidFill>
            <a:srgbClr val="E3A93B"/>
          </a:solidFill>
          <a:ln/>
        </p:spPr>
      </p:sp>
      <p:sp>
        <p:nvSpPr>
          <p:cNvPr id="53" name="Text 51"/>
          <p:cNvSpPr txBox="1"/>
          <p:nvPr/>
        </p:nvSpPr>
        <p:spPr>
          <a:xfrm>
            <a:off x="9189491" y="1600200"/>
            <a:ext cx="2224964" cy="868680"/>
          </a:xfrm>
          <a:prstGeom prst="rect">
            <a:avLst/>
          </a:prstGeom>
          <a:noFill/>
          <a:ln/>
        </p:spPr>
        <p:txBody>
          <a:bodyPr wrap="square" lIns="0" tIns="0" rIns="0" bIns="0" rtlCol="0" anchor="ctr"/>
          <a:lstStyle/>
          <a:p>
            <a:pPr indent="0" marL="0">
              <a:buNone/>
            </a:pPr>
            <a:r>
              <a:rPr lang="en-US" sz="2000" b="1" dirty="0">
                <a:solidFill>
                  <a:srgbClr val="0E1116"/>
                </a:solidFill>
              </a:rPr>
              <a:t>Retired</a:t>
            </a:r>
            <a:endParaRPr lang="en-US" sz="1400" dirty="0"/>
          </a:p>
          <a:p>
            <a:pPr indent="0" marL="0">
              <a:buNone/>
            </a:pPr>
            <a:r>
              <a:rPr lang="en-US" sz="1200" dirty="0">
                <a:solidFill>
                  <a:srgbClr val="0E1116"/>
                </a:solidFill>
              </a:rPr>
              <a:t>Make it last</a:t>
            </a:r>
            <a:endParaRPr lang="en-US" sz="1400" dirty="0"/>
          </a:p>
        </p:txBody>
      </p:sp>
      <p:sp>
        <p:nvSpPr>
          <p:cNvPr id="54" name="Shape 52"/>
          <p:cNvSpPr/>
          <p:nvPr/>
        </p:nvSpPr>
        <p:spPr>
          <a:xfrm>
            <a:off x="8942603" y="2697480"/>
            <a:ext cx="2517572" cy="457200"/>
          </a:xfrm>
          <a:prstGeom prst="roundRect">
            <a:avLst>
              <a:gd name="adj" fmla="val 20000"/>
            </a:avLst>
          </a:prstGeom>
          <a:solidFill>
            <a:srgbClr val="1C222B"/>
          </a:solidFill>
          <a:ln/>
        </p:spPr>
      </p:sp>
      <p:sp>
        <p:nvSpPr>
          <p:cNvPr id="55" name="Shape 53"/>
          <p:cNvSpPr/>
          <p:nvPr/>
        </p:nvSpPr>
        <p:spPr>
          <a:xfrm>
            <a:off x="9098051" y="2862072"/>
            <a:ext cx="128016" cy="128016"/>
          </a:xfrm>
          <a:prstGeom prst="ellipse">
            <a:avLst/>
          </a:prstGeom>
          <a:solidFill>
            <a:srgbClr val="E3A93B"/>
          </a:solidFill>
          <a:ln/>
        </p:spPr>
      </p:sp>
      <p:sp>
        <p:nvSpPr>
          <p:cNvPr id="56" name="Text 54"/>
          <p:cNvSpPr txBox="1"/>
          <p:nvPr/>
        </p:nvSpPr>
        <p:spPr>
          <a:xfrm>
            <a:off x="9344939" y="2697480"/>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Drawdown Simulator</a:t>
            </a:r>
            <a:endParaRPr lang="en-US" sz="1300" dirty="0"/>
          </a:p>
        </p:txBody>
      </p:sp>
      <p:sp>
        <p:nvSpPr>
          <p:cNvPr id="57" name="Shape 55"/>
          <p:cNvSpPr/>
          <p:nvPr/>
        </p:nvSpPr>
        <p:spPr>
          <a:xfrm>
            <a:off x="8942603" y="3264408"/>
            <a:ext cx="2517572" cy="457200"/>
          </a:xfrm>
          <a:prstGeom prst="roundRect">
            <a:avLst>
              <a:gd name="adj" fmla="val 20000"/>
            </a:avLst>
          </a:prstGeom>
          <a:solidFill>
            <a:srgbClr val="1C222B"/>
          </a:solidFill>
          <a:ln/>
        </p:spPr>
      </p:sp>
      <p:sp>
        <p:nvSpPr>
          <p:cNvPr id="58" name="Shape 56"/>
          <p:cNvSpPr/>
          <p:nvPr/>
        </p:nvSpPr>
        <p:spPr>
          <a:xfrm>
            <a:off x="9098051" y="3429000"/>
            <a:ext cx="128016" cy="128016"/>
          </a:xfrm>
          <a:prstGeom prst="ellipse">
            <a:avLst/>
          </a:prstGeom>
          <a:solidFill>
            <a:srgbClr val="E3A93B"/>
          </a:solidFill>
          <a:ln/>
        </p:spPr>
      </p:sp>
      <p:sp>
        <p:nvSpPr>
          <p:cNvPr id="59" name="Text 57"/>
          <p:cNvSpPr txBox="1"/>
          <p:nvPr/>
        </p:nvSpPr>
        <p:spPr>
          <a:xfrm>
            <a:off x="9344939" y="3264408"/>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Roth Conversion Calculator</a:t>
            </a:r>
            <a:endParaRPr lang="en-US" sz="1300" dirty="0"/>
          </a:p>
        </p:txBody>
      </p:sp>
      <p:sp>
        <p:nvSpPr>
          <p:cNvPr id="60" name="Shape 58"/>
          <p:cNvSpPr/>
          <p:nvPr/>
        </p:nvSpPr>
        <p:spPr>
          <a:xfrm>
            <a:off x="8942603" y="3831336"/>
            <a:ext cx="2517572" cy="457200"/>
          </a:xfrm>
          <a:prstGeom prst="roundRect">
            <a:avLst>
              <a:gd name="adj" fmla="val 20000"/>
            </a:avLst>
          </a:prstGeom>
          <a:solidFill>
            <a:srgbClr val="1C222B"/>
          </a:solidFill>
          <a:ln/>
        </p:spPr>
      </p:sp>
      <p:sp>
        <p:nvSpPr>
          <p:cNvPr id="61" name="Shape 59"/>
          <p:cNvSpPr/>
          <p:nvPr/>
        </p:nvSpPr>
        <p:spPr>
          <a:xfrm>
            <a:off x="9098051" y="3995928"/>
            <a:ext cx="128016" cy="128016"/>
          </a:xfrm>
          <a:prstGeom prst="ellipse">
            <a:avLst/>
          </a:prstGeom>
          <a:solidFill>
            <a:srgbClr val="E3A93B"/>
          </a:solidFill>
          <a:ln/>
        </p:spPr>
      </p:sp>
      <p:sp>
        <p:nvSpPr>
          <p:cNvPr id="62" name="Text 60"/>
          <p:cNvSpPr txBox="1"/>
          <p:nvPr/>
        </p:nvSpPr>
        <p:spPr>
          <a:xfrm>
            <a:off x="9344939" y="3831336"/>
            <a:ext cx="2042084" cy="457200"/>
          </a:xfrm>
          <a:prstGeom prst="rect">
            <a:avLst/>
          </a:prstGeom>
          <a:noFill/>
          <a:ln/>
        </p:spPr>
        <p:txBody>
          <a:bodyPr wrap="square" lIns="0" tIns="0" rIns="0" bIns="0" rtlCol="0" anchor="ctr"/>
          <a:lstStyle/>
          <a:p>
            <a:pPr indent="0" marL="0">
              <a:buNone/>
            </a:pPr>
            <a:r>
              <a:rPr lang="en-US" sz="1300" b="1" dirty="0">
                <a:solidFill>
                  <a:srgbClr val="E8EBF0"/>
                </a:solidFill>
              </a:rPr>
              <a:t>Healthcare Cost Planner</a:t>
            </a:r>
            <a:endParaRPr lang="en-US" sz="1300" dirty="0"/>
          </a:p>
        </p:txBody>
      </p:sp>
      <p:sp>
        <p:nvSpPr>
          <p:cNvPr id="63" name="Shape 61"/>
          <p:cNvSpPr/>
          <p:nvPr/>
        </p:nvSpPr>
        <p:spPr>
          <a:xfrm>
            <a:off x="548640" y="5623560"/>
            <a:ext cx="11094415" cy="548640"/>
          </a:xfrm>
          <a:prstGeom prst="roundRect">
            <a:avLst>
              <a:gd name="adj" fmla="val 16667"/>
            </a:avLst>
          </a:prstGeom>
          <a:solidFill>
            <a:srgbClr val="151A21"/>
          </a:solidFill>
          <a:ln w="12700">
            <a:solidFill>
              <a:srgbClr val="2A313C"/>
            </a:solidFill>
            <a:prstDash val="solid"/>
          </a:ln>
        </p:spPr>
      </p:sp>
      <p:sp>
        <p:nvSpPr>
          <p:cNvPr id="64" name="Text 62"/>
          <p:cNvSpPr txBox="1"/>
          <p:nvPr/>
        </p:nvSpPr>
        <p:spPr>
          <a:xfrm>
            <a:off x="822960" y="5623560"/>
            <a:ext cx="10545775" cy="548640"/>
          </a:xfrm>
          <a:prstGeom prst="rect">
            <a:avLst/>
          </a:prstGeom>
          <a:noFill/>
          <a:ln/>
        </p:spPr>
        <p:txBody>
          <a:bodyPr wrap="square" lIns="0" tIns="0" rIns="0" bIns="0" rtlCol="0" anchor="ctr"/>
          <a:lstStyle/>
          <a:p>
            <a:pPr indent="0" marL="0">
              <a:buNone/>
            </a:pPr>
            <a:r>
              <a:rPr lang="en-US" sz="1400" b="1" dirty="0">
                <a:solidFill>
                  <a:srgbClr val="E8EBF0"/>
                </a:solidFill>
              </a:rPr>
              <a:t>Most people start with the Calculator, or with a guide: </a:t>
            </a:r>
            <a:pPr indent="0" marL="0">
              <a:buNone/>
            </a:pPr>
            <a:r>
              <a:rPr lang="en-US" sz="1400" dirty="0">
                <a:solidFill>
                  <a:srgbClr val="9AA4B2"/>
                </a:solidFill>
              </a:rPr>
              <a:t>the Readiness Guide and Paycheck to Retirement open the right tools along the way.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CALCULATORS</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Stages calculator</a:t>
            </a:r>
            <a:endParaRPr lang="en-US" sz="3000" dirty="0"/>
          </a:p>
        </p:txBody>
      </p:sp>
      <p:sp>
        <p:nvSpPr>
          <p:cNvPr id="4" name="Text 2"/>
          <p:cNvSpPr txBox="1"/>
          <p:nvPr/>
        </p:nvSpPr>
        <p:spPr>
          <a:xfrm>
            <a:off x="548640" y="1508760"/>
            <a:ext cx="4114800" cy="594360"/>
          </a:xfrm>
          <a:prstGeom prst="rect">
            <a:avLst/>
          </a:prstGeom>
          <a:noFill/>
          <a:ln/>
        </p:spPr>
        <p:txBody>
          <a:bodyPr wrap="square" lIns="0" tIns="0" rIns="0" bIns="0" rtlCol="0" anchor="t"/>
          <a:lstStyle/>
          <a:p>
            <a:pPr indent="0" marL="0">
              <a:buNone/>
            </a:pPr>
            <a:r>
              <a:rPr lang="en-US" sz="1800" b="1" dirty="0">
                <a:solidFill>
                  <a:srgbClr val="E3A93B"/>
                </a:solidFill>
              </a:rPr>
              <a:t>What if my saving changes over the years?</a:t>
            </a:r>
            <a:endParaRPr lang="en-US" sz="1800" dirty="0"/>
          </a:p>
        </p:txBody>
      </p:sp>
      <p:sp>
        <p:nvSpPr>
          <p:cNvPr id="5" name="Text 3"/>
          <p:cNvSpPr txBox="1"/>
          <p:nvPr/>
        </p:nvSpPr>
        <p:spPr>
          <a:xfrm>
            <a:off x="548640" y="246888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Any number of stages</a:t>
            </a:r>
            <a:endParaRPr lang="en-US" sz="2600" dirty="0"/>
          </a:p>
        </p:txBody>
      </p:sp>
      <p:sp>
        <p:nvSpPr>
          <p:cNvPr id="6" name="Text 4"/>
          <p:cNvSpPr txBox="1"/>
          <p:nvPr/>
        </p:nvSpPr>
        <p:spPr>
          <a:xfrm>
            <a:off x="548640" y="2926080"/>
            <a:ext cx="4023360" cy="566928"/>
          </a:xfrm>
          <a:prstGeom prst="rect">
            <a:avLst/>
          </a:prstGeom>
          <a:noFill/>
          <a:ln/>
        </p:spPr>
        <p:txBody>
          <a:bodyPr wrap="square" lIns="0" tIns="0" rIns="0" bIns="0" rtlCol="0" anchor="t"/>
          <a:lstStyle/>
          <a:p>
            <a:pPr indent="0" marL="0">
              <a:buNone/>
            </a:pPr>
            <a:r>
              <a:rPr lang="en-US" sz="1300" dirty="0">
                <a:solidFill>
                  <a:srgbClr val="9AA4B2"/>
                </a:solidFill>
              </a:rPr>
              <a:t>Each with its own saving, raises, return, volatility and account split, chained into one projection.</a:t>
            </a:r>
            <a:endParaRPr lang="en-US" sz="1300" dirty="0"/>
          </a:p>
        </p:txBody>
      </p:sp>
      <p:sp>
        <p:nvSpPr>
          <p:cNvPr id="7" name="Text 5"/>
          <p:cNvSpPr txBox="1"/>
          <p:nvPr/>
        </p:nvSpPr>
        <p:spPr>
          <a:xfrm>
            <a:off x="548640" y="361188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Built around children</a:t>
            </a:r>
            <a:endParaRPr lang="en-US" sz="2600" dirty="0"/>
          </a:p>
        </p:txBody>
      </p:sp>
      <p:sp>
        <p:nvSpPr>
          <p:cNvPr id="8" name="Text 6"/>
          <p:cNvSpPr txBox="1"/>
          <p:nvPr/>
        </p:nvSpPr>
        <p:spPr>
          <a:xfrm>
            <a:off x="548640" y="4069080"/>
            <a:ext cx="4023360" cy="566928"/>
          </a:xfrm>
          <a:prstGeom prst="rect">
            <a:avLst/>
          </a:prstGeom>
          <a:noFill/>
          <a:ln/>
        </p:spPr>
        <p:txBody>
          <a:bodyPr wrap="square" lIns="0" tIns="0" rIns="0" bIns="0" rtlCol="0" anchor="t"/>
          <a:lstStyle/>
          <a:p>
            <a:pPr indent="0" marL="0">
              <a:buNone/>
            </a:pPr>
            <a:r>
              <a:rPr lang="en-US" sz="1300" dirty="0">
                <a:solidFill>
                  <a:srgbClr val="9AA4B2"/>
                </a:solidFill>
              </a:rPr>
              <a:t>Planning for kids rebuilds the stages around the children you have or plan.</a:t>
            </a:r>
            <a:endParaRPr lang="en-US" sz="1300" dirty="0"/>
          </a:p>
        </p:txBody>
      </p:sp>
      <p:sp>
        <p:nvSpPr>
          <p:cNvPr id="9" name="Text 7"/>
          <p:cNvSpPr txBox="1"/>
          <p:nvPr/>
        </p:nvSpPr>
        <p:spPr>
          <a:xfrm>
            <a:off x="548640" y="475488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Tested three ways</a:t>
            </a:r>
            <a:endParaRPr lang="en-US" sz="2600" dirty="0"/>
          </a:p>
        </p:txBody>
      </p:sp>
      <p:sp>
        <p:nvSpPr>
          <p:cNvPr id="10" name="Text 8"/>
          <p:cNvSpPr txBox="1"/>
          <p:nvPr/>
        </p:nvSpPr>
        <p:spPr>
          <a:xfrm>
            <a:off x="548640" y="5212080"/>
            <a:ext cx="4023360" cy="566928"/>
          </a:xfrm>
          <a:prstGeom prst="rect">
            <a:avLst/>
          </a:prstGeom>
          <a:noFill/>
          <a:ln/>
        </p:spPr>
        <p:txBody>
          <a:bodyPr wrap="square" lIns="0" tIns="0" rIns="0" bIns="0" rtlCol="0" anchor="t"/>
          <a:lstStyle/>
          <a:p>
            <a:pPr indent="0" marL="0">
              <a:buNone/>
            </a:pPr>
            <a:r>
              <a:rPr lang="en-US" sz="1300" dirty="0">
                <a:solidFill>
                  <a:srgbClr val="9AA4B2"/>
                </a:solidFill>
              </a:rPr>
              <a:t>A rate band, every rolling window since 1926, or 5,000 Monte Carlo runs.</a:t>
            </a:r>
            <a:endParaRPr lang="en-US" sz="1300" dirty="0"/>
          </a:p>
        </p:txBody>
      </p:sp>
      <p:sp>
        <p:nvSpPr>
          <p:cNvPr id="11" name="Shape 9"/>
          <p:cNvSpPr/>
          <p:nvPr/>
        </p:nvSpPr>
        <p:spPr>
          <a:xfrm>
            <a:off x="4983480" y="0"/>
            <a:ext cx="7208215" cy="6858000"/>
          </a:xfrm>
          <a:prstGeom prst="rect">
            <a:avLst/>
          </a:prstGeom>
          <a:solidFill>
            <a:srgbClr val="28231A"/>
          </a:solidFill>
          <a:ln/>
        </p:spPr>
      </p:sp>
      <p:pic>
        <p:nvPicPr>
          <p:cNvPr id="12" name="Image 0" descr="/Users/erikalfriend/Projects/RetCalc/.claude/worktrees/marketing-package/marketing/deck/img/stages_hist_45000_0_0.8.png">    </p:cNvPr>
          <p:cNvPicPr>
            <a:picLocks noChangeAspect="1"/>
          </p:cNvPicPr>
          <p:nvPr/>
        </p:nvPicPr>
        <p:blipFill>
          <a:blip r:embed="rId1"/>
          <a:stretch>
            <a:fillRect/>
          </a:stretch>
        </p:blipFill>
        <p:spPr>
          <a:xfrm>
            <a:off x="5394960" y="1691640"/>
            <a:ext cx="6385255" cy="4001175"/>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stages_0_your-stages_0_0.215.png">    </p:cNvPr>
          <p:cNvPicPr>
            <a:picLocks noChangeAspect="1"/>
          </p:cNvPicPr>
          <p:nvPr/>
        </p:nvPicPr>
        <p:blipFill>
          <a:blip r:embed="rId2"/>
          <a:stretch>
            <a:fillRect/>
          </a:stretch>
        </p:blipFill>
        <p:spPr>
          <a:xfrm>
            <a:off x="5394960" y="411480"/>
            <a:ext cx="3200400" cy="1809427"/>
          </a:xfrm>
          <a:prstGeom prst="rect">
            <a:avLst/>
          </a:prstGeom>
          <a:effectLst>
            <a:outerShdw sx="100000" sy="100000" kx="0" ky="0" algn="bl" rotWithShape="0" blurRad="254000" dist="101600" dir="5400000">
              <a:srgbClr val="000000">
                <a:alpha val="50000"/>
              </a:srgbClr>
            </a:outerShdw>
          </a:effectLst>
        </p:spPr>
      </p:pic>
      <p:sp>
        <p:nvSpPr>
          <p:cNvPr id="14" name="Text 10"/>
          <p:cNvSpPr txBox="1"/>
          <p:nvPr/>
        </p:nvSpPr>
        <p:spPr>
          <a:xfrm>
            <a:off x="8869680" y="685800"/>
            <a:ext cx="2864815" cy="822960"/>
          </a:xfrm>
          <a:prstGeom prst="rect">
            <a:avLst/>
          </a:prstGeom>
          <a:noFill/>
          <a:ln/>
        </p:spPr>
        <p:txBody>
          <a:bodyPr wrap="square" lIns="0" tIns="0" rIns="0" bIns="0" rtlCol="0" anchor="t"/>
          <a:lstStyle/>
          <a:p>
            <a:pPr indent="0" marL="0">
              <a:buNone/>
            </a:pPr>
            <a:r>
              <a:rPr lang="en-US" sz="1300" dirty="0">
                <a:solidFill>
                  <a:srgbClr val="9AA4B2"/>
                </a:solidFill>
              </a:rPr>
              <a:t>Sample plan: early career, kids at home, peak earning, then coasting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Drawdown Simulator</a:t>
            </a:r>
            <a:endParaRPr lang="en-US" sz="3000" dirty="0"/>
          </a:p>
        </p:txBody>
      </p:sp>
      <p:sp>
        <p:nvSpPr>
          <p:cNvPr id="4" name="Text 2"/>
          <p:cNvSpPr txBox="1"/>
          <p:nvPr/>
        </p:nvSpPr>
        <p:spPr>
          <a:xfrm>
            <a:off x="548640" y="1508760"/>
            <a:ext cx="4114800" cy="320040"/>
          </a:xfrm>
          <a:prstGeom prst="rect">
            <a:avLst/>
          </a:prstGeom>
          <a:noFill/>
          <a:ln/>
        </p:spPr>
        <p:txBody>
          <a:bodyPr wrap="square" lIns="0" tIns="0" rIns="0" bIns="0" rtlCol="0" anchor="t"/>
          <a:lstStyle/>
          <a:p>
            <a:pPr indent="0" marL="0">
              <a:buNone/>
            </a:pPr>
            <a:r>
              <a:rPr lang="en-US" sz="1800" b="1" dirty="0">
                <a:solidFill>
                  <a:srgbClr val="5AA9E6"/>
                </a:solidFill>
              </a:rPr>
              <a:t>Will my money last?</a:t>
            </a:r>
            <a:endParaRPr lang="en-US" sz="1800" dirty="0"/>
          </a:p>
        </p:txBody>
      </p:sp>
      <p:sp>
        <p:nvSpPr>
          <p:cNvPr id="5" name="Text 3"/>
          <p:cNvSpPr txBox="1"/>
          <p:nvPr/>
        </p:nvSpPr>
        <p:spPr>
          <a:xfrm>
            <a:off x="548640" y="219456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15 strategies</a:t>
            </a:r>
            <a:endParaRPr lang="en-US" sz="2600" dirty="0"/>
          </a:p>
        </p:txBody>
      </p:sp>
      <p:sp>
        <p:nvSpPr>
          <p:cNvPr id="6" name="Text 4"/>
          <p:cNvSpPr txBox="1"/>
          <p:nvPr/>
        </p:nvSpPr>
        <p:spPr>
          <a:xfrm>
            <a:off x="548640" y="2651760"/>
            <a:ext cx="4023360" cy="566928"/>
          </a:xfrm>
          <a:prstGeom prst="rect">
            <a:avLst/>
          </a:prstGeom>
          <a:noFill/>
          <a:ln/>
        </p:spPr>
        <p:txBody>
          <a:bodyPr wrap="square" lIns="0" tIns="0" rIns="0" bIns="0" rtlCol="0" anchor="t"/>
          <a:lstStyle/>
          <a:p>
            <a:pPr indent="0" marL="0">
              <a:buNone/>
            </a:pPr>
            <a:r>
              <a:rPr lang="en-US" sz="1300" dirty="0">
                <a:solidFill>
                  <a:srgbClr val="9AA4B2"/>
                </a:solidFill>
              </a:rPr>
              <a:t>From the 4% rule to guardrails, VPW and the Yale endowment rule, in five families.</a:t>
            </a:r>
            <a:endParaRPr lang="en-US" sz="1300" dirty="0"/>
          </a:p>
        </p:txBody>
      </p:sp>
      <p:sp>
        <p:nvSpPr>
          <p:cNvPr id="7" name="Text 5"/>
          <p:cNvSpPr txBox="1"/>
          <p:nvPr/>
        </p:nvSpPr>
        <p:spPr>
          <a:xfrm>
            <a:off x="548640" y="333756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835 real retirements</a:t>
            </a:r>
            <a:endParaRPr lang="en-US" sz="2600" dirty="0"/>
          </a:p>
        </p:txBody>
      </p:sp>
      <p:sp>
        <p:nvSpPr>
          <p:cNvPr id="8" name="Text 6"/>
          <p:cNvSpPr txBox="1"/>
          <p:nvPr/>
        </p:nvSpPr>
        <p:spPr>
          <a:xfrm>
            <a:off x="548640" y="3794760"/>
            <a:ext cx="4023360" cy="566928"/>
          </a:xfrm>
          <a:prstGeom prst="rect">
            <a:avLst/>
          </a:prstGeom>
          <a:noFill/>
          <a:ln/>
        </p:spPr>
        <p:txBody>
          <a:bodyPr wrap="square" lIns="0" tIns="0" rIns="0" bIns="0" rtlCol="0" anchor="t"/>
          <a:lstStyle/>
          <a:p>
            <a:pPr indent="0" marL="0">
              <a:buNone/>
            </a:pPr>
            <a:r>
              <a:rPr lang="en-US" sz="1300" dirty="0">
                <a:solidFill>
                  <a:srgbClr val="9AA4B2"/>
                </a:solidFill>
              </a:rPr>
              <a:t>Every monthly start since 1926, each run for 30 years, with Social Security and pensions.</a:t>
            </a:r>
            <a:endParaRPr lang="en-US" sz="1300" dirty="0"/>
          </a:p>
        </p:txBody>
      </p:sp>
      <p:sp>
        <p:nvSpPr>
          <p:cNvPr id="9" name="Text 7"/>
          <p:cNvSpPr txBox="1"/>
          <p:nvPr/>
        </p:nvSpPr>
        <p:spPr>
          <a:xfrm>
            <a:off x="548640" y="448056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Ranked at equal risk</a:t>
            </a:r>
            <a:endParaRPr lang="en-US" sz="2600" dirty="0"/>
          </a:p>
        </p:txBody>
      </p:sp>
      <p:sp>
        <p:nvSpPr>
          <p:cNvPr id="10" name="Text 8"/>
          <p:cNvSpPr txBox="1"/>
          <p:nvPr/>
        </p:nvSpPr>
        <p:spPr>
          <a:xfrm>
            <a:off x="548640" y="4937760"/>
            <a:ext cx="4023360" cy="566928"/>
          </a:xfrm>
          <a:prstGeom prst="rect">
            <a:avLst/>
          </a:prstGeom>
          <a:noFill/>
          <a:ln/>
        </p:spPr>
        <p:txBody>
          <a:bodyPr wrap="square" lIns="0" tIns="0" rIns="0" bIns="0" rtlCol="0" anchor="t"/>
          <a:lstStyle/>
          <a:p>
            <a:pPr indent="0" marL="0">
              <a:buNone/>
            </a:pPr>
            <a:r>
              <a:rPr lang="en-US" sz="1300" dirty="0">
                <a:solidFill>
                  <a:srgbClr val="9AA4B2"/>
                </a:solidFill>
              </a:rPr>
              <a:t>The strategy showdown tunes all 15 to the same risk, then compares what each spends.</a:t>
            </a:r>
            <a:endParaRPr lang="en-US" sz="1300" dirty="0"/>
          </a:p>
        </p:txBody>
      </p:sp>
      <p:sp>
        <p:nvSpPr>
          <p:cNvPr id="11" name="Shape 9"/>
          <p:cNvSpPr/>
          <p:nvPr/>
        </p:nvSpPr>
        <p:spPr>
          <a:xfrm>
            <a:off x="4983480" y="0"/>
            <a:ext cx="7208215" cy="6858000"/>
          </a:xfrm>
          <a:prstGeom prst="rect">
            <a:avLst/>
          </a:prstGeom>
          <a:solidFill>
            <a:srgbClr val="1D2F40"/>
          </a:solidFill>
          <a:ln/>
        </p:spPr>
      </p:sp>
      <p:pic>
        <p:nvPicPr>
          <p:cNvPr id="12" name="Image 0" descr="/Users/erikalfriend/Projects/RetCalc/.claude/worktrees/marketing-package/marketing/deck/img/drawdown_1_historicalmonte-carl.png">    </p:cNvPr>
          <p:cNvPicPr>
            <a:picLocks noChangeAspect="1"/>
          </p:cNvPicPr>
          <p:nvPr/>
        </p:nvPicPr>
        <p:blipFill>
          <a:blip r:embed="rId1"/>
          <a:stretch>
            <a:fillRect/>
          </a:stretch>
        </p:blipFill>
        <p:spPr>
          <a:xfrm>
            <a:off x="5394960" y="411480"/>
            <a:ext cx="6385255" cy="2229172"/>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drawdown_safe_4_success-grid_0.17_0.81.png">    </p:cNvPr>
          <p:cNvPicPr>
            <a:picLocks noChangeAspect="1"/>
          </p:cNvPicPr>
          <p:nvPr/>
        </p:nvPicPr>
        <p:blipFill>
          <a:blip r:embed="rId2"/>
          <a:stretch>
            <a:fillRect/>
          </a:stretch>
        </p:blipFill>
        <p:spPr>
          <a:xfrm>
            <a:off x="6583680" y="2914972"/>
            <a:ext cx="5196535" cy="2881156"/>
          </a:xfrm>
          <a:prstGeom prst="rect">
            <a:avLst/>
          </a:prstGeom>
          <a:effectLst>
            <a:outerShdw sx="100000" sy="100000" kx="0" ky="0" algn="bl" rotWithShape="0" blurRad="254000" dist="101600" dir="5400000">
              <a:srgbClr val="000000">
                <a:alpha val="50000"/>
              </a:srgbClr>
            </a:outerShdw>
          </a:effectLst>
        </p:spPr>
      </p:pic>
      <p:sp>
        <p:nvSpPr>
          <p:cNvPr id="14" name="Text 10"/>
          <p:cNvSpPr txBox="1"/>
          <p:nvPr/>
        </p:nvSpPr>
        <p:spPr>
          <a:xfrm>
            <a:off x="5394960" y="3006412"/>
            <a:ext cx="1051560" cy="2377440"/>
          </a:xfrm>
          <a:prstGeom prst="rect">
            <a:avLst/>
          </a:prstGeom>
          <a:noFill/>
          <a:ln/>
        </p:spPr>
        <p:txBody>
          <a:bodyPr wrap="square" lIns="0" tIns="0" rIns="0" bIns="0" rtlCol="0" anchor="t"/>
          <a:lstStyle/>
          <a:p>
            <a:pPr indent="0" marL="0">
              <a:buNone/>
            </a:pPr>
            <a:r>
              <a:rPr lang="en-US" sz="1100" dirty="0">
                <a:solidFill>
                  <a:srgbClr val="9AA4B2"/>
                </a:solidFill>
              </a:rPr>
              <a:t>Success grid: withdrawal rate against stock share, each cell the share of history that lasted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EVERYDAY MONEY</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Income Tax</a:t>
            </a:r>
            <a:endParaRPr lang="en-US" sz="3000" dirty="0"/>
          </a:p>
        </p:txBody>
      </p:sp>
      <p:sp>
        <p:nvSpPr>
          <p:cNvPr id="4" name="Text 2"/>
          <p:cNvSpPr txBox="1"/>
          <p:nvPr/>
        </p:nvSpPr>
        <p:spPr>
          <a:xfrm>
            <a:off x="548640" y="1508760"/>
            <a:ext cx="4114800" cy="320040"/>
          </a:xfrm>
          <a:prstGeom prst="rect">
            <a:avLst/>
          </a:prstGeom>
          <a:noFill/>
          <a:ln/>
        </p:spPr>
        <p:txBody>
          <a:bodyPr wrap="square" lIns="0" tIns="0" rIns="0" bIns="0" rtlCol="0" anchor="t"/>
          <a:lstStyle/>
          <a:p>
            <a:pPr indent="0" marL="0">
              <a:buNone/>
            </a:pPr>
            <a:r>
              <a:rPr lang="en-US" sz="1800" b="1" dirty="0">
                <a:solidFill>
                  <a:srgbClr val="9670EC"/>
                </a:solidFill>
              </a:rPr>
              <a:t>How much tax will I owe?</a:t>
            </a:r>
            <a:endParaRPr lang="en-US" sz="1800" dirty="0"/>
          </a:p>
        </p:txBody>
      </p:sp>
      <p:sp>
        <p:nvSpPr>
          <p:cNvPr id="5" name="Text 3"/>
          <p:cNvSpPr txBox="1"/>
          <p:nvPr/>
        </p:nvSpPr>
        <p:spPr>
          <a:xfrm>
            <a:off x="548640" y="219456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50 states and DC</a:t>
            </a:r>
            <a:endParaRPr lang="en-US" sz="2600" dirty="0"/>
          </a:p>
        </p:txBody>
      </p:sp>
      <p:sp>
        <p:nvSpPr>
          <p:cNvPr id="6" name="Text 4"/>
          <p:cNvSpPr txBox="1"/>
          <p:nvPr/>
        </p:nvSpPr>
        <p:spPr>
          <a:xfrm>
            <a:off x="548640" y="2651760"/>
            <a:ext cx="4023360" cy="566928"/>
          </a:xfrm>
          <a:prstGeom prst="rect">
            <a:avLst/>
          </a:prstGeom>
          <a:noFill/>
          <a:ln/>
        </p:spPr>
        <p:txBody>
          <a:bodyPr wrap="square" lIns="0" tIns="0" rIns="0" bIns="0" rtlCol="0" anchor="t"/>
          <a:lstStyle/>
          <a:p>
            <a:pPr indent="0" marL="0">
              <a:buNone/>
            </a:pPr>
            <a:r>
              <a:rPr lang="en-US" sz="1300" dirty="0">
                <a:solidFill>
                  <a:srgbClr val="9AA4B2"/>
                </a:solidFill>
              </a:rPr>
              <a:t>2026 federal, state and FICA tax, with every state's retirement-income rules in plain English.</a:t>
            </a:r>
            <a:endParaRPr lang="en-US" sz="1300" dirty="0"/>
          </a:p>
        </p:txBody>
      </p:sp>
      <p:sp>
        <p:nvSpPr>
          <p:cNvPr id="7" name="Text 5"/>
          <p:cNvSpPr txBox="1"/>
          <p:nvPr/>
        </p:nvSpPr>
        <p:spPr>
          <a:xfrm>
            <a:off x="548640" y="333756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A retirement mode</a:t>
            </a:r>
            <a:endParaRPr lang="en-US" sz="2600" dirty="0"/>
          </a:p>
        </p:txBody>
      </p:sp>
      <p:sp>
        <p:nvSpPr>
          <p:cNvPr id="8" name="Text 6"/>
          <p:cNvSpPr txBox="1"/>
          <p:nvPr/>
        </p:nvSpPr>
        <p:spPr>
          <a:xfrm>
            <a:off x="548640" y="3794760"/>
            <a:ext cx="4023360" cy="566928"/>
          </a:xfrm>
          <a:prstGeom prst="rect">
            <a:avLst/>
          </a:prstGeom>
          <a:noFill/>
          <a:ln/>
        </p:spPr>
        <p:txBody>
          <a:bodyPr wrap="square" lIns="0" tIns="0" rIns="0" bIns="0" rtlCol="0" anchor="t"/>
          <a:lstStyle/>
          <a:p>
            <a:pPr indent="0" marL="0">
              <a:buNone/>
            </a:pPr>
            <a:r>
              <a:rPr lang="en-US" sz="1300" dirty="0">
                <a:solidFill>
                  <a:srgbClr val="9AA4B2"/>
                </a:solidFill>
              </a:rPr>
              <a:t>Withdrawals, gains and Social Security stacked the way the return really does it.</a:t>
            </a:r>
            <a:endParaRPr lang="en-US" sz="1300" dirty="0"/>
          </a:p>
        </p:txBody>
      </p:sp>
      <p:sp>
        <p:nvSpPr>
          <p:cNvPr id="9" name="Text 7"/>
          <p:cNvSpPr txBox="1"/>
          <p:nvPr/>
        </p:nvSpPr>
        <p:spPr>
          <a:xfrm>
            <a:off x="548640" y="448056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A true marginal rate</a:t>
            </a:r>
            <a:endParaRPr lang="en-US" sz="2600" dirty="0"/>
          </a:p>
        </p:txBody>
      </p:sp>
      <p:sp>
        <p:nvSpPr>
          <p:cNvPr id="10" name="Text 8"/>
          <p:cNvSpPr txBox="1"/>
          <p:nvPr/>
        </p:nvSpPr>
        <p:spPr>
          <a:xfrm>
            <a:off x="548640" y="4937760"/>
            <a:ext cx="4023360" cy="566928"/>
          </a:xfrm>
          <a:prstGeom prst="rect">
            <a:avLst/>
          </a:prstGeom>
          <a:noFill/>
          <a:ln/>
        </p:spPr>
        <p:txBody>
          <a:bodyPr wrap="square" lIns="0" tIns="0" rIns="0" bIns="0" rtlCol="0" anchor="t"/>
          <a:lstStyle/>
          <a:p>
            <a:pPr indent="0" marL="0">
              <a:buNone/>
            </a:pPr>
            <a:r>
              <a:rPr lang="en-US" sz="1300" dirty="0">
                <a:solidFill>
                  <a:srgbClr val="9AA4B2"/>
                </a:solidFill>
              </a:rPr>
              <a:t>Found by rerunning the whole return with $1,000 more.</a:t>
            </a:r>
            <a:endParaRPr lang="en-US" sz="1300" dirty="0"/>
          </a:p>
        </p:txBody>
      </p:sp>
      <p:sp>
        <p:nvSpPr>
          <p:cNvPr id="11" name="Shape 9"/>
          <p:cNvSpPr/>
          <p:nvPr/>
        </p:nvSpPr>
        <p:spPr>
          <a:xfrm>
            <a:off x="4983480" y="0"/>
            <a:ext cx="7208215" cy="6858000"/>
          </a:xfrm>
          <a:prstGeom prst="rect">
            <a:avLst/>
          </a:prstGeom>
          <a:solidFill>
            <a:srgbClr val="292441"/>
          </a:solidFill>
          <a:ln/>
        </p:spPr>
      </p:sp>
      <p:pic>
        <p:nvPicPr>
          <p:cNvPr id="12" name="Image 0" descr="/Users/erikalfriend/Projects/RetCalc/.claude/worktrees/marketing-package/marketing/deck/img/incometax_1_after-taxtake-homere_0.15_1.png">    </p:cNvPr>
          <p:cNvPicPr>
            <a:picLocks noChangeAspect="1"/>
          </p:cNvPicPr>
          <p:nvPr/>
        </p:nvPicPr>
        <p:blipFill>
          <a:blip r:embed="rId1"/>
          <a:stretch>
            <a:fillRect/>
          </a:stretch>
        </p:blipFill>
        <p:spPr>
          <a:xfrm>
            <a:off x="5740489" y="411480"/>
            <a:ext cx="5694197" cy="2756126"/>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incometax_ret_1_after-taxtake-homere_0.15_1.png">    </p:cNvPr>
          <p:cNvPicPr>
            <a:picLocks noChangeAspect="1"/>
          </p:cNvPicPr>
          <p:nvPr/>
        </p:nvPicPr>
        <p:blipFill>
          <a:blip r:embed="rId2"/>
          <a:stretch>
            <a:fillRect/>
          </a:stretch>
        </p:blipFill>
        <p:spPr>
          <a:xfrm>
            <a:off x="5740489" y="3412237"/>
            <a:ext cx="5694197" cy="2668523"/>
          </a:xfrm>
          <a:prstGeom prst="rect">
            <a:avLst/>
          </a:prstGeom>
          <a:effectLst>
            <a:outerShdw sx="100000" sy="100000" kx="0" ky="0" algn="bl" rotWithShape="0" blurRad="254000" dist="101600" dir="5400000">
              <a:srgbClr val="000000">
                <a:alpha val="50000"/>
              </a:srgbClr>
            </a:outerShdw>
          </a:effectLst>
        </p:spPr>
      </p:pic>
      <p:sp>
        <p:nvSpPr>
          <p:cNvPr id="14" name="Text 10"/>
          <p:cNvSpPr txBox="1"/>
          <p:nvPr/>
        </p:nvSpPr>
        <p:spPr>
          <a:xfrm>
            <a:off x="5394960" y="6263640"/>
            <a:ext cx="6385255" cy="274320"/>
          </a:xfrm>
          <a:prstGeom prst="rect">
            <a:avLst/>
          </a:prstGeom>
          <a:noFill/>
          <a:ln/>
        </p:spPr>
        <p:txBody>
          <a:bodyPr wrap="square" lIns="0" tIns="0" rIns="0" bIns="0" rtlCol="0" anchor="t"/>
          <a:lstStyle/>
          <a:p>
            <a:pPr algn="ctr" indent="0" marL="0">
              <a:buNone/>
            </a:pPr>
            <a:r>
              <a:rPr lang="en-US" sz="1100" dirty="0">
                <a:solidFill>
                  <a:srgbClr val="9AA4B2"/>
                </a:solidFill>
              </a:rPr>
              <a:t>Top: a $100,000 salary, single, Illinois.   Bottom: $100,000 in retirement from four sources.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EVERYDAY MONEY</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Budget and Paycheck</a:t>
            </a:r>
            <a:endParaRPr lang="en-US" sz="3000" dirty="0"/>
          </a:p>
        </p:txBody>
      </p:sp>
      <p:sp>
        <p:nvSpPr>
          <p:cNvPr id="4" name="Text 2"/>
          <p:cNvSpPr txBox="1"/>
          <p:nvPr/>
        </p:nvSpPr>
        <p:spPr>
          <a:xfrm>
            <a:off x="548640" y="1508760"/>
            <a:ext cx="4114800" cy="594360"/>
          </a:xfrm>
          <a:prstGeom prst="rect">
            <a:avLst/>
          </a:prstGeom>
          <a:noFill/>
          <a:ln/>
        </p:spPr>
        <p:txBody>
          <a:bodyPr wrap="square" lIns="0" tIns="0" rIns="0" bIns="0" rtlCol="0" anchor="t"/>
          <a:lstStyle/>
          <a:p>
            <a:pPr indent="0" marL="0">
              <a:buNone/>
            </a:pPr>
            <a:r>
              <a:rPr lang="en-US" sz="1800" b="1" dirty="0">
                <a:solidFill>
                  <a:srgbClr val="9670EC"/>
                </a:solidFill>
              </a:rPr>
              <a:t>Where does my money go, and where should the rest go?</a:t>
            </a:r>
            <a:endParaRPr lang="en-US" sz="1800" dirty="0"/>
          </a:p>
        </p:txBody>
      </p:sp>
      <p:sp>
        <p:nvSpPr>
          <p:cNvPr id="5" name="Text 3"/>
          <p:cNvSpPr txBox="1"/>
          <p:nvPr/>
        </p:nvSpPr>
        <p:spPr>
          <a:xfrm>
            <a:off x="548640" y="246888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Two tabs</a:t>
            </a:r>
            <a:endParaRPr lang="en-US" sz="2600" dirty="0"/>
          </a:p>
        </p:txBody>
      </p:sp>
      <p:sp>
        <p:nvSpPr>
          <p:cNvPr id="6" name="Text 4"/>
          <p:cNvSpPr txBox="1"/>
          <p:nvPr/>
        </p:nvSpPr>
        <p:spPr>
          <a:xfrm>
            <a:off x="548640" y="2926080"/>
            <a:ext cx="4023360" cy="566928"/>
          </a:xfrm>
          <a:prstGeom prst="rect">
            <a:avLst/>
          </a:prstGeom>
          <a:noFill/>
          <a:ln/>
        </p:spPr>
        <p:txBody>
          <a:bodyPr wrap="square" lIns="0" tIns="0" rIns="0" bIns="0" rtlCol="0" anchor="t"/>
          <a:lstStyle/>
          <a:p>
            <a:pPr indent="0" marL="0">
              <a:buNone/>
            </a:pPr>
            <a:r>
              <a:rPr lang="en-US" sz="1300" dirty="0">
                <a:solidFill>
                  <a:srgbClr val="9AA4B2"/>
                </a:solidFill>
              </a:rPr>
              <a:t>A budget of 18 lines in six groups, then a paycheck that pays it, line by line.</a:t>
            </a:r>
            <a:endParaRPr lang="en-US" sz="1300" dirty="0"/>
          </a:p>
        </p:txBody>
      </p:sp>
      <p:sp>
        <p:nvSpPr>
          <p:cNvPr id="7" name="Text 5"/>
          <p:cNvSpPr txBox="1"/>
          <p:nvPr/>
        </p:nvSpPr>
        <p:spPr>
          <a:xfrm>
            <a:off x="548640" y="361188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Taxes rerun live</a:t>
            </a:r>
            <a:endParaRPr lang="en-US" sz="2600" dirty="0"/>
          </a:p>
        </p:txBody>
      </p:sp>
      <p:sp>
        <p:nvSpPr>
          <p:cNvPr id="8" name="Text 6"/>
          <p:cNvSpPr txBox="1"/>
          <p:nvPr/>
        </p:nvSpPr>
        <p:spPr>
          <a:xfrm>
            <a:off x="548640" y="4069080"/>
            <a:ext cx="4023360" cy="566928"/>
          </a:xfrm>
          <a:prstGeom prst="rect">
            <a:avLst/>
          </a:prstGeom>
          <a:noFill/>
          <a:ln/>
        </p:spPr>
        <p:txBody>
          <a:bodyPr wrap="square" lIns="0" tIns="0" rIns="0" bIns="0" rtlCol="0" anchor="t"/>
          <a:lstStyle/>
          <a:p>
            <a:pPr indent="0" marL="0">
              <a:buNone/>
            </a:pPr>
            <a:r>
              <a:rPr lang="en-US" sz="1300" dirty="0">
                <a:solidFill>
                  <a:srgbClr val="9AA4B2"/>
                </a:solidFill>
              </a:rPr>
              <a:t>Sliders move money into the 401(k) match, HSA, IRA and brokerage, capped at 2026 limits.</a:t>
            </a:r>
            <a:endParaRPr lang="en-US" sz="1300" dirty="0"/>
          </a:p>
        </p:txBody>
      </p:sp>
      <p:sp>
        <p:nvSpPr>
          <p:cNvPr id="9" name="Text 7"/>
          <p:cNvSpPr txBox="1"/>
          <p:nvPr/>
        </p:nvSpPr>
        <p:spPr>
          <a:xfrm>
            <a:off x="548640" y="4754880"/>
            <a:ext cx="4023360" cy="457200"/>
          </a:xfrm>
          <a:prstGeom prst="rect">
            <a:avLst/>
          </a:prstGeom>
          <a:noFill/>
          <a:ln/>
        </p:spPr>
        <p:txBody>
          <a:bodyPr wrap="square" lIns="0" tIns="0" rIns="0" bIns="0" rtlCol="0" anchor="t"/>
          <a:lstStyle/>
          <a:p>
            <a:pPr indent="0" marL="0">
              <a:buNone/>
            </a:pPr>
            <a:r>
              <a:rPr lang="en-US" sz="2600" b="1" dirty="0">
                <a:solidFill>
                  <a:srgbClr val="E8EBF0"/>
                </a:solidFill>
              </a:rPr>
              <a:t>Two incomes</a:t>
            </a:r>
            <a:endParaRPr lang="en-US" sz="2600" dirty="0"/>
          </a:p>
        </p:txBody>
      </p:sp>
      <p:sp>
        <p:nvSpPr>
          <p:cNvPr id="10" name="Text 8"/>
          <p:cNvSpPr txBox="1"/>
          <p:nvPr/>
        </p:nvSpPr>
        <p:spPr>
          <a:xfrm>
            <a:off x="548640" y="5212080"/>
            <a:ext cx="4023360" cy="566928"/>
          </a:xfrm>
          <a:prstGeom prst="rect">
            <a:avLst/>
          </a:prstGeom>
          <a:noFill/>
          <a:ln/>
        </p:spPr>
        <p:txBody>
          <a:bodyPr wrap="square" lIns="0" tIns="0" rIns="0" bIns="0" rtlCol="0" anchor="t"/>
          <a:lstStyle/>
          <a:p>
            <a:pPr indent="0" marL="0">
              <a:buNone/>
            </a:pPr>
            <a:r>
              <a:rPr lang="en-US" sz="1300" dirty="0">
                <a:solidFill>
                  <a:srgbClr val="9AA4B2"/>
                </a:solidFill>
              </a:rPr>
              <a:t>Each spouse with their own pay schedule, match and HSA limit.</a:t>
            </a:r>
            <a:endParaRPr lang="en-US" sz="1300" dirty="0"/>
          </a:p>
        </p:txBody>
      </p:sp>
      <p:sp>
        <p:nvSpPr>
          <p:cNvPr id="11" name="Shape 9"/>
          <p:cNvSpPr/>
          <p:nvPr/>
        </p:nvSpPr>
        <p:spPr>
          <a:xfrm>
            <a:off x="4983480" y="0"/>
            <a:ext cx="7208215" cy="6858000"/>
          </a:xfrm>
          <a:prstGeom prst="rect">
            <a:avLst/>
          </a:prstGeom>
          <a:solidFill>
            <a:srgbClr val="292441"/>
          </a:solidFill>
          <a:ln/>
        </p:spPr>
      </p:sp>
      <p:pic>
        <p:nvPicPr>
          <p:cNvPr id="12" name="Image 0" descr="/Users/erikalfriend/Projects/RetCalc/.claude/worktrees/marketing-package/marketing/deck/img/budget_1_where-it-goes_0_0.72.png">    </p:cNvPr>
          <p:cNvPicPr>
            <a:picLocks noChangeAspect="1"/>
          </p:cNvPicPr>
          <p:nvPr/>
        </p:nvPicPr>
        <p:blipFill>
          <a:blip r:embed="rId1"/>
          <a:stretch>
            <a:fillRect/>
          </a:stretch>
        </p:blipFill>
        <p:spPr>
          <a:xfrm>
            <a:off x="5394960" y="658304"/>
            <a:ext cx="1541652" cy="2157567"/>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budget_pc_1_saved-and-invested-e.png">    </p:cNvPr>
          <p:cNvPicPr>
            <a:picLocks noChangeAspect="1"/>
          </p:cNvPicPr>
          <p:nvPr/>
        </p:nvPicPr>
        <p:blipFill>
          <a:blip r:embed="rId2"/>
          <a:stretch>
            <a:fillRect/>
          </a:stretch>
        </p:blipFill>
        <p:spPr>
          <a:xfrm>
            <a:off x="7210932" y="658304"/>
            <a:ext cx="4569283" cy="2157567"/>
          </a:xfrm>
          <a:prstGeom prst="rect">
            <a:avLst/>
          </a:prstGeom>
          <a:effectLst>
            <a:outerShdw sx="100000" sy="100000" kx="0" ky="0" algn="bl" rotWithShape="0" blurRad="254000" dist="101600" dir="5400000">
              <a:srgbClr val="000000">
                <a:alpha val="50000"/>
              </a:srgbClr>
            </a:outerShdw>
          </a:effectLst>
        </p:spPr>
      </p:pic>
      <p:pic>
        <p:nvPicPr>
          <p:cNvPr id="14" name="Image 2" descr="/Users/erikalfriend/Projects/RetCalc/.claude/worktrees/marketing-package/marketing/deck/img/budget_pc_2_where-the-rest-goes_0_0.62.png">    </p:cNvPr>
          <p:cNvPicPr>
            <a:picLocks noChangeAspect="1"/>
          </p:cNvPicPr>
          <p:nvPr/>
        </p:nvPicPr>
        <p:blipFill>
          <a:blip r:embed="rId3"/>
          <a:stretch>
            <a:fillRect/>
          </a:stretch>
        </p:blipFill>
        <p:spPr>
          <a:xfrm>
            <a:off x="5394960" y="3090190"/>
            <a:ext cx="6385255" cy="3109506"/>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GUIDED WALKTHROUGH</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Retirement Readiness Guide</a:t>
            </a:r>
            <a:endParaRPr lang="en-US" sz="3000" dirty="0"/>
          </a:p>
        </p:txBody>
      </p:sp>
      <p:sp>
        <p:nvSpPr>
          <p:cNvPr id="4" name="Text 2"/>
          <p:cNvSpPr txBox="1"/>
          <p:nvPr/>
        </p:nvSpPr>
        <p:spPr>
          <a:xfrm>
            <a:off x="548640" y="1938528"/>
            <a:ext cx="4114800" cy="594360"/>
          </a:xfrm>
          <a:prstGeom prst="rect">
            <a:avLst/>
          </a:prstGeom>
          <a:noFill/>
          <a:ln/>
        </p:spPr>
        <p:txBody>
          <a:bodyPr wrap="square" lIns="0" tIns="0" rIns="0" bIns="0" rtlCol="0" anchor="t"/>
          <a:lstStyle/>
          <a:p>
            <a:pPr indent="0" marL="0">
              <a:buNone/>
            </a:pPr>
            <a:r>
              <a:rPr lang="en-US" sz="1800" b="1" dirty="0">
                <a:solidFill>
                  <a:srgbClr val="E0749B"/>
                </a:solidFill>
              </a:rPr>
              <a:t>How ready am I, and what should I do next?</a:t>
            </a:r>
            <a:endParaRPr lang="en-US" sz="1800" dirty="0"/>
          </a:p>
        </p:txBody>
      </p:sp>
      <p:sp>
        <p:nvSpPr>
          <p:cNvPr id="5" name="Text 3"/>
          <p:cNvSpPr txBox="1"/>
          <p:nvPr/>
        </p:nvSpPr>
        <p:spPr>
          <a:xfrm>
            <a:off x="548640" y="2898648"/>
            <a:ext cx="4023360" cy="457200"/>
          </a:xfrm>
          <a:prstGeom prst="rect">
            <a:avLst/>
          </a:prstGeom>
          <a:noFill/>
          <a:ln/>
        </p:spPr>
        <p:txBody>
          <a:bodyPr wrap="square" lIns="0" tIns="0" rIns="0" bIns="0" rtlCol="0" anchor="t"/>
          <a:lstStyle/>
          <a:p>
            <a:pPr indent="0" marL="0">
              <a:buNone/>
            </a:pPr>
            <a:r>
              <a:rPr lang="en-US" sz="2600" b="1" dirty="0">
                <a:solidFill>
                  <a:srgbClr val="E8EBF0"/>
                </a:solidFill>
              </a:rPr>
              <a:t>A score out of 100</a:t>
            </a:r>
            <a:endParaRPr lang="en-US" sz="2600" dirty="0"/>
          </a:p>
        </p:txBody>
      </p:sp>
      <p:sp>
        <p:nvSpPr>
          <p:cNvPr id="6" name="Text 4"/>
          <p:cNvSpPr txBox="1"/>
          <p:nvPr/>
        </p:nvSpPr>
        <p:spPr>
          <a:xfrm>
            <a:off x="548640" y="3355848"/>
            <a:ext cx="4023360" cy="566928"/>
          </a:xfrm>
          <a:prstGeom prst="rect">
            <a:avLst/>
          </a:prstGeom>
          <a:noFill/>
          <a:ln/>
        </p:spPr>
        <p:txBody>
          <a:bodyPr wrap="square" lIns="0" tIns="0" rIns="0" bIns="0" rtlCol="0" anchor="t"/>
          <a:lstStyle/>
          <a:p>
            <a:pPr indent="0" marL="0">
              <a:buNone/>
            </a:pPr>
            <a:r>
              <a:rPr lang="en-US" sz="1300" dirty="0">
                <a:solidFill>
                  <a:srgbClr val="9AA4B2"/>
                </a:solidFill>
              </a:rPr>
              <a:t>Outlook, savings rate, emergency fund, debt and cash flow, weighted.</a:t>
            </a:r>
            <a:endParaRPr lang="en-US" sz="1300" dirty="0"/>
          </a:p>
        </p:txBody>
      </p:sp>
      <p:sp>
        <p:nvSpPr>
          <p:cNvPr id="7" name="Text 5"/>
          <p:cNvSpPr txBox="1"/>
          <p:nvPr/>
        </p:nvSpPr>
        <p:spPr>
          <a:xfrm>
            <a:off x="548640" y="3989832"/>
            <a:ext cx="4023360" cy="457200"/>
          </a:xfrm>
          <a:prstGeom prst="rect">
            <a:avLst/>
          </a:prstGeom>
          <a:noFill/>
          <a:ln/>
        </p:spPr>
        <p:txBody>
          <a:bodyPr wrap="square" lIns="0" tIns="0" rIns="0" bIns="0" rtlCol="0" anchor="t"/>
          <a:lstStyle/>
          <a:p>
            <a:pPr indent="0" marL="0">
              <a:buNone/>
            </a:pPr>
            <a:r>
              <a:rPr lang="en-US" sz="2600" b="1" dirty="0">
                <a:solidFill>
                  <a:srgbClr val="E8EBF0"/>
                </a:solidFill>
              </a:rPr>
              <a:t>Ten minutes or an hour</a:t>
            </a:r>
            <a:endParaRPr lang="en-US" sz="2600" dirty="0"/>
          </a:p>
        </p:txBody>
      </p:sp>
      <p:sp>
        <p:nvSpPr>
          <p:cNvPr id="8" name="Text 6"/>
          <p:cNvSpPr txBox="1"/>
          <p:nvPr/>
        </p:nvSpPr>
        <p:spPr>
          <a:xfrm>
            <a:off x="548640" y="4447032"/>
            <a:ext cx="4023360" cy="566928"/>
          </a:xfrm>
          <a:prstGeom prst="rect">
            <a:avLst/>
          </a:prstGeom>
          <a:noFill/>
          <a:ln/>
        </p:spPr>
        <p:txBody>
          <a:bodyPr wrap="square" lIns="0" tIns="0" rIns="0" bIns="0" rtlCol="0" anchor="t"/>
          <a:lstStyle/>
          <a:p>
            <a:pPr indent="0" marL="0">
              <a:buNone/>
            </a:pPr>
            <a:r>
              <a:rPr lang="en-US" sz="1300" dirty="0">
                <a:solidFill>
                  <a:srgbClr val="9AA4B2"/>
                </a:solidFill>
              </a:rPr>
              <a:t>A twelve-card quick check, or the full walkthrough with trips into the tools.</a:t>
            </a:r>
            <a:endParaRPr lang="en-US" sz="1300" dirty="0"/>
          </a:p>
        </p:txBody>
      </p:sp>
      <p:sp>
        <p:nvSpPr>
          <p:cNvPr id="9" name="Text 7"/>
          <p:cNvSpPr txBox="1"/>
          <p:nvPr/>
        </p:nvSpPr>
        <p:spPr>
          <a:xfrm>
            <a:off x="548640" y="5081016"/>
            <a:ext cx="4023360" cy="457200"/>
          </a:xfrm>
          <a:prstGeom prst="rect">
            <a:avLst/>
          </a:prstGeom>
          <a:noFill/>
          <a:ln/>
        </p:spPr>
        <p:txBody>
          <a:bodyPr wrap="square" lIns="0" tIns="0" rIns="0" bIns="0" rtlCol="0" anchor="t"/>
          <a:lstStyle/>
          <a:p>
            <a:pPr indent="0" marL="0">
              <a:buNone/>
            </a:pPr>
            <a:r>
              <a:rPr lang="en-US" sz="2600" b="1" dirty="0">
                <a:solidFill>
                  <a:srgbClr val="E8EBF0"/>
                </a:solidFill>
              </a:rPr>
              <a:t>A plan on paper</a:t>
            </a:r>
            <a:endParaRPr lang="en-US" sz="2600" dirty="0"/>
          </a:p>
        </p:txBody>
      </p:sp>
      <p:sp>
        <p:nvSpPr>
          <p:cNvPr id="10" name="Text 8"/>
          <p:cNvSpPr txBox="1"/>
          <p:nvPr/>
        </p:nvSpPr>
        <p:spPr>
          <a:xfrm>
            <a:off x="548640" y="5538216"/>
            <a:ext cx="4023360" cy="566928"/>
          </a:xfrm>
          <a:prstGeom prst="rect">
            <a:avLst/>
          </a:prstGeom>
          <a:noFill/>
          <a:ln/>
        </p:spPr>
        <p:txBody>
          <a:bodyPr wrap="square" lIns="0" tIns="0" rIns="0" bIns="0" rtlCol="0" anchor="t"/>
          <a:lstStyle/>
          <a:p>
            <a:pPr indent="0" marL="0">
              <a:buNone/>
            </a:pPr>
            <a:r>
              <a:rPr lang="en-US" sz="1300" dirty="0">
                <a:solidFill>
                  <a:srgbClr val="9AA4B2"/>
                </a:solidFill>
              </a:rPr>
              <a:t>Ends in a full-color report of about a dozen pages, built in the browser.</a:t>
            </a:r>
            <a:endParaRPr lang="en-US" sz="1300" dirty="0"/>
          </a:p>
        </p:txBody>
      </p:sp>
      <p:sp>
        <p:nvSpPr>
          <p:cNvPr id="11" name="Shape 9"/>
          <p:cNvSpPr/>
          <p:nvPr/>
        </p:nvSpPr>
        <p:spPr>
          <a:xfrm>
            <a:off x="4983480" y="0"/>
            <a:ext cx="7208215" cy="6858000"/>
          </a:xfrm>
          <a:prstGeom prst="rect">
            <a:avLst/>
          </a:prstGeom>
          <a:solidFill>
            <a:srgbClr val="382531"/>
          </a:solidFill>
          <a:ln/>
        </p:spPr>
      </p:sp>
      <p:pic>
        <p:nvPicPr>
          <p:cNvPr id="12" name="Image 0" descr="/Users/erikalfriend/Projects/RetCalc/.claude/worktrees/marketing-package/marketing/deck/img/guide_number_view_0.08_0.92.png">    </p:cNvPr>
          <p:cNvPicPr>
            <a:picLocks noChangeAspect="1"/>
          </p:cNvPicPr>
          <p:nvPr/>
        </p:nvPicPr>
        <p:blipFill>
          <a:blip r:embed="rId1"/>
          <a:stretch>
            <a:fillRect/>
          </a:stretch>
        </p:blipFill>
        <p:spPr>
          <a:xfrm>
            <a:off x="5394960" y="411480"/>
            <a:ext cx="6385255" cy="3352259"/>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report_p00.png">    </p:cNvPr>
          <p:cNvPicPr>
            <a:picLocks noChangeAspect="1"/>
          </p:cNvPicPr>
          <p:nvPr/>
        </p:nvPicPr>
        <p:blipFill>
          <a:blip r:embed="rId2"/>
          <a:stretch>
            <a:fillRect/>
          </a:stretch>
        </p:blipFill>
        <p:spPr>
          <a:xfrm rot="-360000">
            <a:off x="5715000" y="4069080"/>
            <a:ext cx="1731125" cy="2240280"/>
          </a:xfrm>
          <a:prstGeom prst="rect">
            <a:avLst/>
          </a:prstGeom>
          <a:effectLst>
            <a:outerShdw sx="100000" sy="100000" kx="0" ky="0" algn="bl" rotWithShape="0" blurRad="254000" dist="101600" dir="5400000">
              <a:srgbClr val="000000">
                <a:alpha val="50000"/>
              </a:srgbClr>
            </a:outerShdw>
          </a:effectLst>
        </p:spPr>
      </p:pic>
      <p:pic>
        <p:nvPicPr>
          <p:cNvPr id="14" name="Image 2" descr="/Users/erikalfriend/Projects/RetCalc/.claude/worktrees/marketing-package/marketing/deck/img/report_p02.png">    </p:cNvPr>
          <p:cNvPicPr>
            <a:picLocks noChangeAspect="1"/>
          </p:cNvPicPr>
          <p:nvPr/>
        </p:nvPicPr>
        <p:blipFill>
          <a:blip r:embed="rId3"/>
          <a:stretch>
            <a:fillRect/>
          </a:stretch>
        </p:blipFill>
        <p:spPr>
          <a:xfrm rot="-180000">
            <a:off x="6903720" y="4069080"/>
            <a:ext cx="1731125" cy="2240280"/>
          </a:xfrm>
          <a:prstGeom prst="rect">
            <a:avLst/>
          </a:prstGeom>
          <a:effectLst>
            <a:outerShdw sx="100000" sy="100000" kx="0" ky="0" algn="bl" rotWithShape="0" blurRad="254000" dist="101600" dir="5400000">
              <a:srgbClr val="000000">
                <a:alpha val="50000"/>
              </a:srgbClr>
            </a:outerShdw>
          </a:effectLst>
        </p:spPr>
      </p:pic>
      <p:pic>
        <p:nvPicPr>
          <p:cNvPr id="15" name="Image 3" descr="/Users/erikalfriend/Projects/RetCalc/.claude/worktrees/marketing-package/marketing/deck/img/report_p04.png">    </p:cNvPr>
          <p:cNvPicPr>
            <a:picLocks noChangeAspect="1"/>
          </p:cNvPicPr>
          <p:nvPr/>
        </p:nvPicPr>
        <p:blipFill>
          <a:blip r:embed="rId4"/>
          <a:stretch>
            <a:fillRect/>
          </a:stretch>
        </p:blipFill>
        <p:spPr>
          <a:xfrm>
            <a:off x="8092440" y="4069080"/>
            <a:ext cx="1731125" cy="2240280"/>
          </a:xfrm>
          <a:prstGeom prst="rect">
            <a:avLst/>
          </a:prstGeom>
          <a:effectLst>
            <a:outerShdw sx="100000" sy="100000" kx="0" ky="0" algn="bl" rotWithShape="0" blurRad="254000" dist="101600" dir="5400000">
              <a:srgbClr val="000000">
                <a:alpha val="50000"/>
              </a:srgbClr>
            </a:outerShdw>
          </a:effectLst>
        </p:spPr>
      </p:pic>
      <p:pic>
        <p:nvPicPr>
          <p:cNvPr id="16" name="Image 4" descr="/Users/erikalfriend/Projects/RetCalc/.claude/worktrees/marketing-package/marketing/deck/img/report_p05.png">    </p:cNvPr>
          <p:cNvPicPr>
            <a:picLocks noChangeAspect="1"/>
          </p:cNvPicPr>
          <p:nvPr/>
        </p:nvPicPr>
        <p:blipFill>
          <a:blip r:embed="rId5"/>
          <a:stretch>
            <a:fillRect/>
          </a:stretch>
        </p:blipFill>
        <p:spPr>
          <a:xfrm rot="180000">
            <a:off x="9281160" y="4069080"/>
            <a:ext cx="1731125" cy="2240280"/>
          </a:xfrm>
          <a:prstGeom prst="rect">
            <a:avLst/>
          </a:prstGeom>
          <a:effectLst>
            <a:outerShdw sx="100000" sy="100000" kx="0" ky="0" algn="bl" rotWithShape="0" blurRad="254000" dist="101600" dir="5400000">
              <a:srgbClr val="000000">
                <a:alpha val="50000"/>
              </a:srgbClr>
            </a:outerShdw>
          </a:effectLst>
        </p:spPr>
      </p:pic>
      <p:pic>
        <p:nvPicPr>
          <p:cNvPr id="17" name="Image 5" descr="/Users/erikalfriend/Projects/RetCalc/.claude/worktrees/marketing-package/marketing/deck/img/report_p08.png">    </p:cNvPr>
          <p:cNvPicPr>
            <a:picLocks noChangeAspect="1"/>
          </p:cNvPicPr>
          <p:nvPr/>
        </p:nvPicPr>
        <p:blipFill>
          <a:blip r:embed="rId6"/>
          <a:stretch>
            <a:fillRect/>
          </a:stretch>
        </p:blipFill>
        <p:spPr>
          <a:xfrm rot="360000">
            <a:off x="10469880" y="4069080"/>
            <a:ext cx="1731125" cy="2240280"/>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GUIDED WALKTHROUGH</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Paycheck to Retirement</a:t>
            </a:r>
            <a:endParaRPr lang="en-US" sz="3000" dirty="0"/>
          </a:p>
        </p:txBody>
      </p:sp>
      <p:sp>
        <p:nvSpPr>
          <p:cNvPr id="4" name="Text 2"/>
          <p:cNvSpPr txBox="1"/>
          <p:nvPr/>
        </p:nvSpPr>
        <p:spPr>
          <a:xfrm>
            <a:off x="548640" y="1938528"/>
            <a:ext cx="4114800" cy="320040"/>
          </a:xfrm>
          <a:prstGeom prst="rect">
            <a:avLst/>
          </a:prstGeom>
          <a:noFill/>
          <a:ln/>
        </p:spPr>
        <p:txBody>
          <a:bodyPr wrap="square" lIns="0" tIns="0" rIns="0" bIns="0" rtlCol="0" anchor="t"/>
          <a:lstStyle/>
          <a:p>
            <a:pPr indent="0" marL="0">
              <a:buNone/>
            </a:pPr>
            <a:r>
              <a:rPr lang="en-US" sz="1800" b="1" dirty="0">
                <a:solidFill>
                  <a:srgbClr val="E0749B"/>
                </a:solidFill>
              </a:rPr>
              <a:t>Where should each paycheck go?</a:t>
            </a:r>
            <a:endParaRPr lang="en-US" sz="1800" dirty="0"/>
          </a:p>
        </p:txBody>
      </p:sp>
      <p:sp>
        <p:nvSpPr>
          <p:cNvPr id="5" name="Text 3"/>
          <p:cNvSpPr txBox="1"/>
          <p:nvPr/>
        </p:nvSpPr>
        <p:spPr>
          <a:xfrm>
            <a:off x="548640" y="2624328"/>
            <a:ext cx="4023360" cy="457200"/>
          </a:xfrm>
          <a:prstGeom prst="rect">
            <a:avLst/>
          </a:prstGeom>
          <a:noFill/>
          <a:ln/>
        </p:spPr>
        <p:txBody>
          <a:bodyPr wrap="square" lIns="0" tIns="0" rIns="0" bIns="0" rtlCol="0" anchor="t"/>
          <a:lstStyle/>
          <a:p>
            <a:pPr indent="0" marL="0">
              <a:buNone/>
            </a:pPr>
            <a:r>
              <a:rPr lang="en-US" sz="2600" b="1" dirty="0">
                <a:solidFill>
                  <a:srgbClr val="E8EBF0"/>
                </a:solidFill>
              </a:rPr>
              <a:t>Five steps</a:t>
            </a:r>
            <a:endParaRPr lang="en-US" sz="2600" dirty="0"/>
          </a:p>
        </p:txBody>
      </p:sp>
      <p:sp>
        <p:nvSpPr>
          <p:cNvPr id="6" name="Text 4"/>
          <p:cNvSpPr txBox="1"/>
          <p:nvPr/>
        </p:nvSpPr>
        <p:spPr>
          <a:xfrm>
            <a:off x="548640" y="3081528"/>
            <a:ext cx="4023360" cy="566928"/>
          </a:xfrm>
          <a:prstGeom prst="rect">
            <a:avLst/>
          </a:prstGeom>
          <a:noFill/>
          <a:ln/>
        </p:spPr>
        <p:txBody>
          <a:bodyPr wrap="square" lIns="0" tIns="0" rIns="0" bIns="0" rtlCol="0" anchor="t"/>
          <a:lstStyle/>
          <a:p>
            <a:pPr indent="0" marL="0">
              <a:buNone/>
            </a:pPr>
            <a:r>
              <a:rPr lang="en-US" sz="1300" dirty="0">
                <a:solidFill>
                  <a:srgbClr val="9AA4B2"/>
                </a:solidFill>
              </a:rPr>
              <a:t>Budget, paycheck, your plan, life stages, summary. About fifteen minutes.</a:t>
            </a:r>
            <a:endParaRPr lang="en-US" sz="1300" dirty="0"/>
          </a:p>
        </p:txBody>
      </p:sp>
      <p:sp>
        <p:nvSpPr>
          <p:cNvPr id="7" name="Text 5"/>
          <p:cNvSpPr txBox="1"/>
          <p:nvPr/>
        </p:nvSpPr>
        <p:spPr>
          <a:xfrm>
            <a:off x="548640" y="3767328"/>
            <a:ext cx="4023360" cy="457200"/>
          </a:xfrm>
          <a:prstGeom prst="rect">
            <a:avLst/>
          </a:prstGeom>
          <a:noFill/>
          <a:ln/>
        </p:spPr>
        <p:txBody>
          <a:bodyPr wrap="square" lIns="0" tIns="0" rIns="0" bIns="0" rtlCol="0" anchor="t"/>
          <a:lstStyle/>
          <a:p>
            <a:pPr indent="0" marL="0">
              <a:buNone/>
            </a:pPr>
            <a:r>
              <a:rPr lang="en-US" sz="2600" b="1" dirty="0">
                <a:solidFill>
                  <a:srgbClr val="E8EBF0"/>
                </a:solidFill>
              </a:rPr>
              <a:t>The real tools inside</a:t>
            </a:r>
            <a:endParaRPr lang="en-US" sz="2600" dirty="0"/>
          </a:p>
        </p:txBody>
      </p:sp>
      <p:sp>
        <p:nvSpPr>
          <p:cNvPr id="8" name="Text 6"/>
          <p:cNvSpPr txBox="1"/>
          <p:nvPr/>
        </p:nvSpPr>
        <p:spPr>
          <a:xfrm>
            <a:off x="548640" y="4224528"/>
            <a:ext cx="4023360" cy="566928"/>
          </a:xfrm>
          <a:prstGeom prst="rect">
            <a:avLst/>
          </a:prstGeom>
          <a:noFill/>
          <a:ln/>
        </p:spPr>
        <p:txBody>
          <a:bodyPr wrap="square" lIns="0" tIns="0" rIns="0" bIns="0" rtlCol="0" anchor="t"/>
          <a:lstStyle/>
          <a:p>
            <a:pPr indent="0" marL="0">
              <a:buNone/>
            </a:pPr>
            <a:r>
              <a:rPr lang="en-US" sz="1300" dirty="0">
                <a:solidFill>
                  <a:srgbClr val="9AA4B2"/>
                </a:solidFill>
              </a:rPr>
              <a:t>Budget, Advanced and Stages run in the walkthrough on its own copy of the numbers.</a:t>
            </a:r>
            <a:endParaRPr lang="en-US" sz="1300" dirty="0"/>
          </a:p>
        </p:txBody>
      </p:sp>
      <p:sp>
        <p:nvSpPr>
          <p:cNvPr id="9" name="Text 7"/>
          <p:cNvSpPr txBox="1"/>
          <p:nvPr/>
        </p:nvSpPr>
        <p:spPr>
          <a:xfrm>
            <a:off x="548640" y="4910328"/>
            <a:ext cx="4023360" cy="457200"/>
          </a:xfrm>
          <a:prstGeom prst="rect">
            <a:avLst/>
          </a:prstGeom>
          <a:noFill/>
          <a:ln/>
        </p:spPr>
        <p:txBody>
          <a:bodyPr wrap="square" lIns="0" tIns="0" rIns="0" bIns="0" rtlCol="0" anchor="t"/>
          <a:lstStyle/>
          <a:p>
            <a:pPr indent="0" marL="0">
              <a:buNone/>
            </a:pPr>
            <a:r>
              <a:rPr lang="en-US" sz="2600" b="1" dirty="0">
                <a:solidFill>
                  <a:srgbClr val="E8EBF0"/>
                </a:solidFill>
              </a:rPr>
              <a:t>Copy into my tools</a:t>
            </a:r>
            <a:endParaRPr lang="en-US" sz="2600" dirty="0"/>
          </a:p>
        </p:txBody>
      </p:sp>
      <p:sp>
        <p:nvSpPr>
          <p:cNvPr id="10" name="Text 8"/>
          <p:cNvSpPr txBox="1"/>
          <p:nvPr/>
        </p:nvSpPr>
        <p:spPr>
          <a:xfrm>
            <a:off x="548640" y="5367528"/>
            <a:ext cx="4023360" cy="566928"/>
          </a:xfrm>
          <a:prstGeom prst="rect">
            <a:avLst/>
          </a:prstGeom>
          <a:noFill/>
          <a:ln/>
        </p:spPr>
        <p:txBody>
          <a:bodyPr wrap="square" lIns="0" tIns="0" rIns="0" bIns="0" rtlCol="0" anchor="t"/>
          <a:lstStyle/>
          <a:p>
            <a:pPr indent="0" marL="0">
              <a:buNone/>
            </a:pPr>
            <a:r>
              <a:rPr lang="en-US" sz="1300" dirty="0">
                <a:solidFill>
                  <a:srgbClr val="9AA4B2"/>
                </a:solidFill>
              </a:rPr>
              <a:t>One click sends the results to Income Tax, Budget, Advanced and Stages.</a:t>
            </a:r>
            <a:endParaRPr lang="en-US" sz="1300" dirty="0"/>
          </a:p>
        </p:txBody>
      </p:sp>
      <p:sp>
        <p:nvSpPr>
          <p:cNvPr id="11" name="Shape 9"/>
          <p:cNvSpPr/>
          <p:nvPr/>
        </p:nvSpPr>
        <p:spPr>
          <a:xfrm>
            <a:off x="4983480" y="0"/>
            <a:ext cx="7208215" cy="6858000"/>
          </a:xfrm>
          <a:prstGeom prst="rect">
            <a:avLst/>
          </a:prstGeom>
          <a:solidFill>
            <a:srgbClr val="382531"/>
          </a:solidFill>
          <a:ln/>
        </p:spPr>
      </p:sp>
      <p:sp>
        <p:nvSpPr>
          <p:cNvPr id="12" name="Shape 10"/>
          <p:cNvSpPr/>
          <p:nvPr/>
        </p:nvSpPr>
        <p:spPr>
          <a:xfrm>
            <a:off x="5394960" y="411480"/>
            <a:ext cx="1064209" cy="502920"/>
          </a:xfrm>
          <a:prstGeom prst="homePlate">
            <a:avLst/>
          </a:prstGeom>
          <a:solidFill>
            <a:srgbClr val="6D3E52"/>
          </a:solidFill>
          <a:ln/>
        </p:spPr>
      </p:sp>
      <p:sp>
        <p:nvSpPr>
          <p:cNvPr id="13" name="Text 11"/>
          <p:cNvSpPr txBox="1"/>
          <p:nvPr/>
        </p:nvSpPr>
        <p:spPr>
          <a:xfrm>
            <a:off x="5504688" y="411480"/>
            <a:ext cx="835609" cy="502920"/>
          </a:xfrm>
          <a:prstGeom prst="rect">
            <a:avLst/>
          </a:prstGeom>
          <a:noFill/>
          <a:ln/>
        </p:spPr>
        <p:txBody>
          <a:bodyPr wrap="square" lIns="0" tIns="0" rIns="0" bIns="0" rtlCol="0" anchor="ctr"/>
          <a:lstStyle/>
          <a:p>
            <a:pPr algn="ctr" indent="0" marL="0">
              <a:buNone/>
            </a:pPr>
            <a:r>
              <a:rPr lang="en-US" sz="1100" b="1" dirty="0">
                <a:solidFill>
                  <a:srgbClr val="E8EBF0"/>
                </a:solidFill>
              </a:rPr>
              <a:t>Start</a:t>
            </a:r>
            <a:endParaRPr lang="en-US" sz="1100" dirty="0"/>
          </a:p>
        </p:txBody>
      </p:sp>
      <p:sp>
        <p:nvSpPr>
          <p:cNvPr id="14" name="Shape 12"/>
          <p:cNvSpPr/>
          <p:nvPr/>
        </p:nvSpPr>
        <p:spPr>
          <a:xfrm>
            <a:off x="6386017" y="411480"/>
            <a:ext cx="1137361" cy="502920"/>
          </a:xfrm>
          <a:prstGeom prst="chevron">
            <a:avLst/>
          </a:prstGeom>
          <a:solidFill>
            <a:srgbClr val="6D3E52"/>
          </a:solidFill>
          <a:ln/>
        </p:spPr>
      </p:sp>
      <p:sp>
        <p:nvSpPr>
          <p:cNvPr id="15" name="Text 13"/>
          <p:cNvSpPr txBox="1"/>
          <p:nvPr/>
        </p:nvSpPr>
        <p:spPr>
          <a:xfrm>
            <a:off x="6568897" y="411480"/>
            <a:ext cx="835609" cy="502920"/>
          </a:xfrm>
          <a:prstGeom prst="rect">
            <a:avLst/>
          </a:prstGeom>
          <a:noFill/>
          <a:ln/>
        </p:spPr>
        <p:txBody>
          <a:bodyPr wrap="square" lIns="0" tIns="0" rIns="0" bIns="0" rtlCol="0" anchor="ctr"/>
          <a:lstStyle/>
          <a:p>
            <a:pPr algn="ctr" indent="0" marL="0">
              <a:buNone/>
            </a:pPr>
            <a:r>
              <a:rPr lang="en-US" sz="1100" b="1" dirty="0">
                <a:solidFill>
                  <a:srgbClr val="E8EBF0"/>
                </a:solidFill>
              </a:rPr>
              <a:t>Budget</a:t>
            </a:r>
            <a:endParaRPr lang="en-US" sz="1100" dirty="0"/>
          </a:p>
        </p:txBody>
      </p:sp>
      <p:sp>
        <p:nvSpPr>
          <p:cNvPr id="16" name="Shape 14"/>
          <p:cNvSpPr/>
          <p:nvPr/>
        </p:nvSpPr>
        <p:spPr>
          <a:xfrm>
            <a:off x="7450226" y="411480"/>
            <a:ext cx="1137361" cy="502920"/>
          </a:xfrm>
          <a:prstGeom prst="chevron">
            <a:avLst/>
          </a:prstGeom>
          <a:solidFill>
            <a:srgbClr val="E0749B"/>
          </a:solidFill>
          <a:ln/>
        </p:spPr>
      </p:sp>
      <p:sp>
        <p:nvSpPr>
          <p:cNvPr id="17" name="Text 15"/>
          <p:cNvSpPr txBox="1"/>
          <p:nvPr/>
        </p:nvSpPr>
        <p:spPr>
          <a:xfrm>
            <a:off x="7633106" y="411480"/>
            <a:ext cx="835609" cy="502920"/>
          </a:xfrm>
          <a:prstGeom prst="rect">
            <a:avLst/>
          </a:prstGeom>
          <a:noFill/>
          <a:ln/>
        </p:spPr>
        <p:txBody>
          <a:bodyPr wrap="square" lIns="0" tIns="0" rIns="0" bIns="0" rtlCol="0" anchor="ctr"/>
          <a:lstStyle/>
          <a:p>
            <a:pPr algn="ctr" indent="0" marL="0">
              <a:buNone/>
            </a:pPr>
            <a:r>
              <a:rPr lang="en-US" sz="1100" b="1" dirty="0">
                <a:solidFill>
                  <a:srgbClr val="0E1116"/>
                </a:solidFill>
              </a:rPr>
              <a:t>Paycheck</a:t>
            </a:r>
            <a:endParaRPr lang="en-US" sz="1100" dirty="0"/>
          </a:p>
        </p:txBody>
      </p:sp>
      <p:sp>
        <p:nvSpPr>
          <p:cNvPr id="18" name="Shape 16"/>
          <p:cNvSpPr/>
          <p:nvPr/>
        </p:nvSpPr>
        <p:spPr>
          <a:xfrm>
            <a:off x="8514436" y="411480"/>
            <a:ext cx="1137361" cy="502920"/>
          </a:xfrm>
          <a:prstGeom prst="chevron">
            <a:avLst/>
          </a:prstGeom>
          <a:solidFill>
            <a:srgbClr val="6D3E52"/>
          </a:solidFill>
          <a:ln/>
        </p:spPr>
      </p:sp>
      <p:sp>
        <p:nvSpPr>
          <p:cNvPr id="19" name="Text 17"/>
          <p:cNvSpPr txBox="1"/>
          <p:nvPr/>
        </p:nvSpPr>
        <p:spPr>
          <a:xfrm>
            <a:off x="8697316" y="411480"/>
            <a:ext cx="835609" cy="502920"/>
          </a:xfrm>
          <a:prstGeom prst="rect">
            <a:avLst/>
          </a:prstGeom>
          <a:noFill/>
          <a:ln/>
        </p:spPr>
        <p:txBody>
          <a:bodyPr wrap="square" lIns="0" tIns="0" rIns="0" bIns="0" rtlCol="0" anchor="ctr"/>
          <a:lstStyle/>
          <a:p>
            <a:pPr algn="ctr" indent="0" marL="0">
              <a:buNone/>
            </a:pPr>
            <a:r>
              <a:rPr lang="en-US" sz="1100" b="1" dirty="0">
                <a:solidFill>
                  <a:srgbClr val="E8EBF0"/>
                </a:solidFill>
              </a:rPr>
              <a:t>Your plan</a:t>
            </a:r>
            <a:endParaRPr lang="en-US" sz="1100" dirty="0"/>
          </a:p>
        </p:txBody>
      </p:sp>
      <p:sp>
        <p:nvSpPr>
          <p:cNvPr id="20" name="Shape 18"/>
          <p:cNvSpPr/>
          <p:nvPr/>
        </p:nvSpPr>
        <p:spPr>
          <a:xfrm>
            <a:off x="9578645" y="411480"/>
            <a:ext cx="1137361" cy="502920"/>
          </a:xfrm>
          <a:prstGeom prst="chevron">
            <a:avLst/>
          </a:prstGeom>
          <a:solidFill>
            <a:srgbClr val="6D3E52"/>
          </a:solidFill>
          <a:ln/>
        </p:spPr>
      </p:sp>
      <p:sp>
        <p:nvSpPr>
          <p:cNvPr id="21" name="Text 19"/>
          <p:cNvSpPr txBox="1"/>
          <p:nvPr/>
        </p:nvSpPr>
        <p:spPr>
          <a:xfrm>
            <a:off x="9761525" y="411480"/>
            <a:ext cx="835609" cy="502920"/>
          </a:xfrm>
          <a:prstGeom prst="rect">
            <a:avLst/>
          </a:prstGeom>
          <a:noFill/>
          <a:ln/>
        </p:spPr>
        <p:txBody>
          <a:bodyPr wrap="square" lIns="0" tIns="0" rIns="0" bIns="0" rtlCol="0" anchor="ctr"/>
          <a:lstStyle/>
          <a:p>
            <a:pPr algn="ctr" indent="0" marL="0">
              <a:buNone/>
            </a:pPr>
            <a:r>
              <a:rPr lang="en-US" sz="1100" b="1" dirty="0">
                <a:solidFill>
                  <a:srgbClr val="E8EBF0"/>
                </a:solidFill>
              </a:rPr>
              <a:t>Life stages</a:t>
            </a:r>
            <a:endParaRPr lang="en-US" sz="1100" dirty="0"/>
          </a:p>
        </p:txBody>
      </p:sp>
      <p:sp>
        <p:nvSpPr>
          <p:cNvPr id="22" name="Shape 20"/>
          <p:cNvSpPr/>
          <p:nvPr/>
        </p:nvSpPr>
        <p:spPr>
          <a:xfrm>
            <a:off x="10642854" y="411480"/>
            <a:ext cx="1137361" cy="502920"/>
          </a:xfrm>
          <a:prstGeom prst="chevron">
            <a:avLst/>
          </a:prstGeom>
          <a:solidFill>
            <a:srgbClr val="6D3E52"/>
          </a:solidFill>
          <a:ln/>
        </p:spPr>
      </p:sp>
      <p:sp>
        <p:nvSpPr>
          <p:cNvPr id="23" name="Text 21"/>
          <p:cNvSpPr txBox="1"/>
          <p:nvPr/>
        </p:nvSpPr>
        <p:spPr>
          <a:xfrm>
            <a:off x="10825734" y="411480"/>
            <a:ext cx="835609" cy="502920"/>
          </a:xfrm>
          <a:prstGeom prst="rect">
            <a:avLst/>
          </a:prstGeom>
          <a:noFill/>
          <a:ln/>
        </p:spPr>
        <p:txBody>
          <a:bodyPr wrap="square" lIns="0" tIns="0" rIns="0" bIns="0" rtlCol="0" anchor="ctr"/>
          <a:lstStyle/>
          <a:p>
            <a:pPr algn="ctr" indent="0" marL="0">
              <a:buNone/>
            </a:pPr>
            <a:r>
              <a:rPr lang="en-US" sz="1100" b="1" dirty="0">
                <a:solidFill>
                  <a:srgbClr val="E8EBF0"/>
                </a:solidFill>
              </a:rPr>
              <a:t>Summary</a:t>
            </a:r>
            <a:endParaRPr lang="en-US" sz="1100" dirty="0"/>
          </a:p>
        </p:txBody>
      </p:sp>
      <p:pic>
        <p:nvPicPr>
          <p:cNvPr id="24" name="Image 0" descr="/Users/erikalfriend/Projects/RetCalc/.claude/worktrees/marketing-package/marketing/deck/img/plan_paycheck_2_saved-and-invested-e.png">    </p:cNvPr>
          <p:cNvPicPr>
            <a:picLocks noChangeAspect="1"/>
          </p:cNvPicPr>
          <p:nvPr/>
        </p:nvPicPr>
        <p:blipFill>
          <a:blip r:embed="rId1"/>
          <a:stretch>
            <a:fillRect/>
          </a:stretch>
        </p:blipFill>
        <p:spPr>
          <a:xfrm>
            <a:off x="6550152" y="1188720"/>
            <a:ext cx="4074870" cy="1928933"/>
          </a:xfrm>
          <a:prstGeom prst="rect">
            <a:avLst/>
          </a:prstGeom>
          <a:effectLst>
            <a:outerShdw sx="100000" sy="100000" kx="0" ky="0" algn="bl" rotWithShape="0" blurRad="254000" dist="101600" dir="5400000">
              <a:srgbClr val="000000">
                <a:alpha val="50000"/>
              </a:srgbClr>
            </a:outerShdw>
          </a:effectLst>
        </p:spPr>
      </p:pic>
      <p:pic>
        <p:nvPicPr>
          <p:cNvPr id="25" name="Image 1" descr="/Users/erikalfriend/Projects/RetCalc/.claude/worktrees/marketing-package/marketing/deck/img/plan_paycheck_3_where-the-rest-goes.png">    </p:cNvPr>
          <p:cNvPicPr>
            <a:picLocks noChangeAspect="1"/>
          </p:cNvPicPr>
          <p:nvPr/>
        </p:nvPicPr>
        <p:blipFill>
          <a:blip r:embed="rId2"/>
          <a:stretch>
            <a:fillRect/>
          </a:stretch>
        </p:blipFill>
        <p:spPr>
          <a:xfrm>
            <a:off x="6550152" y="3292715"/>
            <a:ext cx="4074870" cy="3153805"/>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PUTTING IT TOGETHER</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One household, from paycheck to retirement</a:t>
            </a:r>
            <a:endParaRPr lang="en-US" sz="3400" dirty="0"/>
          </a:p>
        </p:txBody>
      </p:sp>
      <p:sp>
        <p:nvSpPr>
          <p:cNvPr id="4" name="Text 2"/>
          <p:cNvSpPr txBox="1"/>
          <p:nvPr/>
        </p:nvSpPr>
        <p:spPr>
          <a:xfrm>
            <a:off x="548640" y="1371600"/>
            <a:ext cx="11094415" cy="502920"/>
          </a:xfrm>
          <a:prstGeom prst="rect">
            <a:avLst/>
          </a:prstGeom>
          <a:noFill/>
          <a:ln/>
        </p:spPr>
        <p:txBody>
          <a:bodyPr wrap="square" lIns="0" tIns="0" rIns="0" bIns="0" rtlCol="0" anchor="t"/>
          <a:lstStyle/>
          <a:p>
            <a:pPr indent="0" marL="0">
              <a:buNone/>
            </a:pPr>
            <a:r>
              <a:rPr lang="en-US" sz="1400" dirty="0">
                <a:solidFill>
                  <a:srgbClr val="9AA4B2"/>
                </a:solidFill>
              </a:rPr>
              <a:t>A sample couple, Alex (34, $92,000) and Jordan (32, $68,000) in Illinois, with $60,000 saved and two children planned, carried through four tools by the tools' own buttons.</a:t>
            </a:r>
            <a:endParaRPr lang="en-US" sz="1400" dirty="0"/>
          </a:p>
        </p:txBody>
      </p:sp>
      <p:sp>
        <p:nvSpPr>
          <p:cNvPr id="5" name="Shape 3"/>
          <p:cNvSpPr/>
          <p:nvPr/>
        </p:nvSpPr>
        <p:spPr>
          <a:xfrm>
            <a:off x="548640" y="2057400"/>
            <a:ext cx="2487168" cy="2788920"/>
          </a:xfrm>
          <a:prstGeom prst="roundRect">
            <a:avLst>
              <a:gd name="adj" fmla="val 5147"/>
            </a:avLst>
          </a:prstGeom>
          <a:solidFill>
            <a:srgbClr val="1C222B"/>
          </a:solidFill>
          <a:ln/>
        </p:spPr>
      </p:sp>
      <p:sp>
        <p:nvSpPr>
          <p:cNvPr id="6" name="Text 4"/>
          <p:cNvSpPr txBox="1"/>
          <p:nvPr/>
        </p:nvSpPr>
        <p:spPr>
          <a:xfrm>
            <a:off x="777240" y="2258568"/>
            <a:ext cx="2029968" cy="274320"/>
          </a:xfrm>
          <a:prstGeom prst="rect">
            <a:avLst/>
          </a:prstGeom>
          <a:noFill/>
          <a:ln/>
        </p:spPr>
        <p:txBody>
          <a:bodyPr wrap="square" lIns="0" tIns="0" rIns="0" bIns="0" rtlCol="0" anchor="t"/>
          <a:lstStyle/>
          <a:p>
            <a:pPr indent="0" marL="0">
              <a:buNone/>
            </a:pPr>
            <a:r>
              <a:rPr lang="en-US" sz="1100" b="1" spc="100" kern="0" dirty="0">
                <a:solidFill>
                  <a:srgbClr val="E3A93B"/>
                </a:solidFill>
              </a:rPr>
              <a:t>1  BUDGET</a:t>
            </a:r>
            <a:endParaRPr lang="en-US" sz="1100" dirty="0"/>
          </a:p>
        </p:txBody>
      </p:sp>
      <p:sp>
        <p:nvSpPr>
          <p:cNvPr id="7" name="Text 5"/>
          <p:cNvSpPr txBox="1"/>
          <p:nvPr/>
        </p:nvSpPr>
        <p:spPr>
          <a:xfrm>
            <a:off x="777240" y="2560320"/>
            <a:ext cx="2029968" cy="594360"/>
          </a:xfrm>
          <a:prstGeom prst="rect">
            <a:avLst/>
          </a:prstGeom>
          <a:noFill/>
          <a:ln/>
        </p:spPr>
        <p:txBody>
          <a:bodyPr wrap="square" lIns="0" tIns="0" rIns="0" bIns="0" rtlCol="0" anchor="t"/>
          <a:lstStyle/>
          <a:p>
            <a:pPr indent="0" marL="0">
              <a:buNone/>
            </a:pPr>
            <a:r>
              <a:rPr lang="en-US" sz="3200" b="1" dirty="0">
                <a:solidFill>
                  <a:srgbClr val="E8EBF0"/>
                </a:solidFill>
              </a:rPr>
              <a:t>$1,803</a:t>
            </a:r>
            <a:endParaRPr lang="en-US" sz="3200" dirty="0"/>
          </a:p>
        </p:txBody>
      </p:sp>
      <p:sp>
        <p:nvSpPr>
          <p:cNvPr id="8" name="Text 6"/>
          <p:cNvSpPr txBox="1"/>
          <p:nvPr/>
        </p:nvSpPr>
        <p:spPr>
          <a:xfrm>
            <a:off x="777240" y="3172968"/>
            <a:ext cx="2029968" cy="685800"/>
          </a:xfrm>
          <a:prstGeom prst="rect">
            <a:avLst/>
          </a:prstGeom>
          <a:noFill/>
          <a:ln/>
        </p:spPr>
        <p:txBody>
          <a:bodyPr wrap="square" lIns="0" tIns="0" rIns="0" bIns="0" rtlCol="0" anchor="t"/>
          <a:lstStyle/>
          <a:p>
            <a:pPr indent="0" marL="0">
              <a:buNone/>
            </a:pPr>
            <a:r>
              <a:rPr lang="en-US" sz="1200" dirty="0">
                <a:solidFill>
                  <a:srgbClr val="9AA4B2"/>
                </a:solidFill>
              </a:rPr>
              <a:t>saved per month, 13.5% of pay plus $457 from employers</a:t>
            </a:r>
            <a:endParaRPr lang="en-US" sz="1200" dirty="0"/>
          </a:p>
        </p:txBody>
      </p:sp>
      <p:pic>
        <p:nvPicPr>
          <p:cNvPr id="9" name="Image 0" descr="/Users/erikalfriend/Projects/RetCalc/.claude/worktrees/marketing-package/marketing/deck/img/st_pc_1_saved-and-invested-e.png">    </p:cNvPr>
          <p:cNvPicPr>
            <a:picLocks noChangeAspect="1"/>
          </p:cNvPicPr>
          <p:nvPr/>
        </p:nvPicPr>
        <p:blipFill>
          <a:blip r:embed="rId1"/>
          <a:stretch>
            <a:fillRect/>
          </a:stretch>
        </p:blipFill>
        <p:spPr>
          <a:xfrm>
            <a:off x="777240" y="3886200"/>
            <a:ext cx="1742860" cy="822960"/>
          </a:xfrm>
          <a:prstGeom prst="rect">
            <a:avLst/>
          </a:prstGeom>
        </p:spPr>
      </p:pic>
      <p:sp>
        <p:nvSpPr>
          <p:cNvPr id="10" name="Shape 7"/>
          <p:cNvSpPr/>
          <p:nvPr/>
        </p:nvSpPr>
        <p:spPr>
          <a:xfrm>
            <a:off x="3054096" y="3291840"/>
            <a:ext cx="345338" cy="384048"/>
          </a:xfrm>
          <a:prstGeom prst="rightArrow">
            <a:avLst/>
          </a:prstGeom>
          <a:solidFill>
            <a:srgbClr val="E3A93B"/>
          </a:solidFill>
          <a:ln/>
        </p:spPr>
      </p:sp>
      <p:sp>
        <p:nvSpPr>
          <p:cNvPr id="11" name="Text 8"/>
          <p:cNvSpPr txBox="1"/>
          <p:nvPr/>
        </p:nvSpPr>
        <p:spPr>
          <a:xfrm>
            <a:off x="1975104" y="4910328"/>
            <a:ext cx="2503322" cy="502920"/>
          </a:xfrm>
          <a:prstGeom prst="rect">
            <a:avLst/>
          </a:prstGeom>
          <a:noFill/>
          <a:ln/>
        </p:spPr>
        <p:txBody>
          <a:bodyPr wrap="square" lIns="0" tIns="0" rIns="0" bIns="0" rtlCol="0" anchor="ctr"/>
          <a:lstStyle/>
          <a:p>
            <a:pPr algn="ctr" indent="0" marL="0">
              <a:buNone/>
            </a:pPr>
            <a:r>
              <a:rPr lang="en-US" sz="1000" b="1" dirty="0">
                <a:solidFill>
                  <a:srgbClr val="E8EBF0"/>
                </a:solidFill>
              </a:rPr>
              <a:t>Copy to a calculator: </a:t>
            </a:r>
            <a:pPr algn="ctr" indent="0" marL="0">
              <a:buNone/>
            </a:pPr>
            <a:r>
              <a:rPr lang="en-US" sz="1000" dirty="0">
                <a:solidFill>
                  <a:srgbClr val="9AA4B2"/>
                </a:solidFill>
              </a:rPr>
              <a:t>$832.35 biweekly</a:t>
            </a:r>
            <a:endParaRPr lang="en-US" sz="1000" dirty="0"/>
          </a:p>
        </p:txBody>
      </p:sp>
      <p:sp>
        <p:nvSpPr>
          <p:cNvPr id="12" name="Shape 9"/>
          <p:cNvSpPr/>
          <p:nvPr/>
        </p:nvSpPr>
        <p:spPr>
          <a:xfrm>
            <a:off x="3417722" y="2057400"/>
            <a:ext cx="2487168" cy="2788920"/>
          </a:xfrm>
          <a:prstGeom prst="roundRect">
            <a:avLst>
              <a:gd name="adj" fmla="val 5147"/>
            </a:avLst>
          </a:prstGeom>
          <a:solidFill>
            <a:srgbClr val="1C222B"/>
          </a:solidFill>
          <a:ln/>
        </p:spPr>
      </p:sp>
      <p:sp>
        <p:nvSpPr>
          <p:cNvPr id="13" name="Text 10"/>
          <p:cNvSpPr txBox="1"/>
          <p:nvPr/>
        </p:nvSpPr>
        <p:spPr>
          <a:xfrm>
            <a:off x="3646322" y="2258568"/>
            <a:ext cx="2029968" cy="274320"/>
          </a:xfrm>
          <a:prstGeom prst="rect">
            <a:avLst/>
          </a:prstGeom>
          <a:noFill/>
          <a:ln/>
        </p:spPr>
        <p:txBody>
          <a:bodyPr wrap="square" lIns="0" tIns="0" rIns="0" bIns="0" rtlCol="0" anchor="t"/>
          <a:lstStyle/>
          <a:p>
            <a:pPr indent="0" marL="0">
              <a:buNone/>
            </a:pPr>
            <a:r>
              <a:rPr lang="en-US" sz="1100" b="1" spc="100" kern="0" dirty="0">
                <a:solidFill>
                  <a:srgbClr val="E3A93B"/>
                </a:solidFill>
              </a:rPr>
              <a:t>2  STAGES</a:t>
            </a:r>
            <a:endParaRPr lang="en-US" sz="1100" dirty="0"/>
          </a:p>
        </p:txBody>
      </p:sp>
      <p:sp>
        <p:nvSpPr>
          <p:cNvPr id="14" name="Text 11"/>
          <p:cNvSpPr txBox="1"/>
          <p:nvPr/>
        </p:nvSpPr>
        <p:spPr>
          <a:xfrm>
            <a:off x="3646322" y="2560320"/>
            <a:ext cx="2029968" cy="594360"/>
          </a:xfrm>
          <a:prstGeom prst="rect">
            <a:avLst/>
          </a:prstGeom>
          <a:noFill/>
          <a:ln/>
        </p:spPr>
        <p:txBody>
          <a:bodyPr wrap="square" lIns="0" tIns="0" rIns="0" bIns="0" rtlCol="0" anchor="t"/>
          <a:lstStyle/>
          <a:p>
            <a:pPr indent="0" marL="0">
              <a:buNone/>
            </a:pPr>
            <a:r>
              <a:rPr lang="en-US" sz="3200" b="1" dirty="0">
                <a:solidFill>
                  <a:srgbClr val="E8EBF0"/>
                </a:solidFill>
              </a:rPr>
              <a:t>$743,576</a:t>
            </a:r>
            <a:endParaRPr lang="en-US" sz="3200" dirty="0"/>
          </a:p>
        </p:txBody>
      </p:sp>
      <p:sp>
        <p:nvSpPr>
          <p:cNvPr id="15" name="Text 12"/>
          <p:cNvSpPr txBox="1"/>
          <p:nvPr/>
        </p:nvSpPr>
        <p:spPr>
          <a:xfrm>
            <a:off x="3646322" y="3172968"/>
            <a:ext cx="2029968" cy="685800"/>
          </a:xfrm>
          <a:prstGeom prst="rect">
            <a:avLst/>
          </a:prstGeom>
          <a:noFill/>
          <a:ln/>
        </p:spPr>
        <p:txBody>
          <a:bodyPr wrap="square" lIns="0" tIns="0" rIns="0" bIns="0" rtlCol="0" anchor="t"/>
          <a:lstStyle/>
          <a:p>
            <a:pPr indent="0" marL="0">
              <a:buNone/>
            </a:pPr>
            <a:r>
              <a:rPr lang="en-US" sz="1200" dirty="0">
                <a:solidFill>
                  <a:srgbClr val="9AA4B2"/>
                </a:solidFill>
              </a:rPr>
              <a:t>at 65 in today's dollars, saving paused for 18 years of children</a:t>
            </a:r>
            <a:endParaRPr lang="en-US" sz="1200" dirty="0"/>
          </a:p>
        </p:txBody>
      </p:sp>
      <p:pic>
        <p:nvPicPr>
          <p:cNvPr id="16" name="Image 1" descr="/Users/erikalfriend/Projects/RetCalc/.claude/worktrees/marketing-package/marketing/deck/img/st_stg_1_after-tax-income-per.png">    </p:cNvPr>
          <p:cNvPicPr>
            <a:picLocks noChangeAspect="1"/>
          </p:cNvPicPr>
          <p:nvPr/>
        </p:nvPicPr>
        <p:blipFill>
          <a:blip r:embed="rId2"/>
          <a:stretch>
            <a:fillRect/>
          </a:stretch>
        </p:blipFill>
        <p:spPr>
          <a:xfrm>
            <a:off x="3646322" y="3886200"/>
            <a:ext cx="1725561" cy="822960"/>
          </a:xfrm>
          <a:prstGeom prst="rect">
            <a:avLst/>
          </a:prstGeom>
        </p:spPr>
      </p:pic>
      <p:sp>
        <p:nvSpPr>
          <p:cNvPr id="17" name="Shape 13"/>
          <p:cNvSpPr/>
          <p:nvPr/>
        </p:nvSpPr>
        <p:spPr>
          <a:xfrm>
            <a:off x="5923178" y="3291840"/>
            <a:ext cx="345338" cy="384048"/>
          </a:xfrm>
          <a:prstGeom prst="rightArrow">
            <a:avLst/>
          </a:prstGeom>
          <a:solidFill>
            <a:srgbClr val="E3A93B"/>
          </a:solidFill>
          <a:ln/>
        </p:spPr>
      </p:sp>
      <p:sp>
        <p:nvSpPr>
          <p:cNvPr id="18" name="Text 14"/>
          <p:cNvSpPr txBox="1"/>
          <p:nvPr/>
        </p:nvSpPr>
        <p:spPr>
          <a:xfrm>
            <a:off x="4844186" y="4910328"/>
            <a:ext cx="2503322" cy="502920"/>
          </a:xfrm>
          <a:prstGeom prst="rect">
            <a:avLst/>
          </a:prstGeom>
          <a:noFill/>
          <a:ln/>
        </p:spPr>
        <p:txBody>
          <a:bodyPr wrap="square" lIns="0" tIns="0" rIns="0" bIns="0" rtlCol="0" anchor="ctr"/>
          <a:lstStyle/>
          <a:p>
            <a:pPr algn="ctr" indent="0" marL="0">
              <a:buNone/>
            </a:pPr>
            <a:r>
              <a:rPr lang="en-US" sz="1000" b="1" dirty="0">
                <a:solidFill>
                  <a:srgbClr val="E8EBF0"/>
                </a:solidFill>
              </a:rPr>
              <a:t>Test withdrawals: </a:t>
            </a:r>
            <a:pPr algn="ctr" indent="0" marL="0">
              <a:buNone/>
            </a:pPr>
            <a:r>
              <a:rPr lang="en-US" sz="1000" dirty="0">
                <a:solidFill>
                  <a:srgbClr val="9AA4B2"/>
                </a:solidFill>
              </a:rPr>
              <a:t>the portfolio</a:t>
            </a:r>
            <a:endParaRPr lang="en-US" sz="1000" dirty="0"/>
          </a:p>
        </p:txBody>
      </p:sp>
      <p:sp>
        <p:nvSpPr>
          <p:cNvPr id="19" name="Shape 15"/>
          <p:cNvSpPr/>
          <p:nvPr/>
        </p:nvSpPr>
        <p:spPr>
          <a:xfrm>
            <a:off x="6286805" y="2057400"/>
            <a:ext cx="2487168" cy="2788920"/>
          </a:xfrm>
          <a:prstGeom prst="roundRect">
            <a:avLst>
              <a:gd name="adj" fmla="val 5147"/>
            </a:avLst>
          </a:prstGeom>
          <a:solidFill>
            <a:srgbClr val="1C222B"/>
          </a:solidFill>
          <a:ln/>
        </p:spPr>
      </p:sp>
      <p:sp>
        <p:nvSpPr>
          <p:cNvPr id="20" name="Text 16"/>
          <p:cNvSpPr txBox="1"/>
          <p:nvPr/>
        </p:nvSpPr>
        <p:spPr>
          <a:xfrm>
            <a:off x="6515405" y="2258568"/>
            <a:ext cx="2029968" cy="274320"/>
          </a:xfrm>
          <a:prstGeom prst="rect">
            <a:avLst/>
          </a:prstGeom>
          <a:noFill/>
          <a:ln/>
        </p:spPr>
        <p:txBody>
          <a:bodyPr wrap="square" lIns="0" tIns="0" rIns="0" bIns="0" rtlCol="0" anchor="t"/>
          <a:lstStyle/>
          <a:p>
            <a:pPr indent="0" marL="0">
              <a:buNone/>
            </a:pPr>
            <a:r>
              <a:rPr lang="en-US" sz="1100" b="1" spc="100" kern="0" dirty="0">
                <a:solidFill>
                  <a:srgbClr val="E3A93B"/>
                </a:solidFill>
              </a:rPr>
              <a:t>3  SOCIAL SECURITY</a:t>
            </a:r>
            <a:endParaRPr lang="en-US" sz="1100" dirty="0"/>
          </a:p>
        </p:txBody>
      </p:sp>
      <p:sp>
        <p:nvSpPr>
          <p:cNvPr id="21" name="Text 17"/>
          <p:cNvSpPr txBox="1"/>
          <p:nvPr/>
        </p:nvSpPr>
        <p:spPr>
          <a:xfrm>
            <a:off x="6515405" y="2560320"/>
            <a:ext cx="2029968" cy="594360"/>
          </a:xfrm>
          <a:prstGeom prst="rect">
            <a:avLst/>
          </a:prstGeom>
          <a:noFill/>
          <a:ln/>
        </p:spPr>
        <p:txBody>
          <a:bodyPr wrap="square" lIns="0" tIns="0" rIns="0" bIns="0" rtlCol="0" anchor="t"/>
          <a:lstStyle/>
          <a:p>
            <a:pPr indent="0" marL="0">
              <a:buNone/>
            </a:pPr>
            <a:r>
              <a:rPr lang="en-US" sz="3200" b="1" dirty="0">
                <a:solidFill>
                  <a:srgbClr val="E8EBF0"/>
                </a:solidFill>
              </a:rPr>
              <a:t>$6,236</a:t>
            </a:r>
            <a:endParaRPr lang="en-US" sz="3200" dirty="0"/>
          </a:p>
        </p:txBody>
      </p:sp>
      <p:sp>
        <p:nvSpPr>
          <p:cNvPr id="22" name="Text 18"/>
          <p:cNvSpPr txBox="1"/>
          <p:nvPr/>
        </p:nvSpPr>
        <p:spPr>
          <a:xfrm>
            <a:off x="6515405" y="3172968"/>
            <a:ext cx="2029968" cy="685800"/>
          </a:xfrm>
          <a:prstGeom prst="rect">
            <a:avLst/>
          </a:prstGeom>
          <a:noFill/>
          <a:ln/>
        </p:spPr>
        <p:txBody>
          <a:bodyPr wrap="square" lIns="0" tIns="0" rIns="0" bIns="0" rtlCol="0" anchor="t"/>
          <a:lstStyle/>
          <a:p>
            <a:pPr indent="0" marL="0">
              <a:buNone/>
            </a:pPr>
            <a:r>
              <a:rPr lang="en-US" sz="1200" dirty="0">
                <a:solidFill>
                  <a:srgbClr val="9AA4B2"/>
                </a:solidFill>
              </a:rPr>
              <a:t>per month together, both claiming at 67</a:t>
            </a:r>
            <a:endParaRPr lang="en-US" sz="1200" dirty="0"/>
          </a:p>
        </p:txBody>
      </p:sp>
      <p:pic>
        <p:nvPicPr>
          <p:cNvPr id="23" name="Image 2" descr="/Users/erikalfriend/Projects/RetCalc/.claude/worktrees/marketing-package/marketing/deck/img/st_ss_1_pick-the-age-you-cla_0_0.8.png">    </p:cNvPr>
          <p:cNvPicPr>
            <a:picLocks noChangeAspect="1"/>
          </p:cNvPicPr>
          <p:nvPr/>
        </p:nvPicPr>
        <p:blipFill>
          <a:blip r:embed="rId3"/>
          <a:stretch>
            <a:fillRect/>
          </a:stretch>
        </p:blipFill>
        <p:spPr>
          <a:xfrm>
            <a:off x="6515405" y="3886200"/>
            <a:ext cx="2029968" cy="586912"/>
          </a:xfrm>
          <a:prstGeom prst="rect">
            <a:avLst/>
          </a:prstGeom>
        </p:spPr>
      </p:pic>
      <p:sp>
        <p:nvSpPr>
          <p:cNvPr id="24" name="Shape 19"/>
          <p:cNvSpPr/>
          <p:nvPr/>
        </p:nvSpPr>
        <p:spPr>
          <a:xfrm>
            <a:off x="8792261" y="3291840"/>
            <a:ext cx="345338" cy="384048"/>
          </a:xfrm>
          <a:prstGeom prst="rightArrow">
            <a:avLst/>
          </a:prstGeom>
          <a:solidFill>
            <a:srgbClr val="E3A93B"/>
          </a:solidFill>
          <a:ln/>
        </p:spPr>
      </p:sp>
      <p:sp>
        <p:nvSpPr>
          <p:cNvPr id="25" name="Text 20"/>
          <p:cNvSpPr txBox="1"/>
          <p:nvPr/>
        </p:nvSpPr>
        <p:spPr>
          <a:xfrm>
            <a:off x="7713269" y="4910328"/>
            <a:ext cx="2503322" cy="502920"/>
          </a:xfrm>
          <a:prstGeom prst="rect">
            <a:avLst/>
          </a:prstGeom>
          <a:noFill/>
          <a:ln/>
        </p:spPr>
        <p:txBody>
          <a:bodyPr wrap="square" lIns="0" tIns="0" rIns="0" bIns="0" rtlCol="0" anchor="ctr"/>
          <a:lstStyle/>
          <a:p>
            <a:pPr algn="ctr" indent="0" marL="0">
              <a:buNone/>
            </a:pPr>
            <a:r>
              <a:rPr lang="en-US" sz="1000" b="1" dirty="0">
                <a:solidFill>
                  <a:srgbClr val="E8EBF0"/>
                </a:solidFill>
              </a:rPr>
              <a:t>Copy from the calculator: </a:t>
            </a:r>
            <a:pPr algn="ctr" indent="0" marL="0">
              <a:buNone/>
            </a:pPr>
            <a:r>
              <a:rPr lang="en-US" sz="1000" dirty="0">
                <a:solidFill>
                  <a:srgbClr val="9AA4B2"/>
                </a:solidFill>
              </a:rPr>
              <a:t>both benefits</a:t>
            </a:r>
            <a:endParaRPr lang="en-US" sz="1000" dirty="0"/>
          </a:p>
        </p:txBody>
      </p:sp>
      <p:sp>
        <p:nvSpPr>
          <p:cNvPr id="26" name="Shape 21"/>
          <p:cNvSpPr/>
          <p:nvPr/>
        </p:nvSpPr>
        <p:spPr>
          <a:xfrm>
            <a:off x="9155887" y="2057400"/>
            <a:ext cx="2487168" cy="2788920"/>
          </a:xfrm>
          <a:prstGeom prst="roundRect">
            <a:avLst>
              <a:gd name="adj" fmla="val 5147"/>
            </a:avLst>
          </a:prstGeom>
          <a:solidFill>
            <a:srgbClr val="1C222B"/>
          </a:solidFill>
          <a:ln/>
        </p:spPr>
      </p:sp>
      <p:sp>
        <p:nvSpPr>
          <p:cNvPr id="27" name="Text 22"/>
          <p:cNvSpPr txBox="1"/>
          <p:nvPr/>
        </p:nvSpPr>
        <p:spPr>
          <a:xfrm>
            <a:off x="9384487" y="2258568"/>
            <a:ext cx="2029968" cy="274320"/>
          </a:xfrm>
          <a:prstGeom prst="rect">
            <a:avLst/>
          </a:prstGeom>
          <a:noFill/>
          <a:ln/>
        </p:spPr>
        <p:txBody>
          <a:bodyPr wrap="square" lIns="0" tIns="0" rIns="0" bIns="0" rtlCol="0" anchor="t"/>
          <a:lstStyle/>
          <a:p>
            <a:pPr indent="0" marL="0">
              <a:buNone/>
            </a:pPr>
            <a:r>
              <a:rPr lang="en-US" sz="1100" b="1" spc="100" kern="0" dirty="0">
                <a:solidFill>
                  <a:srgbClr val="E3A93B"/>
                </a:solidFill>
              </a:rPr>
              <a:t>4  DRAWDOWN</a:t>
            </a:r>
            <a:endParaRPr lang="en-US" sz="1100" dirty="0"/>
          </a:p>
        </p:txBody>
      </p:sp>
      <p:sp>
        <p:nvSpPr>
          <p:cNvPr id="28" name="Text 23"/>
          <p:cNvSpPr txBox="1"/>
          <p:nvPr/>
        </p:nvSpPr>
        <p:spPr>
          <a:xfrm>
            <a:off x="9384487" y="2560320"/>
            <a:ext cx="2029968" cy="594360"/>
          </a:xfrm>
          <a:prstGeom prst="rect">
            <a:avLst/>
          </a:prstGeom>
          <a:noFill/>
          <a:ln/>
        </p:spPr>
        <p:txBody>
          <a:bodyPr wrap="square" lIns="0" tIns="0" rIns="0" bIns="0" rtlCol="0" anchor="t"/>
          <a:lstStyle/>
          <a:p>
            <a:pPr indent="0" marL="0">
              <a:buNone/>
            </a:pPr>
            <a:r>
              <a:rPr lang="en-US" sz="3200" b="1" dirty="0">
                <a:solidFill>
                  <a:srgbClr val="4CC38A"/>
                </a:solidFill>
              </a:rPr>
              <a:t>100%</a:t>
            </a:r>
            <a:endParaRPr lang="en-US" sz="3200" dirty="0"/>
          </a:p>
        </p:txBody>
      </p:sp>
      <p:sp>
        <p:nvSpPr>
          <p:cNvPr id="29" name="Text 24"/>
          <p:cNvSpPr txBox="1"/>
          <p:nvPr/>
        </p:nvSpPr>
        <p:spPr>
          <a:xfrm>
            <a:off x="9384487" y="3172968"/>
            <a:ext cx="2029968" cy="685800"/>
          </a:xfrm>
          <a:prstGeom prst="rect">
            <a:avLst/>
          </a:prstGeom>
          <a:noFill/>
          <a:ln/>
        </p:spPr>
        <p:txBody>
          <a:bodyPr wrap="square" lIns="0" tIns="0" rIns="0" bIns="0" rtlCol="0" anchor="t"/>
          <a:lstStyle/>
          <a:p>
            <a:pPr indent="0" marL="0">
              <a:buNone/>
            </a:pPr>
            <a:r>
              <a:rPr lang="en-US" sz="1200" dirty="0">
                <a:solidFill>
                  <a:srgbClr val="9AA4B2"/>
                </a:solidFill>
              </a:rPr>
              <a:t>of 835 historical retirements lasted 30 years</a:t>
            </a:r>
            <a:endParaRPr lang="en-US" sz="1200" dirty="0"/>
          </a:p>
        </p:txBody>
      </p:sp>
      <p:pic>
        <p:nvPicPr>
          <p:cNvPr id="30" name="Image 3" descr="/Users/erikalfriend/Projects/RetCalc/.claude/worktrees/marketing-package/marketing/deck/img/st_dd_1_historicalmonte-carl.png">    </p:cNvPr>
          <p:cNvPicPr>
            <a:picLocks noChangeAspect="1"/>
          </p:cNvPicPr>
          <p:nvPr/>
        </p:nvPicPr>
        <p:blipFill>
          <a:blip r:embed="rId4"/>
          <a:stretch>
            <a:fillRect/>
          </a:stretch>
        </p:blipFill>
        <p:spPr>
          <a:xfrm>
            <a:off x="9384487" y="3886200"/>
            <a:ext cx="2029968" cy="708687"/>
          </a:xfrm>
          <a:prstGeom prst="rect">
            <a:avLst/>
          </a:prstGeom>
        </p:spPr>
      </p:pic>
      <p:sp>
        <p:nvSpPr>
          <p:cNvPr id="31" name="Shape 25"/>
          <p:cNvSpPr/>
          <p:nvPr/>
        </p:nvSpPr>
        <p:spPr>
          <a:xfrm>
            <a:off x="548640" y="5440680"/>
            <a:ext cx="11094415" cy="822960"/>
          </a:xfrm>
          <a:prstGeom prst="roundRect">
            <a:avLst>
              <a:gd name="adj" fmla="val 13333"/>
            </a:avLst>
          </a:prstGeom>
          <a:solidFill>
            <a:srgbClr val="E3A93B"/>
          </a:solidFill>
          <a:ln/>
        </p:spPr>
      </p:sp>
      <p:sp>
        <p:nvSpPr>
          <p:cNvPr id="32" name="Text 26"/>
          <p:cNvSpPr txBox="1"/>
          <p:nvPr/>
        </p:nvSpPr>
        <p:spPr>
          <a:xfrm>
            <a:off x="822960" y="5440680"/>
            <a:ext cx="10545775" cy="822960"/>
          </a:xfrm>
          <a:prstGeom prst="rect">
            <a:avLst/>
          </a:prstGeom>
          <a:noFill/>
          <a:ln/>
        </p:spPr>
        <p:txBody>
          <a:bodyPr wrap="square" lIns="0" tIns="0" rIns="0" bIns="0" rtlCol="0" anchor="ctr"/>
          <a:lstStyle/>
          <a:p>
            <a:pPr indent="0" marL="0">
              <a:buNone/>
            </a:pPr>
            <a:r>
              <a:rPr lang="en-US" sz="2200" b="1" dirty="0">
                <a:solidFill>
                  <a:srgbClr val="0E1116"/>
                </a:solidFill>
              </a:rPr>
              <a:t>$104,573 per year in retirement</a:t>
            </a:r>
            <a:pPr indent="0" marL="0">
              <a:buNone/>
            </a:pPr>
            <a:r>
              <a:rPr lang="en-US" sz="1300" dirty="0">
                <a:solidFill>
                  <a:srgbClr val="0E1116"/>
                </a:solidFill>
              </a:rPr>
              <a:t>   in today's dollars: $29,743 from savings and $74,830 from Social Security, through the Depression and the 1970s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A static site that does its thinking in the browser</a:t>
            </a:r>
            <a:endParaRPr lang="en-US" sz="3400" dirty="0"/>
          </a:p>
        </p:txBody>
      </p:sp>
      <p:sp>
        <p:nvSpPr>
          <p:cNvPr id="4" name="Shape 2"/>
          <p:cNvSpPr/>
          <p:nvPr/>
        </p:nvSpPr>
        <p:spPr>
          <a:xfrm>
            <a:off x="3611880" y="1691640"/>
            <a:ext cx="4937760" cy="3291840"/>
          </a:xfrm>
          <a:prstGeom prst="roundRect">
            <a:avLst>
              <a:gd name="adj" fmla="val 4167"/>
            </a:avLst>
          </a:prstGeom>
          <a:solidFill>
            <a:srgbClr val="1C222B"/>
          </a:solidFill>
          <a:ln w="12700">
            <a:solidFill>
              <a:srgbClr val="2A313C"/>
            </a:solidFill>
            <a:prstDash val="solid"/>
          </a:ln>
        </p:spPr>
      </p:sp>
      <p:sp>
        <p:nvSpPr>
          <p:cNvPr id="5" name="Text 3"/>
          <p:cNvSpPr txBox="1"/>
          <p:nvPr/>
        </p:nvSpPr>
        <p:spPr>
          <a:xfrm>
            <a:off x="3886200" y="1920240"/>
            <a:ext cx="3657600" cy="320040"/>
          </a:xfrm>
          <a:prstGeom prst="rect">
            <a:avLst/>
          </a:prstGeom>
          <a:noFill/>
          <a:ln/>
        </p:spPr>
        <p:txBody>
          <a:bodyPr wrap="square" lIns="0" tIns="0" rIns="0" bIns="0" rtlCol="0" anchor="t"/>
          <a:lstStyle/>
          <a:p>
            <a:pPr indent="0" marL="0">
              <a:buNone/>
            </a:pPr>
            <a:r>
              <a:rPr lang="en-US" sz="1600" b="1" dirty="0">
                <a:solidFill>
                  <a:srgbClr val="E8EBF0"/>
                </a:solidFill>
              </a:rPr>
              <a:t>The visitor's browser</a:t>
            </a:r>
            <a:endParaRPr lang="en-US" sz="1600" dirty="0"/>
          </a:p>
        </p:txBody>
      </p:sp>
      <p:sp>
        <p:nvSpPr>
          <p:cNvPr id="6" name="Shape 4"/>
          <p:cNvSpPr/>
          <p:nvPr/>
        </p:nvSpPr>
        <p:spPr>
          <a:xfrm>
            <a:off x="3886200" y="2423160"/>
            <a:ext cx="2057400" cy="1051560"/>
          </a:xfrm>
          <a:prstGeom prst="roundRect">
            <a:avLst>
              <a:gd name="adj" fmla="val 8696"/>
            </a:avLst>
          </a:prstGeom>
          <a:solidFill>
            <a:srgbClr val="151A21"/>
          </a:solidFill>
          <a:ln w="12700">
            <a:solidFill>
              <a:srgbClr val="2A313C"/>
            </a:solidFill>
            <a:prstDash val="solid"/>
          </a:ln>
        </p:spPr>
      </p:sp>
      <p:sp>
        <p:nvSpPr>
          <p:cNvPr id="7" name="Text 5"/>
          <p:cNvSpPr txBox="1"/>
          <p:nvPr/>
        </p:nvSpPr>
        <p:spPr>
          <a:xfrm>
            <a:off x="4023360" y="2514600"/>
            <a:ext cx="1783080" cy="868680"/>
          </a:xfrm>
          <a:prstGeom prst="rect">
            <a:avLst/>
          </a:prstGeom>
          <a:noFill/>
          <a:ln/>
        </p:spPr>
        <p:txBody>
          <a:bodyPr wrap="square" lIns="0" tIns="0" rIns="0" bIns="0" rtlCol="0" anchor="t"/>
          <a:lstStyle/>
          <a:p>
            <a:pPr indent="0" marL="0">
              <a:buNone/>
            </a:pPr>
            <a:r>
              <a:rPr lang="en-US" sz="1400" b="1" dirty="0">
                <a:solidFill>
                  <a:srgbClr val="E8EBF0"/>
                </a:solidFill>
              </a:rPr>
              <a:t>Pages</a:t>
            </a:r>
            <a:endParaRPr lang="en-US" sz="1400" dirty="0"/>
          </a:p>
          <a:p>
            <a:pPr indent="0" marL="0">
              <a:buNone/>
            </a:pPr>
            <a:r>
              <a:rPr lang="en-US" sz="1100" dirty="0">
                <a:solidFill>
                  <a:srgbClr val="9AA4B2"/>
                </a:solidFill>
              </a:rPr>
              <a:t>Next.js 16 · React 19 · Tailwind · shadcn/ui</a:t>
            </a:r>
            <a:endParaRPr lang="en-US" sz="1400" dirty="0"/>
          </a:p>
        </p:txBody>
      </p:sp>
      <p:sp>
        <p:nvSpPr>
          <p:cNvPr id="8" name="Shape 6"/>
          <p:cNvSpPr/>
          <p:nvPr/>
        </p:nvSpPr>
        <p:spPr>
          <a:xfrm>
            <a:off x="6217920" y="2423160"/>
            <a:ext cx="2057400" cy="1051560"/>
          </a:xfrm>
          <a:prstGeom prst="roundRect">
            <a:avLst>
              <a:gd name="adj" fmla="val 8696"/>
            </a:avLst>
          </a:prstGeom>
          <a:solidFill>
            <a:srgbClr val="151A21"/>
          </a:solidFill>
          <a:ln w="19050">
            <a:solidFill>
              <a:srgbClr val="E3A93B"/>
            </a:solidFill>
            <a:prstDash val="solid"/>
          </a:ln>
        </p:spPr>
      </p:sp>
      <p:sp>
        <p:nvSpPr>
          <p:cNvPr id="9" name="Text 7"/>
          <p:cNvSpPr txBox="1"/>
          <p:nvPr/>
        </p:nvSpPr>
        <p:spPr>
          <a:xfrm>
            <a:off x="6355080" y="2514600"/>
            <a:ext cx="1783080" cy="868680"/>
          </a:xfrm>
          <a:prstGeom prst="rect">
            <a:avLst/>
          </a:prstGeom>
          <a:noFill/>
          <a:ln/>
        </p:spPr>
        <p:txBody>
          <a:bodyPr wrap="square" lIns="0" tIns="0" rIns="0" bIns="0" rtlCol="0" anchor="t"/>
          <a:lstStyle/>
          <a:p>
            <a:pPr indent="0" marL="0">
              <a:buNone/>
            </a:pPr>
            <a:r>
              <a:rPr lang="en-US" sz="1400" b="1" dirty="0">
                <a:solidFill>
                  <a:srgbClr val="E3A93B"/>
                </a:solidFill>
              </a:rPr>
              <a:t>Calculation engine</a:t>
            </a:r>
            <a:endParaRPr lang="en-US" sz="1400" dirty="0"/>
          </a:p>
          <a:p>
            <a:pPr indent="0" marL="0">
              <a:buNone/>
            </a:pPr>
            <a:r>
              <a:rPr lang="en-US" sz="1100" dirty="0">
                <a:solidFill>
                  <a:srgbClr val="9AA4B2"/>
                </a:solidFill>
              </a:rPr>
              <a:t>in a Web Worker, with 100 years of data and 2026 tax rules</a:t>
            </a:r>
            <a:endParaRPr lang="en-US" sz="1400" dirty="0"/>
          </a:p>
        </p:txBody>
      </p:sp>
      <p:sp>
        <p:nvSpPr>
          <p:cNvPr id="10" name="Shape 8"/>
          <p:cNvSpPr/>
          <p:nvPr/>
        </p:nvSpPr>
        <p:spPr>
          <a:xfrm>
            <a:off x="3886200" y="3703320"/>
            <a:ext cx="4389120" cy="1005840"/>
          </a:xfrm>
          <a:prstGeom prst="roundRect">
            <a:avLst>
              <a:gd name="adj" fmla="val 9091"/>
            </a:avLst>
          </a:prstGeom>
          <a:solidFill>
            <a:srgbClr val="151A21"/>
          </a:solidFill>
          <a:ln w="12700">
            <a:solidFill>
              <a:srgbClr val="2A313C"/>
            </a:solidFill>
            <a:prstDash val="solid"/>
          </a:ln>
        </p:spPr>
      </p:sp>
      <p:sp>
        <p:nvSpPr>
          <p:cNvPr id="11" name="Text 9"/>
          <p:cNvSpPr txBox="1"/>
          <p:nvPr/>
        </p:nvSpPr>
        <p:spPr>
          <a:xfrm>
            <a:off x="4023360" y="3794760"/>
            <a:ext cx="4114800" cy="822960"/>
          </a:xfrm>
          <a:prstGeom prst="rect">
            <a:avLst/>
          </a:prstGeom>
          <a:noFill/>
          <a:ln/>
        </p:spPr>
        <p:txBody>
          <a:bodyPr wrap="square" lIns="0" tIns="0" rIns="0" bIns="0" rtlCol="0" anchor="t"/>
          <a:lstStyle/>
          <a:p>
            <a:pPr indent="0" marL="0">
              <a:buNone/>
            </a:pPr>
            <a:r>
              <a:rPr lang="en-US" sz="1400" b="1" dirty="0">
                <a:solidFill>
                  <a:srgbClr val="E8EBF0"/>
                </a:solidFill>
              </a:rPr>
              <a:t>Local storage, first</a:t>
            </a:r>
            <a:endParaRPr lang="en-US" sz="1400" dirty="0"/>
          </a:p>
          <a:p>
            <a:pPr indent="0" marL="0">
              <a:buNone/>
            </a:pPr>
            <a:r>
              <a:rPr lang="en-US" sz="1100" dirty="0">
                <a:solidFill>
                  <a:srgbClr val="9AA4B2"/>
                </a:solidFill>
              </a:rPr>
              <a:t>household, scenarios and the Guide are saved here before anywhere else</a:t>
            </a:r>
            <a:endParaRPr lang="en-US" sz="1400" dirty="0"/>
          </a:p>
        </p:txBody>
      </p:sp>
      <p:sp>
        <p:nvSpPr>
          <p:cNvPr id="12" name="Shape 10"/>
          <p:cNvSpPr/>
          <p:nvPr/>
        </p:nvSpPr>
        <p:spPr>
          <a:xfrm>
            <a:off x="548640" y="1965960"/>
            <a:ext cx="2514600" cy="914400"/>
          </a:xfrm>
          <a:prstGeom prst="roundRect">
            <a:avLst>
              <a:gd name="adj" fmla="val 12000"/>
            </a:avLst>
          </a:prstGeom>
          <a:solidFill>
            <a:srgbClr val="151A21"/>
          </a:solidFill>
          <a:ln w="12700">
            <a:solidFill>
              <a:srgbClr val="2A313C"/>
            </a:solidFill>
            <a:prstDash val="solid"/>
          </a:ln>
        </p:spPr>
      </p:sp>
      <p:sp>
        <p:nvSpPr>
          <p:cNvPr id="13" name="Text 11"/>
          <p:cNvSpPr txBox="1"/>
          <p:nvPr/>
        </p:nvSpPr>
        <p:spPr>
          <a:xfrm>
            <a:off x="731520" y="2075688"/>
            <a:ext cx="2194560" cy="731520"/>
          </a:xfrm>
          <a:prstGeom prst="rect">
            <a:avLst/>
          </a:prstGeom>
          <a:noFill/>
          <a:ln/>
        </p:spPr>
        <p:txBody>
          <a:bodyPr wrap="square" lIns="0" tIns="0" rIns="0" bIns="0" rtlCol="0" anchor="t"/>
          <a:lstStyle/>
          <a:p>
            <a:pPr indent="0" marL="0">
              <a:buNone/>
            </a:pPr>
            <a:r>
              <a:rPr lang="en-US" sz="1400" b="1" dirty="0">
                <a:solidFill>
                  <a:srgbClr val="E8EBF0"/>
                </a:solidFill>
              </a:rPr>
              <a:t>Vercel</a:t>
            </a:r>
            <a:endParaRPr lang="en-US" sz="1400" dirty="0"/>
          </a:p>
          <a:p>
            <a:pPr indent="0" marL="0">
              <a:buNone/>
            </a:pPr>
            <a:r>
              <a:rPr lang="en-US" sz="1100" dirty="0">
                <a:solidFill>
                  <a:srgbClr val="9AA4B2"/>
                </a:solidFill>
              </a:rPr>
              <a:t>prerendered pages from main</a:t>
            </a:r>
            <a:endParaRPr lang="en-US" sz="1400" dirty="0"/>
          </a:p>
        </p:txBody>
      </p:sp>
      <p:sp>
        <p:nvSpPr>
          <p:cNvPr id="14" name="Shape 12"/>
          <p:cNvSpPr/>
          <p:nvPr/>
        </p:nvSpPr>
        <p:spPr>
          <a:xfrm>
            <a:off x="548640" y="3246120"/>
            <a:ext cx="2514600" cy="914400"/>
          </a:xfrm>
          <a:prstGeom prst="roundRect">
            <a:avLst>
              <a:gd name="adj" fmla="val 12000"/>
            </a:avLst>
          </a:prstGeom>
          <a:solidFill>
            <a:srgbClr val="151A21"/>
          </a:solidFill>
          <a:ln w="12700">
            <a:solidFill>
              <a:srgbClr val="2A313C"/>
            </a:solidFill>
            <a:prstDash val="solid"/>
          </a:ln>
        </p:spPr>
      </p:sp>
      <p:sp>
        <p:nvSpPr>
          <p:cNvPr id="15" name="Text 13"/>
          <p:cNvSpPr txBox="1"/>
          <p:nvPr/>
        </p:nvSpPr>
        <p:spPr>
          <a:xfrm>
            <a:off x="731520" y="3355848"/>
            <a:ext cx="2194560" cy="731520"/>
          </a:xfrm>
          <a:prstGeom prst="rect">
            <a:avLst/>
          </a:prstGeom>
          <a:noFill/>
          <a:ln/>
        </p:spPr>
        <p:txBody>
          <a:bodyPr wrap="square" lIns="0" tIns="0" rIns="0" bIns="0" rtlCol="0" anchor="t"/>
          <a:lstStyle/>
          <a:p>
            <a:pPr indent="0" marL="0">
              <a:buNone/>
            </a:pPr>
            <a:r>
              <a:rPr lang="en-US" sz="1400" b="1" dirty="0">
                <a:solidFill>
                  <a:srgbClr val="E8EBF0"/>
                </a:solidFill>
              </a:rPr>
              <a:t>Cloudflare</a:t>
            </a:r>
            <a:endParaRPr lang="en-US" sz="1400" dirty="0"/>
          </a:p>
          <a:p>
            <a:pPr indent="0" marL="0">
              <a:buNone/>
            </a:pPr>
            <a:r>
              <a:rPr lang="en-US" sz="1100" dirty="0">
                <a:solidFill>
                  <a:srgbClr val="9AA4B2"/>
                </a:solidFill>
              </a:rPr>
              <a:t>DNS and cookieless page counts</a:t>
            </a:r>
            <a:endParaRPr lang="en-US" sz="1400" dirty="0"/>
          </a:p>
        </p:txBody>
      </p:sp>
      <p:sp>
        <p:nvSpPr>
          <p:cNvPr id="16" name="Shape 14"/>
          <p:cNvSpPr/>
          <p:nvPr/>
        </p:nvSpPr>
        <p:spPr>
          <a:xfrm>
            <a:off x="9128455" y="1691640"/>
            <a:ext cx="2514600" cy="914400"/>
          </a:xfrm>
          <a:prstGeom prst="roundRect">
            <a:avLst>
              <a:gd name="adj" fmla="val 12000"/>
            </a:avLst>
          </a:prstGeom>
          <a:solidFill>
            <a:srgbClr val="151A21"/>
          </a:solidFill>
          <a:ln w="12700">
            <a:solidFill>
              <a:srgbClr val="46B9A6"/>
            </a:solidFill>
            <a:prstDash val="solid"/>
          </a:ln>
        </p:spPr>
      </p:sp>
      <p:sp>
        <p:nvSpPr>
          <p:cNvPr id="17" name="Text 15"/>
          <p:cNvSpPr txBox="1"/>
          <p:nvPr/>
        </p:nvSpPr>
        <p:spPr>
          <a:xfrm>
            <a:off x="9311335" y="1801368"/>
            <a:ext cx="2194560" cy="731520"/>
          </a:xfrm>
          <a:prstGeom prst="rect">
            <a:avLst/>
          </a:prstGeom>
          <a:noFill/>
          <a:ln/>
        </p:spPr>
        <p:txBody>
          <a:bodyPr wrap="square" lIns="0" tIns="0" rIns="0" bIns="0" rtlCol="0" anchor="t"/>
          <a:lstStyle/>
          <a:p>
            <a:pPr indent="0" marL="0">
              <a:buNone/>
            </a:pPr>
            <a:r>
              <a:rPr lang="en-US" sz="1400" b="1" dirty="0">
                <a:solidFill>
                  <a:srgbClr val="E8EBF0"/>
                </a:solidFill>
              </a:rPr>
              <a:t>Supabase</a:t>
            </a:r>
            <a:endParaRPr lang="en-US" sz="1400" dirty="0"/>
          </a:p>
          <a:p>
            <a:pPr indent="0" marL="0">
              <a:buNone/>
            </a:pPr>
            <a:r>
              <a:rPr lang="en-US" sz="1100" dirty="0">
                <a:solidFill>
                  <a:srgbClr val="9AA4B2"/>
                </a:solidFill>
              </a:rPr>
              <a:t>optional accounts, each user's rows locked to them</a:t>
            </a:r>
            <a:endParaRPr lang="en-US" sz="1400" dirty="0"/>
          </a:p>
        </p:txBody>
      </p:sp>
      <p:sp>
        <p:nvSpPr>
          <p:cNvPr id="18" name="Shape 16"/>
          <p:cNvSpPr/>
          <p:nvPr/>
        </p:nvSpPr>
        <p:spPr>
          <a:xfrm>
            <a:off x="9128455" y="2788920"/>
            <a:ext cx="2514600" cy="914400"/>
          </a:xfrm>
          <a:prstGeom prst="roundRect">
            <a:avLst>
              <a:gd name="adj" fmla="val 12000"/>
            </a:avLst>
          </a:prstGeom>
          <a:solidFill>
            <a:srgbClr val="151A21"/>
          </a:solidFill>
          <a:ln w="12700">
            <a:solidFill>
              <a:srgbClr val="2A313C"/>
            </a:solidFill>
            <a:prstDash val="solid"/>
          </a:ln>
        </p:spPr>
      </p:sp>
      <p:sp>
        <p:nvSpPr>
          <p:cNvPr id="19" name="Text 17"/>
          <p:cNvSpPr txBox="1"/>
          <p:nvPr/>
        </p:nvSpPr>
        <p:spPr>
          <a:xfrm>
            <a:off x="9311335" y="2898648"/>
            <a:ext cx="2194560" cy="731520"/>
          </a:xfrm>
          <a:prstGeom prst="rect">
            <a:avLst/>
          </a:prstGeom>
          <a:noFill/>
          <a:ln/>
        </p:spPr>
        <p:txBody>
          <a:bodyPr wrap="square" lIns="0" tIns="0" rIns="0" bIns="0" rtlCol="0" anchor="t"/>
          <a:lstStyle/>
          <a:p>
            <a:pPr indent="0" marL="0">
              <a:buNone/>
            </a:pPr>
            <a:r>
              <a:rPr lang="en-US" sz="1400" b="1" dirty="0">
                <a:solidFill>
                  <a:srgbClr val="E8EBF0"/>
                </a:solidFill>
              </a:rPr>
              <a:t>Resend</a:t>
            </a:r>
            <a:endParaRPr lang="en-US" sz="1400" dirty="0"/>
          </a:p>
          <a:p>
            <a:pPr indent="0" marL="0">
              <a:buNone/>
            </a:pPr>
            <a:r>
              <a:rPr lang="en-US" sz="1100" dirty="0">
                <a:solidFill>
                  <a:srgbClr val="9AA4B2"/>
                </a:solidFill>
              </a:rPr>
              <a:t>the 6-digit sign-in codes</a:t>
            </a:r>
            <a:endParaRPr lang="en-US" sz="1400" dirty="0"/>
          </a:p>
        </p:txBody>
      </p:sp>
      <p:sp>
        <p:nvSpPr>
          <p:cNvPr id="20" name="Shape 18"/>
          <p:cNvSpPr/>
          <p:nvPr/>
        </p:nvSpPr>
        <p:spPr>
          <a:xfrm>
            <a:off x="9128455" y="3886200"/>
            <a:ext cx="2514600" cy="914400"/>
          </a:xfrm>
          <a:prstGeom prst="roundRect">
            <a:avLst>
              <a:gd name="adj" fmla="val 12000"/>
            </a:avLst>
          </a:prstGeom>
          <a:solidFill>
            <a:srgbClr val="151A21"/>
          </a:solidFill>
          <a:ln w="12700">
            <a:solidFill>
              <a:srgbClr val="2A313C"/>
            </a:solidFill>
            <a:prstDash val="solid"/>
          </a:ln>
        </p:spPr>
      </p:sp>
      <p:sp>
        <p:nvSpPr>
          <p:cNvPr id="21" name="Text 19"/>
          <p:cNvSpPr txBox="1"/>
          <p:nvPr/>
        </p:nvSpPr>
        <p:spPr>
          <a:xfrm>
            <a:off x="9311335" y="3995928"/>
            <a:ext cx="2194560" cy="731520"/>
          </a:xfrm>
          <a:prstGeom prst="rect">
            <a:avLst/>
          </a:prstGeom>
          <a:noFill/>
          <a:ln/>
        </p:spPr>
        <p:txBody>
          <a:bodyPr wrap="square" lIns="0" tIns="0" rIns="0" bIns="0" rtlCol="0" anchor="t"/>
          <a:lstStyle/>
          <a:p>
            <a:pPr indent="0" marL="0">
              <a:buNone/>
            </a:pPr>
            <a:r>
              <a:rPr lang="en-US" sz="1400" b="1" dirty="0">
                <a:solidFill>
                  <a:srgbClr val="E8EBF0"/>
                </a:solidFill>
              </a:rPr>
              <a:t>Sentry</a:t>
            </a:r>
            <a:endParaRPr lang="en-US" sz="1400" dirty="0"/>
          </a:p>
          <a:p>
            <a:pPr indent="0" marL="0">
              <a:buNone/>
            </a:pPr>
            <a:r>
              <a:rPr lang="en-US" sz="1100" dirty="0">
                <a:solidFill>
                  <a:srgbClr val="9AA4B2"/>
                </a:solidFill>
              </a:rPr>
              <a:t>errors only, inputs stripped</a:t>
            </a:r>
            <a:endParaRPr lang="en-US" sz="1400" dirty="0"/>
          </a:p>
        </p:txBody>
      </p:sp>
      <p:sp>
        <p:nvSpPr>
          <p:cNvPr id="22" name="Shape 20"/>
          <p:cNvSpPr/>
          <p:nvPr/>
        </p:nvSpPr>
        <p:spPr>
          <a:xfrm>
            <a:off x="3063240" y="2423160"/>
            <a:ext cx="548640" cy="0"/>
          </a:xfrm>
          <a:prstGeom prst="line">
            <a:avLst/>
          </a:prstGeom>
          <a:noFill/>
          <a:ln w="15875">
            <a:solidFill>
              <a:srgbClr val="9AA4B2"/>
            </a:solidFill>
            <a:prstDash val="solid"/>
            <a:tailEnd type="triangle"/>
          </a:ln>
        </p:spPr>
      </p:sp>
      <p:sp>
        <p:nvSpPr>
          <p:cNvPr id="23" name="Shape 21"/>
          <p:cNvSpPr/>
          <p:nvPr/>
        </p:nvSpPr>
        <p:spPr>
          <a:xfrm>
            <a:off x="8549640" y="2148840"/>
            <a:ext cx="578815" cy="0"/>
          </a:xfrm>
          <a:prstGeom prst="line">
            <a:avLst/>
          </a:prstGeom>
          <a:noFill/>
          <a:ln w="15875">
            <a:solidFill>
              <a:srgbClr val="9AA4B2"/>
            </a:solidFill>
            <a:prstDash val="solid"/>
            <a:tailEnd type="triangle"/>
          </a:ln>
        </p:spPr>
      </p:sp>
      <p:sp>
        <p:nvSpPr>
          <p:cNvPr id="24" name="Text 22"/>
          <p:cNvSpPr txBox="1"/>
          <p:nvPr/>
        </p:nvSpPr>
        <p:spPr>
          <a:xfrm>
            <a:off x="548640" y="5257800"/>
            <a:ext cx="2651760" cy="457200"/>
          </a:xfrm>
          <a:prstGeom prst="rect">
            <a:avLst/>
          </a:prstGeom>
          <a:noFill/>
          <a:ln/>
        </p:spPr>
        <p:txBody>
          <a:bodyPr wrap="square" lIns="0" tIns="0" rIns="0" bIns="0" rtlCol="0" anchor="t"/>
          <a:lstStyle/>
          <a:p>
            <a:pPr indent="0" marL="0">
              <a:buNone/>
            </a:pPr>
            <a:r>
              <a:rPr lang="en-US" sz="3000" b="1" dirty="0">
                <a:solidFill>
                  <a:srgbClr val="E8EBF0"/>
                </a:solidFill>
              </a:rPr>
              <a:t>39</a:t>
            </a:r>
            <a:endParaRPr lang="en-US" sz="3000" dirty="0"/>
          </a:p>
        </p:txBody>
      </p:sp>
      <p:sp>
        <p:nvSpPr>
          <p:cNvPr id="25" name="Text 23"/>
          <p:cNvSpPr txBox="1"/>
          <p:nvPr/>
        </p:nvSpPr>
        <p:spPr>
          <a:xfrm>
            <a:off x="548640" y="5751576"/>
            <a:ext cx="2651760" cy="411480"/>
          </a:xfrm>
          <a:prstGeom prst="rect">
            <a:avLst/>
          </a:prstGeom>
          <a:noFill/>
          <a:ln/>
        </p:spPr>
        <p:txBody>
          <a:bodyPr wrap="square" lIns="0" tIns="0" rIns="0" bIns="0" rtlCol="0" anchor="t"/>
          <a:lstStyle/>
          <a:p>
            <a:pPr indent="0" marL="0">
              <a:buNone/>
            </a:pPr>
            <a:r>
              <a:rPr lang="en-US" sz="1200" dirty="0">
                <a:solidFill>
                  <a:srgbClr val="9AA4B2"/>
                </a:solidFill>
              </a:rPr>
              <a:t>page routes</a:t>
            </a:r>
            <a:endParaRPr lang="en-US" sz="1200" dirty="0"/>
          </a:p>
        </p:txBody>
      </p:sp>
      <p:sp>
        <p:nvSpPr>
          <p:cNvPr id="26" name="Text 24"/>
          <p:cNvSpPr txBox="1"/>
          <p:nvPr/>
        </p:nvSpPr>
        <p:spPr>
          <a:xfrm>
            <a:off x="3337560" y="5257800"/>
            <a:ext cx="2651760" cy="457200"/>
          </a:xfrm>
          <a:prstGeom prst="rect">
            <a:avLst/>
          </a:prstGeom>
          <a:noFill/>
          <a:ln/>
        </p:spPr>
        <p:txBody>
          <a:bodyPr wrap="square" lIns="0" tIns="0" rIns="0" bIns="0" rtlCol="0" anchor="t"/>
          <a:lstStyle/>
          <a:p>
            <a:pPr indent="0" marL="0">
              <a:buNone/>
            </a:pPr>
            <a:r>
              <a:rPr lang="en-US" sz="3000" b="1" dirty="0">
                <a:solidFill>
                  <a:srgbClr val="E3A93B"/>
                </a:solidFill>
              </a:rPr>
              <a:t>~618</a:t>
            </a:r>
            <a:endParaRPr lang="en-US" sz="3000" dirty="0"/>
          </a:p>
        </p:txBody>
      </p:sp>
      <p:sp>
        <p:nvSpPr>
          <p:cNvPr id="27" name="Text 25"/>
          <p:cNvSpPr txBox="1"/>
          <p:nvPr/>
        </p:nvSpPr>
        <p:spPr>
          <a:xfrm>
            <a:off x="3337560" y="5751576"/>
            <a:ext cx="2651760" cy="411480"/>
          </a:xfrm>
          <a:prstGeom prst="rect">
            <a:avLst/>
          </a:prstGeom>
          <a:noFill/>
          <a:ln/>
        </p:spPr>
        <p:txBody>
          <a:bodyPr wrap="square" lIns="0" tIns="0" rIns="0" bIns="0" rtlCol="0" anchor="t"/>
          <a:lstStyle/>
          <a:p>
            <a:pPr indent="0" marL="0">
              <a:buNone/>
            </a:pPr>
            <a:r>
              <a:rPr lang="en-US" sz="1200" dirty="0">
                <a:solidFill>
                  <a:srgbClr val="9AA4B2"/>
                </a:solidFill>
              </a:rPr>
              <a:t>automated checks before every commit</a:t>
            </a:r>
            <a:endParaRPr lang="en-US" sz="1200" dirty="0"/>
          </a:p>
        </p:txBody>
      </p:sp>
      <p:sp>
        <p:nvSpPr>
          <p:cNvPr id="28" name="Text 26"/>
          <p:cNvSpPr txBox="1"/>
          <p:nvPr/>
        </p:nvSpPr>
        <p:spPr>
          <a:xfrm>
            <a:off x="6126480" y="5257800"/>
            <a:ext cx="2651760" cy="457200"/>
          </a:xfrm>
          <a:prstGeom prst="rect">
            <a:avLst/>
          </a:prstGeom>
          <a:noFill/>
          <a:ln/>
        </p:spPr>
        <p:txBody>
          <a:bodyPr wrap="square" lIns="0" tIns="0" rIns="0" bIns="0" rtlCol="0" anchor="t"/>
          <a:lstStyle/>
          <a:p>
            <a:pPr indent="0" marL="0">
              <a:buNone/>
            </a:pPr>
            <a:r>
              <a:rPr lang="en-US" sz="3000" b="1" dirty="0">
                <a:solidFill>
                  <a:srgbClr val="E8EBF0"/>
                </a:solidFill>
              </a:rPr>
              <a:t>22</a:t>
            </a:r>
            <a:endParaRPr lang="en-US" sz="3000" dirty="0"/>
          </a:p>
        </p:txBody>
      </p:sp>
      <p:sp>
        <p:nvSpPr>
          <p:cNvPr id="29" name="Text 27"/>
          <p:cNvSpPr txBox="1"/>
          <p:nvPr/>
        </p:nvSpPr>
        <p:spPr>
          <a:xfrm>
            <a:off x="6126480" y="5751576"/>
            <a:ext cx="2651760" cy="411480"/>
          </a:xfrm>
          <a:prstGeom prst="rect">
            <a:avLst/>
          </a:prstGeom>
          <a:noFill/>
          <a:ln/>
        </p:spPr>
        <p:txBody>
          <a:bodyPr wrap="square" lIns="0" tIns="0" rIns="0" bIns="0" rtlCol="0" anchor="t"/>
          <a:lstStyle/>
          <a:p>
            <a:pPr indent="0" marL="0">
              <a:buNone/>
            </a:pPr>
            <a:r>
              <a:rPr lang="en-US" sz="1200" dirty="0">
                <a:solidFill>
                  <a:srgbClr val="9AA4B2"/>
                </a:solidFill>
              </a:rPr>
              <a:t>tracked figures, each with a source</a:t>
            </a:r>
            <a:endParaRPr lang="en-US" sz="1200" dirty="0"/>
          </a:p>
        </p:txBody>
      </p:sp>
      <p:sp>
        <p:nvSpPr>
          <p:cNvPr id="30" name="Text 28"/>
          <p:cNvSpPr txBox="1"/>
          <p:nvPr/>
        </p:nvSpPr>
        <p:spPr>
          <a:xfrm>
            <a:off x="8915400" y="5257800"/>
            <a:ext cx="2651760" cy="457200"/>
          </a:xfrm>
          <a:prstGeom prst="rect">
            <a:avLst/>
          </a:prstGeom>
          <a:noFill/>
          <a:ln/>
        </p:spPr>
        <p:txBody>
          <a:bodyPr wrap="square" lIns="0" tIns="0" rIns="0" bIns="0" rtlCol="0" anchor="t"/>
          <a:lstStyle/>
          <a:p>
            <a:pPr indent="0" marL="0">
              <a:buNone/>
            </a:pPr>
            <a:r>
              <a:rPr lang="en-US" sz="3000" b="1" dirty="0">
                <a:solidFill>
                  <a:srgbClr val="E8EBF0"/>
                </a:solidFill>
              </a:rPr>
              <a:t>0</a:t>
            </a:r>
            <a:endParaRPr lang="en-US" sz="3000" dirty="0"/>
          </a:p>
        </p:txBody>
      </p:sp>
      <p:sp>
        <p:nvSpPr>
          <p:cNvPr id="31" name="Text 29"/>
          <p:cNvSpPr txBox="1"/>
          <p:nvPr/>
        </p:nvSpPr>
        <p:spPr>
          <a:xfrm>
            <a:off x="8915400" y="5751576"/>
            <a:ext cx="2651760" cy="411480"/>
          </a:xfrm>
          <a:prstGeom prst="rect">
            <a:avLst/>
          </a:prstGeom>
          <a:noFill/>
          <a:ln/>
        </p:spPr>
        <p:txBody>
          <a:bodyPr wrap="square" lIns="0" tIns="0" rIns="0" bIns="0" rtlCol="0" anchor="t"/>
          <a:lstStyle/>
          <a:p>
            <a:pPr indent="0" marL="0">
              <a:buNone/>
            </a:pPr>
            <a:r>
              <a:rPr lang="en-US" sz="1200" dirty="0">
                <a:solidFill>
                  <a:srgbClr val="9AA4B2"/>
                </a:solidFill>
              </a:rPr>
              <a:t>API routes taking your inputs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erikalfriend/Projects/RetCalc/.claude/worktrees/marketing-package/marketing/deck/img/close_fan.png">    </p:cNvPr>
          <p:cNvPicPr>
            <a:picLocks noChangeAspect="1"/>
          </p:cNvPicPr>
          <p:nvPr/>
        </p:nvPicPr>
        <p:blipFill>
          <a:blip r:embed="rId1">
            <a:alphaModFix amt="45000"/>
          </a:blip>
          <a:stretch>
            <a:fillRect/>
          </a:stretch>
        </p:blipFill>
        <p:spPr>
          <a:xfrm>
            <a:off x="0" y="2560320"/>
            <a:ext cx="12191695" cy="4298647"/>
          </a:xfrm>
          <a:prstGeom prst="rect">
            <a:avLst/>
          </a:prstGeom>
        </p:spPr>
      </p:pic>
      <p:pic>
        <p:nvPicPr>
          <p:cNvPr id="3" name="Image 1" descr="/Users/erikalfriend/Projects/RetCalc/.claude/worktrees/marketing-package/marketing/deck/img/logo.png">    </p:cNvPr>
          <p:cNvPicPr>
            <a:picLocks noChangeAspect="1"/>
          </p:cNvPicPr>
          <p:nvPr/>
        </p:nvPicPr>
        <p:blipFill>
          <a:blip r:embed="rId2"/>
          <a:stretch>
            <a:fillRect/>
          </a:stretch>
        </p:blipFill>
        <p:spPr>
          <a:xfrm>
            <a:off x="548640" y="548640"/>
            <a:ext cx="502920" cy="502920"/>
          </a:xfrm>
          <a:prstGeom prst="rect">
            <a:avLst/>
          </a:prstGeom>
        </p:spPr>
      </p:pic>
      <p:sp>
        <p:nvSpPr>
          <p:cNvPr id="4" name="Text 0"/>
          <p:cNvSpPr txBox="1"/>
          <p:nvPr/>
        </p:nvSpPr>
        <p:spPr>
          <a:xfrm>
            <a:off x="1161288" y="548640"/>
            <a:ext cx="1828800" cy="502920"/>
          </a:xfrm>
          <a:prstGeom prst="rect">
            <a:avLst/>
          </a:prstGeom>
          <a:noFill/>
          <a:ln/>
        </p:spPr>
        <p:txBody>
          <a:bodyPr wrap="square" lIns="0" tIns="0" rIns="0" bIns="0" rtlCol="0" anchor="ctr"/>
          <a:lstStyle/>
          <a:p>
            <a:pPr indent="0" marL="0">
              <a:buNone/>
            </a:pPr>
            <a:r>
              <a:rPr lang="en-US" sz="1870" b="1" dirty="0">
                <a:solidFill>
                  <a:srgbClr val="E8EBF0"/>
                </a:solidFill>
              </a:rPr>
              <a:t>RetCalc</a:t>
            </a:r>
            <a:endParaRPr lang="en-US" sz="1870" dirty="0"/>
          </a:p>
        </p:txBody>
      </p:sp>
      <p:sp>
        <p:nvSpPr>
          <p:cNvPr id="5" name="Text 1"/>
          <p:cNvSpPr txBox="1"/>
          <p:nvPr/>
        </p:nvSpPr>
        <p:spPr>
          <a:xfrm>
            <a:off x="548640" y="1600200"/>
            <a:ext cx="10058400" cy="1097280"/>
          </a:xfrm>
          <a:prstGeom prst="rect">
            <a:avLst/>
          </a:prstGeom>
          <a:noFill/>
          <a:ln/>
        </p:spPr>
        <p:txBody>
          <a:bodyPr wrap="square" lIns="0" tIns="0" rIns="0" bIns="0" rtlCol="0" anchor="t"/>
          <a:lstStyle/>
          <a:p>
            <a:pPr indent="0" marL="0">
              <a:buNone/>
            </a:pPr>
            <a:r>
              <a:rPr lang="en-US" sz="5400" b="1" dirty="0">
                <a:solidFill>
                  <a:srgbClr val="E8EBF0"/>
                </a:solidFill>
              </a:rPr>
              <a:t>Find out where you stand.</a:t>
            </a:r>
            <a:endParaRPr lang="en-US" sz="5400" dirty="0"/>
          </a:p>
        </p:txBody>
      </p:sp>
      <p:sp>
        <p:nvSpPr>
          <p:cNvPr id="6" name="Text 2"/>
          <p:cNvSpPr txBox="1"/>
          <p:nvPr/>
        </p:nvSpPr>
        <p:spPr>
          <a:xfrm>
            <a:off x="548640" y="2697480"/>
            <a:ext cx="8229600" cy="457200"/>
          </a:xfrm>
          <a:prstGeom prst="rect">
            <a:avLst/>
          </a:prstGeom>
          <a:noFill/>
          <a:ln/>
        </p:spPr>
        <p:txBody>
          <a:bodyPr wrap="square" lIns="0" tIns="0" rIns="0" bIns="0" rtlCol="0" anchor="t"/>
          <a:lstStyle/>
          <a:p>
            <a:pPr indent="0" marL="0">
              <a:buNone/>
            </a:pPr>
            <a:r>
              <a:rPr lang="en-US" sz="2000" dirty="0">
                <a:solidFill>
                  <a:srgbClr val="9AA4B2"/>
                </a:solidFill>
              </a:rPr>
              <a:t>Free, private, and tested against every market since 1926.</a:t>
            </a:r>
            <a:endParaRPr lang="en-US" sz="2000" dirty="0"/>
          </a:p>
        </p:txBody>
      </p:sp>
      <p:sp>
        <p:nvSpPr>
          <p:cNvPr id="7" name="Text 3"/>
          <p:cNvSpPr txBox="1"/>
          <p:nvPr/>
        </p:nvSpPr>
        <p:spPr>
          <a:xfrm>
            <a:off x="548640" y="3383280"/>
            <a:ext cx="4572000" cy="640080"/>
          </a:xfrm>
          <a:prstGeom prst="rect">
            <a:avLst/>
          </a:prstGeom>
          <a:noFill/>
          <a:ln/>
        </p:spPr>
        <p:txBody>
          <a:bodyPr wrap="square" lIns="0" tIns="0" rIns="0" bIns="0" rtlCol="0" anchor="t"/>
          <a:lstStyle/>
          <a:p>
            <a:pPr indent="0" marL="0">
              <a:buNone/>
            </a:pPr>
            <a:r>
              <a:rPr lang="en-US" sz="3200" b="1" u="sng" dirty="0">
                <a:solidFill>
                  <a:srgbClr val="E3A93B"/>
                </a:solidFill>
                <a:hlinkClick r:id="rId3" invalidUrl="" action="" tgtFrame="" tooltip="https://retcalc.app" history="1" highlightClick="0" endSnd="0">
                  <a:extLst>
                    <a:ext uri="{A12FA001-AC4F-418D-AE19-62706E023703}">
                      <ahyp:hlinkClr xmlns:ahyp="http://schemas.microsoft.com/office/drawing/2018/hyperlinkcolor" val="tx"/>
                    </a:ext>
                  </a:extLst>
                </a:hlinkClick>
              </a:rPr>
              <a:t>retcalc.app</a:t>
            </a:r>
            <a:endParaRPr lang="en-US" sz="3200" dirty="0"/>
          </a:p>
        </p:txBody>
      </p:sp>
      <p:sp>
        <p:nvSpPr>
          <p:cNvPr id="8" name="Text 4"/>
          <p:cNvSpPr txBox="1"/>
          <p:nvPr/>
        </p:nvSpPr>
        <p:spPr>
          <a:xfrm>
            <a:off x="548640" y="6309360"/>
            <a:ext cx="8229600" cy="320040"/>
          </a:xfrm>
          <a:prstGeom prst="rect">
            <a:avLst/>
          </a:prstGeom>
          <a:noFill/>
          <a:ln/>
        </p:spPr>
        <p:txBody>
          <a:bodyPr wrap="square" lIns="0" tIns="0" rIns="0" bIns="0" rtlCol="0" anchor="t"/>
          <a:lstStyle/>
          <a:p>
            <a:pPr indent="0" marL="0">
              <a:buNone/>
            </a:pPr>
            <a:r>
              <a:rPr lang="en-US" sz="1200" dirty="0">
                <a:solidFill>
                  <a:srgbClr val="9AA4B2"/>
                </a:solidFill>
              </a:rPr>
              <a:t>Appendix: every tool, the full build, and where the numbers come from.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7315200" cy="365760"/>
          </a:xfrm>
          <a:prstGeom prst="rect">
            <a:avLst/>
          </a:prstGeom>
          <a:noFill/>
          <a:ln/>
        </p:spPr>
        <p:txBody>
          <a:bodyPr wrap="square" lIns="0" tIns="0" rIns="0" bIns="0" rtlCol="0"/>
          <a:lstStyle/>
          <a:p>
            <a:pPr algn="l" indent="0" marL="0">
              <a:buNone/>
            </a:pPr>
            <a:r>
              <a:rPr lang="en-US" sz="1400" b="1" spc="300" kern="0" dirty="0">
                <a:solidFill>
                  <a:schemeClr val="accent1"/>
                </a:solidFill>
              </a:rPr>
              <a:t>APPENDIX</a:t>
            </a:r>
            <a:endParaRPr lang="en-US" sz="1400" dirty="0"/>
          </a:p>
        </p:txBody>
      </p:sp>
      <p:sp>
        <p:nvSpPr>
          <p:cNvPr id="3" name="Text 0"/>
          <p:cNvSpPr/>
          <p:nvPr>
            <p:ph idx="101" type="title" hasCustomPrompt="1"/>
          </p:nvPr>
        </p:nvSpPr>
        <p:spPr>
          <a:xfrm>
            <a:off x="548640" y="1828800"/>
            <a:ext cx="6400800" cy="2743200"/>
          </a:xfrm>
          <a:prstGeom prst="rect">
            <a:avLst/>
          </a:prstGeom>
          <a:noFill/>
          <a:ln/>
        </p:spPr>
        <p:txBody>
          <a:bodyPr wrap="square" lIns="0" tIns="0" rIns="0" bIns="0" rtlCol="0" anchor="b"/>
          <a:lstStyle/>
          <a:p>
            <a:pPr algn="l" indent="0" marL="0">
              <a:buNone/>
            </a:pPr>
            <a:r>
              <a:rPr lang="en-US" sz="6000" b="1" dirty="0">
                <a:solidFill>
                  <a:schemeClr val="bg2"/>
                </a:solidFill>
              </a:rPr>
              <a:t>Every tool, and the whole build</a:t>
            </a:r>
            <a:endParaRPr lang="en-US" sz="6000" dirty="0"/>
          </a:p>
        </p:txBody>
      </p:sp>
      <p:sp>
        <p:nvSpPr>
          <p:cNvPr id="4" name="Text 2"/>
          <p:cNvSpPr txBox="1"/>
          <p:nvPr/>
        </p:nvSpPr>
        <p:spPr>
          <a:xfrm>
            <a:off x="7086600" y="1005840"/>
            <a:ext cx="2377440" cy="5394960"/>
          </a:xfrm>
          <a:prstGeom prst="rect">
            <a:avLst/>
          </a:prstGeom>
          <a:noFill/>
          <a:ln/>
        </p:spPr>
        <p:txBody>
          <a:bodyPr wrap="square" lIns="0" tIns="0" rIns="0" bIns="0" rtlCol="0" anchor="t"/>
          <a:lstStyle/>
          <a:p>
            <a:pPr indent="0" marL="0">
              <a:spcAft>
                <a:spcPts val="400"/>
              </a:spcAft>
              <a:buNone/>
            </a:pPr>
            <a:r>
              <a:rPr lang="en-US" sz="1100" u="sng" dirty="0">
                <a:solidFill>
                  <a:srgbClr val="E8EBF0"/>
                </a:solidFill>
                <a:hlinkClick r:id="rId1" action="ppaction://hlinksldjump" tooltip="">
                  <a:extLst>
                    <a:ext uri="{A12FA001-AC4F-418D-AE19-62706E023703}">
                      <ahyp:hlinkClr xmlns:ahyp="http://schemas.microsoft.com/office/drawing/2018/hyperlinkcolor" val="tx"/>
                    </a:ext>
                  </a:extLst>
                </a:hlinkClick>
              </a:rPr>
              <a:t>16   Every tool at a glance</a:t>
            </a:r>
            <a:endParaRPr lang="en-US" sz="1100" dirty="0"/>
          </a:p>
          <a:p>
            <a:pPr indent="0" marL="0">
              <a:spcAft>
                <a:spcPts val="400"/>
              </a:spcAft>
              <a:buNone/>
            </a:pPr>
            <a:r>
              <a:rPr lang="en-US" sz="1100" u="sng" dirty="0">
                <a:solidFill>
                  <a:srgbClr val="E8EBF0"/>
                </a:solidFill>
                <a:hlinkClick r:id="rId2" action="ppaction://hlinksldjump" tooltip="">
                  <a:extLst>
                    <a:ext uri="{A12FA001-AC4F-418D-AE19-62706E023703}">
                      <ahyp:hlinkClr xmlns:ahyp="http://schemas.microsoft.com/office/drawing/2018/hyperlinkcolor" val="tx"/>
                    </a:ext>
                  </a:extLst>
                </a:hlinkClick>
              </a:rPr>
              <a:t>17   Basic and Advanced</a:t>
            </a:r>
            <a:endParaRPr lang="en-US" sz="1100" dirty="0"/>
          </a:p>
          <a:p>
            <a:pPr indent="0" marL="0">
              <a:spcAft>
                <a:spcPts val="400"/>
              </a:spcAft>
              <a:buNone/>
            </a:pPr>
            <a:r>
              <a:rPr lang="en-US" sz="1100" u="sng" dirty="0">
                <a:solidFill>
                  <a:srgbClr val="E8EBF0"/>
                </a:solidFill>
                <a:hlinkClick r:id="rId3" action="ppaction://hlinksldjump" tooltip="">
                  <a:extLst>
                    <a:ext uri="{A12FA001-AC4F-418D-AE19-62706E023703}">
                      <ahyp:hlinkClr xmlns:ahyp="http://schemas.microsoft.com/office/drawing/2018/hyperlinkcolor" val="tx"/>
                    </a:ext>
                  </a:extLst>
                </a:hlinkClick>
              </a:rPr>
              <a:t>18   Stages: around children</a:t>
            </a:r>
            <a:endParaRPr lang="en-US" sz="1100" dirty="0"/>
          </a:p>
          <a:p>
            <a:pPr indent="0" marL="0">
              <a:spcAft>
                <a:spcPts val="400"/>
              </a:spcAft>
              <a:buNone/>
            </a:pPr>
            <a:r>
              <a:rPr lang="en-US" sz="1100" u="sng" dirty="0">
                <a:solidFill>
                  <a:srgbClr val="E8EBF0"/>
                </a:solidFill>
                <a:hlinkClick r:id="rId4" action="ppaction://hlinksldjump" tooltip="">
                  <a:extLst>
                    <a:ext uri="{A12FA001-AC4F-418D-AE19-62706E023703}">
                      <ahyp:hlinkClr xmlns:ahyp="http://schemas.microsoft.com/office/drawing/2018/hyperlinkcolor" val="tx"/>
                    </a:ext>
                  </a:extLst>
                </a:hlinkClick>
              </a:rPr>
              <a:t>19   Drawdown: 15 strategies</a:t>
            </a:r>
            <a:endParaRPr lang="en-US" sz="1100" dirty="0"/>
          </a:p>
          <a:p>
            <a:pPr indent="0" marL="0">
              <a:spcAft>
                <a:spcPts val="400"/>
              </a:spcAft>
              <a:buNone/>
            </a:pPr>
            <a:r>
              <a:rPr lang="en-US" sz="1100" u="sng" dirty="0">
                <a:solidFill>
                  <a:srgbClr val="E8EBF0"/>
                </a:solidFill>
                <a:hlinkClick r:id="rId5" action="ppaction://hlinksldjump" tooltip="">
                  <a:extLst>
                    <a:ext uri="{A12FA001-AC4F-418D-AE19-62706E023703}">
                      <ahyp:hlinkClr xmlns:ahyp="http://schemas.microsoft.com/office/drawing/2018/hyperlinkcolor" val="tx"/>
                    </a:ext>
                  </a:extLst>
                </a:hlinkClick>
              </a:rPr>
              <a:t>20   Retirement Plan Optimizer</a:t>
            </a:r>
            <a:endParaRPr lang="en-US" sz="1100" dirty="0"/>
          </a:p>
          <a:p>
            <a:pPr indent="0" marL="0">
              <a:spcAft>
                <a:spcPts val="400"/>
              </a:spcAft>
              <a:buNone/>
            </a:pPr>
            <a:r>
              <a:rPr lang="en-US" sz="1100" u="sng" dirty="0">
                <a:solidFill>
                  <a:srgbClr val="E8EBF0"/>
                </a:solidFill>
                <a:hlinkClick r:id="rId6" action="ppaction://hlinksldjump" tooltip="">
                  <a:extLst>
                    <a:ext uri="{A12FA001-AC4F-418D-AE19-62706E023703}">
                      <ahyp:hlinkClr xmlns:ahyp="http://schemas.microsoft.com/office/drawing/2018/hyperlinkcolor" val="tx"/>
                    </a:ext>
                  </a:extLst>
                </a:hlinkClick>
              </a:rPr>
              <a:t>21   Social Security Calculator</a:t>
            </a:r>
            <a:endParaRPr lang="en-US" sz="1100" dirty="0"/>
          </a:p>
          <a:p>
            <a:pPr indent="0" marL="0">
              <a:spcAft>
                <a:spcPts val="400"/>
              </a:spcAft>
              <a:buNone/>
            </a:pPr>
            <a:r>
              <a:rPr lang="en-US" sz="1100" u="sng" dirty="0">
                <a:solidFill>
                  <a:srgbClr val="E8EBF0"/>
                </a:solidFill>
                <a:hlinkClick r:id="rId7" action="ppaction://hlinksldjump" tooltip="">
                  <a:extLst>
                    <a:ext uri="{A12FA001-AC4F-418D-AE19-62706E023703}">
                      <ahyp:hlinkClr xmlns:ahyp="http://schemas.microsoft.com/office/drawing/2018/hyperlinkcolor" val="tx"/>
                    </a:ext>
                  </a:extLst>
                </a:hlinkClick>
              </a:rPr>
              <a:t>22   Early Retirement Bridge</a:t>
            </a:r>
            <a:endParaRPr lang="en-US" sz="1100" dirty="0"/>
          </a:p>
          <a:p>
            <a:pPr indent="0" marL="0">
              <a:spcAft>
                <a:spcPts val="400"/>
              </a:spcAft>
              <a:buNone/>
            </a:pPr>
            <a:r>
              <a:rPr lang="en-US" sz="1100" u="sng" dirty="0">
                <a:solidFill>
                  <a:srgbClr val="E8EBF0"/>
                </a:solidFill>
                <a:hlinkClick r:id="rId8" action="ppaction://hlinksldjump" tooltip="">
                  <a:extLst>
                    <a:ext uri="{A12FA001-AC4F-418D-AE19-62706E023703}">
                      <ahyp:hlinkClr xmlns:ahyp="http://schemas.microsoft.com/office/drawing/2018/hyperlinkcolor" val="tx"/>
                    </a:ext>
                  </a:extLst>
                </a:hlinkClick>
              </a:rPr>
              <a:t>23   Roth Conversion Calculator</a:t>
            </a:r>
            <a:endParaRPr lang="en-US" sz="1100" dirty="0"/>
          </a:p>
          <a:p>
            <a:pPr indent="0" marL="0">
              <a:spcAft>
                <a:spcPts val="400"/>
              </a:spcAft>
              <a:buNone/>
            </a:pPr>
            <a:r>
              <a:rPr lang="en-US" sz="1100" u="sng" dirty="0">
                <a:solidFill>
                  <a:srgbClr val="E8EBF0"/>
                </a:solidFill>
                <a:hlinkClick r:id="rId9" action="ppaction://hlinksldjump" tooltip="">
                  <a:extLst>
                    <a:ext uri="{A12FA001-AC4F-418D-AE19-62706E023703}">
                      <ahyp:hlinkClr xmlns:ahyp="http://schemas.microsoft.com/office/drawing/2018/hyperlinkcolor" val="tx"/>
                    </a:ext>
                  </a:extLst>
                </a:hlinkClick>
              </a:rPr>
              <a:t>24   Healthcare Cost Planner</a:t>
            </a:r>
            <a:endParaRPr lang="en-US" sz="1100" dirty="0"/>
          </a:p>
          <a:p>
            <a:pPr indent="0" marL="0">
              <a:spcAft>
                <a:spcPts val="400"/>
              </a:spcAft>
              <a:buNone/>
            </a:pPr>
            <a:r>
              <a:rPr lang="en-US" sz="1100" u="sng" dirty="0">
                <a:solidFill>
                  <a:srgbClr val="E8EBF0"/>
                </a:solidFill>
                <a:hlinkClick r:id="rId10" action="ppaction://hlinksldjump" tooltip="">
                  <a:extLst>
                    <a:ext uri="{A12FA001-AC4F-418D-AE19-62706E023703}">
                      <ahyp:hlinkClr xmlns:ahyp="http://schemas.microsoft.com/office/drawing/2018/hyperlinkcolor" val="tx"/>
                    </a:ext>
                  </a:extLst>
                </a:hlinkClick>
              </a:rPr>
              <a:t>25   FIRE Calculator</a:t>
            </a:r>
            <a:endParaRPr lang="en-US" sz="1100" dirty="0"/>
          </a:p>
          <a:p>
            <a:pPr indent="0" marL="0">
              <a:spcAft>
                <a:spcPts val="400"/>
              </a:spcAft>
              <a:buNone/>
            </a:pPr>
            <a:r>
              <a:rPr lang="en-US" sz="1100" u="sng" dirty="0">
                <a:solidFill>
                  <a:srgbClr val="E8EBF0"/>
                </a:solidFill>
                <a:hlinkClick r:id="rId11" action="ppaction://hlinksldjump" tooltip="">
                  <a:extLst>
                    <a:ext uri="{A12FA001-AC4F-418D-AE19-62706E023703}">
                      <ahyp:hlinkClr xmlns:ahyp="http://schemas.microsoft.com/office/drawing/2018/hyperlinkcolor" val="tx"/>
                    </a:ext>
                  </a:extLst>
                </a:hlinkClick>
              </a:rPr>
              <a:t>26   Portfolio Backtest</a:t>
            </a:r>
            <a:endParaRPr lang="en-US" sz="1100" dirty="0"/>
          </a:p>
          <a:p>
            <a:pPr indent="0" marL="0">
              <a:spcAft>
                <a:spcPts val="400"/>
              </a:spcAft>
              <a:buNone/>
            </a:pPr>
            <a:r>
              <a:rPr lang="en-US" sz="1100" u="sng" dirty="0">
                <a:solidFill>
                  <a:srgbClr val="E8EBF0"/>
                </a:solidFill>
                <a:hlinkClick r:id="rId12" action="ppaction://hlinksldjump" tooltip="">
                  <a:extLst>
                    <a:ext uri="{A12FA001-AC4F-418D-AE19-62706E023703}">
                      <ahyp:hlinkClr xmlns:ahyp="http://schemas.microsoft.com/office/drawing/2018/hyperlinkcolor" val="tx"/>
                    </a:ext>
                  </a:extLst>
                </a:hlinkClick>
              </a:rPr>
              <a:t>27   College Savings</a:t>
            </a:r>
            <a:endParaRPr lang="en-US" sz="1100" dirty="0"/>
          </a:p>
          <a:p>
            <a:pPr indent="0" marL="0">
              <a:spcAft>
                <a:spcPts val="400"/>
              </a:spcAft>
              <a:buNone/>
            </a:pPr>
            <a:r>
              <a:rPr lang="en-US" sz="1100" u="sng" dirty="0">
                <a:solidFill>
                  <a:srgbClr val="E8EBF0"/>
                </a:solidFill>
                <a:hlinkClick r:id="rId13" action="ppaction://hlinksldjump" tooltip="">
                  <a:extLst>
                    <a:ext uri="{A12FA001-AC4F-418D-AE19-62706E023703}">
                      <ahyp:hlinkClr xmlns:ahyp="http://schemas.microsoft.com/office/drawing/2018/hyperlinkcolor" val="tx"/>
                    </a:ext>
                  </a:extLst>
                </a:hlinkClick>
              </a:rPr>
              <a:t>28   Rent vs. Buy</a:t>
            </a:r>
            <a:endParaRPr lang="en-US" sz="1100" dirty="0"/>
          </a:p>
        </p:txBody>
      </p:sp>
      <p:sp>
        <p:nvSpPr>
          <p:cNvPr id="5" name="Text 3"/>
          <p:cNvSpPr txBox="1"/>
          <p:nvPr/>
        </p:nvSpPr>
        <p:spPr>
          <a:xfrm>
            <a:off x="9509760" y="1005840"/>
            <a:ext cx="2377440" cy="5394960"/>
          </a:xfrm>
          <a:prstGeom prst="rect">
            <a:avLst/>
          </a:prstGeom>
          <a:noFill/>
          <a:ln/>
        </p:spPr>
        <p:txBody>
          <a:bodyPr wrap="square" lIns="0" tIns="0" rIns="0" bIns="0" rtlCol="0" anchor="t"/>
          <a:lstStyle/>
          <a:p>
            <a:pPr indent="0" marL="0">
              <a:spcAft>
                <a:spcPts val="400"/>
              </a:spcAft>
              <a:buNone/>
            </a:pPr>
            <a:r>
              <a:rPr lang="en-US" sz="1100" u="sng" dirty="0">
                <a:solidFill>
                  <a:srgbClr val="E8EBF0"/>
                </a:solidFill>
                <a:hlinkClick r:id="rId14" action="ppaction://hlinksldjump" tooltip="">
                  <a:extLst>
                    <a:ext uri="{A12FA001-AC4F-418D-AE19-62706E023703}">
                      <ahyp:hlinkClr xmlns:ahyp="http://schemas.microsoft.com/office/drawing/2018/hyperlinkcolor" val="tx"/>
                    </a:ext>
                  </a:extLst>
                </a:hlinkClick>
              </a:rPr>
              <a:t>29   Income Tax: retirement mode</a:t>
            </a:r>
            <a:endParaRPr lang="en-US" sz="1100" dirty="0"/>
          </a:p>
          <a:p>
            <a:pPr indent="0" marL="0">
              <a:spcAft>
                <a:spcPts val="400"/>
              </a:spcAft>
              <a:buNone/>
            </a:pPr>
            <a:r>
              <a:rPr lang="en-US" sz="1100" u="sng" dirty="0">
                <a:solidFill>
                  <a:srgbClr val="E8EBF0"/>
                </a:solidFill>
                <a:hlinkClick r:id="rId15" action="ppaction://hlinksldjump" tooltip="">
                  <a:extLst>
                    <a:ext uri="{A12FA001-AC4F-418D-AE19-62706E023703}">
                      <ahyp:hlinkClr xmlns:ahyp="http://schemas.microsoft.com/office/drawing/2018/hyperlinkcolor" val="tx"/>
                    </a:ext>
                  </a:extLst>
                </a:hlinkClick>
              </a:rPr>
              <a:t>30   Budget: the itemized paycheck</a:t>
            </a:r>
            <a:endParaRPr lang="en-US" sz="1100" dirty="0"/>
          </a:p>
          <a:p>
            <a:pPr indent="0" marL="0">
              <a:spcAft>
                <a:spcPts val="400"/>
              </a:spcAft>
              <a:buNone/>
            </a:pPr>
            <a:r>
              <a:rPr lang="en-US" sz="1100" u="sng" dirty="0">
                <a:solidFill>
                  <a:srgbClr val="E8EBF0"/>
                </a:solidFill>
                <a:hlinkClick r:id="rId16" action="ppaction://hlinksldjump" tooltip="">
                  <a:extLst>
                    <a:ext uri="{A12FA001-AC4F-418D-AE19-62706E023703}">
                      <ahyp:hlinkClr xmlns:ahyp="http://schemas.microsoft.com/office/drawing/2018/hyperlinkcolor" val="tx"/>
                    </a:ext>
                  </a:extLst>
                </a:hlinkClick>
              </a:rPr>
              <a:t>31   Debt Payoff</a:t>
            </a:r>
            <a:endParaRPr lang="en-US" sz="1100" dirty="0"/>
          </a:p>
          <a:p>
            <a:pPr indent="0" marL="0">
              <a:spcAft>
                <a:spcPts val="400"/>
              </a:spcAft>
              <a:buNone/>
            </a:pPr>
            <a:r>
              <a:rPr lang="en-US" sz="1100" u="sng" dirty="0">
                <a:solidFill>
                  <a:srgbClr val="E8EBF0"/>
                </a:solidFill>
                <a:hlinkClick r:id="rId17" action="ppaction://hlinksldjump" tooltip="">
                  <a:extLst>
                    <a:ext uri="{A12FA001-AC4F-418D-AE19-62706E023703}">
                      <ahyp:hlinkClr xmlns:ahyp="http://schemas.microsoft.com/office/drawing/2018/hyperlinkcolor" val="tx"/>
                    </a:ext>
                  </a:extLst>
                </a:hlinkClick>
              </a:rPr>
              <a:t>32   Mortgage Calculator</a:t>
            </a:r>
            <a:endParaRPr lang="en-US" sz="1100" dirty="0"/>
          </a:p>
          <a:p>
            <a:pPr indent="0" marL="0">
              <a:spcAft>
                <a:spcPts val="400"/>
              </a:spcAft>
              <a:buNone/>
            </a:pPr>
            <a:r>
              <a:rPr lang="en-US" sz="1100" u="sng" dirty="0">
                <a:solidFill>
                  <a:srgbClr val="E8EBF0"/>
                </a:solidFill>
                <a:hlinkClick r:id="rId18" action="ppaction://hlinksldjump" tooltip="">
                  <a:extLst>
                    <a:ext uri="{A12FA001-AC4F-418D-AE19-62706E023703}">
                      <ahyp:hlinkClr xmlns:ahyp="http://schemas.microsoft.com/office/drawing/2018/hyperlinkcolor" val="tx"/>
                    </a:ext>
                  </a:extLst>
                </a:hlinkClick>
              </a:rPr>
              <a:t>33   The Guide's report</a:t>
            </a:r>
            <a:endParaRPr lang="en-US" sz="1100" dirty="0"/>
          </a:p>
          <a:p>
            <a:pPr indent="0" marL="0">
              <a:spcAft>
                <a:spcPts val="400"/>
              </a:spcAft>
              <a:buNone/>
            </a:pPr>
            <a:r>
              <a:rPr lang="en-US" sz="1100" u="sng" dirty="0">
                <a:solidFill>
                  <a:srgbClr val="E8EBF0"/>
                </a:solidFill>
                <a:hlinkClick r:id="rId19" action="ppaction://hlinksldjump" tooltip="">
                  <a:extLst>
                    <a:ext uri="{A12FA001-AC4F-418D-AE19-62706E023703}">
                      <ahyp:hlinkClr xmlns:ahyp="http://schemas.microsoft.com/office/drawing/2018/hyperlinkcolor" val="tx"/>
                    </a:ext>
                  </a:extLst>
                </a:hlinkClick>
              </a:rPr>
              <a:t>34   The household, step by step</a:t>
            </a:r>
            <a:endParaRPr lang="en-US" sz="1100" dirty="0"/>
          </a:p>
          <a:p>
            <a:pPr indent="0" marL="0">
              <a:spcAft>
                <a:spcPts val="400"/>
              </a:spcAft>
              <a:buNone/>
            </a:pPr>
            <a:r>
              <a:rPr lang="en-US" sz="1100" u="sng" dirty="0">
                <a:solidFill>
                  <a:srgbClr val="E8EBF0"/>
                </a:solidFill>
                <a:hlinkClick r:id="rId20" action="ppaction://hlinksldjump" tooltip="">
                  <a:extLst>
                    <a:ext uri="{A12FA001-AC4F-418D-AE19-62706E023703}">
                      <ahyp:hlinkClr xmlns:ahyp="http://schemas.microsoft.com/office/drawing/2018/hyperlinkcolor" val="tx"/>
                    </a:ext>
                  </a:extLst>
                </a:hlinkClick>
              </a:rPr>
              <a:t>35   The stack</a:t>
            </a:r>
            <a:endParaRPr lang="en-US" sz="1100" dirty="0"/>
          </a:p>
          <a:p>
            <a:pPr indent="0" marL="0">
              <a:spcAft>
                <a:spcPts val="400"/>
              </a:spcAft>
              <a:buNone/>
            </a:pPr>
            <a:r>
              <a:rPr lang="en-US" sz="1100" u="sng" dirty="0">
                <a:solidFill>
                  <a:srgbClr val="E8EBF0"/>
                </a:solidFill>
                <a:hlinkClick r:id="rId21" action="ppaction://hlinksldjump" tooltip="">
                  <a:extLst>
                    <a:ext uri="{A12FA001-AC4F-418D-AE19-62706E023703}">
                      <ahyp:hlinkClr xmlns:ahyp="http://schemas.microsoft.com/office/drawing/2018/hyperlinkcolor" val="tx"/>
                    </a:ext>
                  </a:extLst>
                </a:hlinkClick>
              </a:rPr>
              <a:t>36   The calculation engine</a:t>
            </a:r>
            <a:endParaRPr lang="en-US" sz="1100" dirty="0"/>
          </a:p>
          <a:p>
            <a:pPr indent="0" marL="0">
              <a:spcAft>
                <a:spcPts val="400"/>
              </a:spcAft>
              <a:buNone/>
            </a:pPr>
            <a:r>
              <a:rPr lang="en-US" sz="1100" u="sng" dirty="0">
                <a:solidFill>
                  <a:srgbClr val="E8EBF0"/>
                </a:solidFill>
                <a:hlinkClick r:id="rId22" action="ppaction://hlinksldjump" tooltip="">
                  <a:extLst>
                    <a:ext uri="{A12FA001-AC4F-418D-AE19-62706E023703}">
                      <ahyp:hlinkClr xmlns:ahyp="http://schemas.microsoft.com/office/drawing/2018/hyperlinkcolor" val="tx"/>
                    </a:ext>
                  </a:extLst>
                </a:hlinkClick>
              </a:rPr>
              <a:t>37   Checks before anything ships</a:t>
            </a:r>
            <a:endParaRPr lang="en-US" sz="1100" dirty="0"/>
          </a:p>
          <a:p>
            <a:pPr indent="0" marL="0">
              <a:spcAft>
                <a:spcPts val="400"/>
              </a:spcAft>
              <a:buNone/>
            </a:pPr>
            <a:r>
              <a:rPr lang="en-US" sz="1100" u="sng" dirty="0">
                <a:solidFill>
                  <a:srgbClr val="E8EBF0"/>
                </a:solidFill>
                <a:hlinkClick r:id="rId23" action="ppaction://hlinksldjump" tooltip="">
                  <a:extLst>
                    <a:ext uri="{A12FA001-AC4F-418D-AE19-62706E023703}">
                      <ahyp:hlinkClr xmlns:ahyp="http://schemas.microsoft.com/office/drawing/2018/hyperlinkcolor" val="tx"/>
                    </a:ext>
                  </a:extLst>
                </a:hlinkClick>
              </a:rPr>
              <a:t>38   Hosting and delivery</a:t>
            </a:r>
            <a:endParaRPr lang="en-US" sz="1100" dirty="0"/>
          </a:p>
          <a:p>
            <a:pPr indent="0" marL="0">
              <a:spcAft>
                <a:spcPts val="400"/>
              </a:spcAft>
              <a:buNone/>
            </a:pPr>
            <a:r>
              <a:rPr lang="en-US" sz="1100" u="sng" dirty="0">
                <a:solidFill>
                  <a:srgbClr val="E8EBF0"/>
                </a:solidFill>
                <a:hlinkClick r:id="rId24" action="ppaction://hlinksldjump" tooltip="">
                  <a:extLst>
                    <a:ext uri="{A12FA001-AC4F-418D-AE19-62706E023703}">
                      <ahyp:hlinkClr xmlns:ahyp="http://schemas.microsoft.com/office/drawing/2018/hyperlinkcolor" val="tx"/>
                    </a:ext>
                  </a:extLst>
                </a:hlinkClick>
              </a:rPr>
              <a:t>39   Accounts and privacy</a:t>
            </a:r>
            <a:endParaRPr lang="en-US" sz="1100" dirty="0"/>
          </a:p>
          <a:p>
            <a:pPr indent="0" marL="0">
              <a:spcAft>
                <a:spcPts val="400"/>
              </a:spcAft>
              <a:buNone/>
            </a:pPr>
            <a:r>
              <a:rPr lang="en-US" sz="1100" u="sng" dirty="0">
                <a:solidFill>
                  <a:srgbClr val="E8EBF0"/>
                </a:solidFill>
                <a:hlinkClick r:id="rId25" action="ppaction://hlinksldjump" tooltip="">
                  <a:extLst>
                    <a:ext uri="{A12FA001-AC4F-418D-AE19-62706E023703}">
                      <ahyp:hlinkClr xmlns:ahyp="http://schemas.microsoft.com/office/drawing/2018/hyperlinkcolor" val="tx"/>
                    </a:ext>
                  </a:extLst>
                </a:hlinkClick>
              </a:rPr>
              <a:t>40   Where the numbers come from</a:t>
            </a:r>
            <a:endParaRPr lang="en-US" sz="1100" dirty="0"/>
          </a:p>
        </p:txBody>
      </p:sp>
      <p:sp>
        <p:nvSpPr>
          <p:cNvPr id="6" name="Shape 4"/>
          <p:cNvSpPr/>
          <p:nvPr/>
        </p:nvSpPr>
        <p:spPr>
          <a:xfrm>
            <a:off x="6858000" y="868680"/>
            <a:ext cx="0" cy="5577840"/>
          </a:xfrm>
          <a:prstGeom prst="line">
            <a:avLst/>
          </a:prstGeom>
          <a:noFill/>
          <a:ln w="12700">
            <a:solidFill>
              <a:srgbClr val="2A313C"/>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AT A GLANCE</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Every tool, and the question it answers</a:t>
            </a:r>
            <a:endParaRPr lang="en-US" sz="3400" dirty="0"/>
          </a:p>
        </p:txBody>
      </p:sp>
      <p:sp>
        <p:nvSpPr>
          <p:cNvPr id="4" name="Shape 2"/>
          <p:cNvSpPr/>
          <p:nvPr/>
        </p:nvSpPr>
        <p:spPr>
          <a:xfrm>
            <a:off x="548640" y="1627632"/>
            <a:ext cx="146304" cy="146304"/>
          </a:xfrm>
          <a:prstGeom prst="ellipse">
            <a:avLst/>
          </a:prstGeom>
          <a:solidFill>
            <a:srgbClr val="E3A93B"/>
          </a:solidFill>
          <a:ln/>
        </p:spPr>
      </p:sp>
      <p:sp>
        <p:nvSpPr>
          <p:cNvPr id="5" name="Text 3"/>
          <p:cNvSpPr txBox="1"/>
          <p:nvPr/>
        </p:nvSpPr>
        <p:spPr>
          <a:xfrm>
            <a:off x="786384" y="1554480"/>
            <a:ext cx="3240938" cy="274320"/>
          </a:xfrm>
          <a:prstGeom prst="rect">
            <a:avLst/>
          </a:prstGeom>
          <a:noFill/>
          <a:ln/>
        </p:spPr>
        <p:txBody>
          <a:bodyPr wrap="square" lIns="0" tIns="0" rIns="0" bIns="0" rtlCol="0" anchor="t"/>
          <a:lstStyle/>
          <a:p>
            <a:pPr indent="0" marL="0">
              <a:buNone/>
            </a:pPr>
            <a:r>
              <a:rPr lang="en-US" sz="1100" b="1" spc="100" kern="0" dirty="0">
                <a:solidFill>
                  <a:srgbClr val="E3A93B"/>
                </a:solidFill>
              </a:rPr>
              <a:t>CALCULATORS</a:t>
            </a:r>
            <a:endParaRPr lang="en-US" sz="1100" dirty="0"/>
          </a:p>
        </p:txBody>
      </p:sp>
      <p:sp>
        <p:nvSpPr>
          <p:cNvPr id="6" name="Shape 4"/>
          <p:cNvSpPr/>
          <p:nvPr/>
        </p:nvSpPr>
        <p:spPr>
          <a:xfrm>
            <a:off x="548640" y="1865376"/>
            <a:ext cx="3515258" cy="457200"/>
          </a:xfrm>
          <a:prstGeom prst="roundRect">
            <a:avLst>
              <a:gd name="adj" fmla="val 16000"/>
            </a:avLst>
          </a:prstGeom>
          <a:solidFill>
            <a:srgbClr val="1C222B"/>
          </a:solidFill>
          <a:ln/>
        </p:spPr>
      </p:sp>
      <p:sp>
        <p:nvSpPr>
          <p:cNvPr id="7" name="Text 5"/>
          <p:cNvSpPr txBox="1"/>
          <p:nvPr/>
        </p:nvSpPr>
        <p:spPr>
          <a:xfrm>
            <a:off x="713232" y="1883664"/>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Calculator: Basic</a:t>
            </a:r>
            <a:endParaRPr lang="en-US" sz="1200" dirty="0"/>
          </a:p>
          <a:p>
            <a:pPr indent="0" marL="0">
              <a:buNone/>
            </a:pPr>
            <a:r>
              <a:rPr lang="en-US" sz="1000" dirty="0">
                <a:solidFill>
                  <a:srgbClr val="9AA4B2"/>
                </a:solidFill>
              </a:rPr>
              <a:t>What will my savings grow to?</a:t>
            </a:r>
            <a:endParaRPr lang="en-US" sz="1200" dirty="0"/>
          </a:p>
        </p:txBody>
      </p:sp>
      <p:sp>
        <p:nvSpPr>
          <p:cNvPr id="8" name="Shape 6"/>
          <p:cNvSpPr/>
          <p:nvPr/>
        </p:nvSpPr>
        <p:spPr>
          <a:xfrm>
            <a:off x="548640" y="2377440"/>
            <a:ext cx="3515258" cy="457200"/>
          </a:xfrm>
          <a:prstGeom prst="roundRect">
            <a:avLst>
              <a:gd name="adj" fmla="val 16000"/>
            </a:avLst>
          </a:prstGeom>
          <a:solidFill>
            <a:srgbClr val="1C222B"/>
          </a:solidFill>
          <a:ln/>
        </p:spPr>
      </p:sp>
      <p:sp>
        <p:nvSpPr>
          <p:cNvPr id="9" name="Text 7"/>
          <p:cNvSpPr txBox="1"/>
          <p:nvPr/>
        </p:nvSpPr>
        <p:spPr>
          <a:xfrm>
            <a:off x="713232" y="2395728"/>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Calculator: Advanced</a:t>
            </a:r>
            <a:endParaRPr lang="en-US" sz="1200" dirty="0"/>
          </a:p>
          <a:p>
            <a:pPr indent="0" marL="0">
              <a:buNone/>
            </a:pPr>
            <a:r>
              <a:rPr lang="en-US" sz="1000" dirty="0">
                <a:solidFill>
                  <a:srgbClr val="9AA4B2"/>
                </a:solidFill>
              </a:rPr>
              <a:t>Will I reach my target, after fees and tax?</a:t>
            </a:r>
            <a:endParaRPr lang="en-US" sz="1200" dirty="0"/>
          </a:p>
        </p:txBody>
      </p:sp>
      <p:sp>
        <p:nvSpPr>
          <p:cNvPr id="10" name="Shape 8"/>
          <p:cNvSpPr/>
          <p:nvPr/>
        </p:nvSpPr>
        <p:spPr>
          <a:xfrm>
            <a:off x="548640" y="2889504"/>
            <a:ext cx="3515258" cy="457200"/>
          </a:xfrm>
          <a:prstGeom prst="roundRect">
            <a:avLst>
              <a:gd name="adj" fmla="val 16000"/>
            </a:avLst>
          </a:prstGeom>
          <a:solidFill>
            <a:srgbClr val="1C222B"/>
          </a:solidFill>
          <a:ln/>
        </p:spPr>
      </p:sp>
      <p:sp>
        <p:nvSpPr>
          <p:cNvPr id="11" name="Text 9"/>
          <p:cNvSpPr txBox="1"/>
          <p:nvPr/>
        </p:nvSpPr>
        <p:spPr>
          <a:xfrm>
            <a:off x="713232" y="2907792"/>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Calculator: Stages</a:t>
            </a:r>
            <a:endParaRPr lang="en-US" sz="1200" dirty="0"/>
          </a:p>
          <a:p>
            <a:pPr indent="0" marL="0">
              <a:buNone/>
            </a:pPr>
            <a:r>
              <a:rPr lang="en-US" sz="1000" dirty="0">
                <a:solidFill>
                  <a:srgbClr val="9AA4B2"/>
                </a:solidFill>
              </a:rPr>
              <a:t>What if my saving changes over the years?</a:t>
            </a:r>
            <a:endParaRPr lang="en-US" sz="1200" dirty="0"/>
          </a:p>
        </p:txBody>
      </p:sp>
      <p:sp>
        <p:nvSpPr>
          <p:cNvPr id="12" name="Shape 10"/>
          <p:cNvSpPr/>
          <p:nvPr/>
        </p:nvSpPr>
        <p:spPr>
          <a:xfrm>
            <a:off x="548640" y="3621024"/>
            <a:ext cx="146304" cy="146304"/>
          </a:xfrm>
          <a:prstGeom prst="ellipse">
            <a:avLst/>
          </a:prstGeom>
          <a:solidFill>
            <a:srgbClr val="E0749B"/>
          </a:solidFill>
          <a:ln/>
        </p:spPr>
      </p:sp>
      <p:sp>
        <p:nvSpPr>
          <p:cNvPr id="13" name="Text 11"/>
          <p:cNvSpPr txBox="1"/>
          <p:nvPr/>
        </p:nvSpPr>
        <p:spPr>
          <a:xfrm>
            <a:off x="786384" y="3547872"/>
            <a:ext cx="3240938" cy="274320"/>
          </a:xfrm>
          <a:prstGeom prst="rect">
            <a:avLst/>
          </a:prstGeom>
          <a:noFill/>
          <a:ln/>
        </p:spPr>
        <p:txBody>
          <a:bodyPr wrap="square" lIns="0" tIns="0" rIns="0" bIns="0" rtlCol="0" anchor="t"/>
          <a:lstStyle/>
          <a:p>
            <a:pPr indent="0" marL="0">
              <a:buNone/>
            </a:pPr>
            <a:r>
              <a:rPr lang="en-US" sz="1100" b="1" spc="100" kern="0" dirty="0">
                <a:solidFill>
                  <a:srgbClr val="E0749B"/>
                </a:solidFill>
              </a:rPr>
              <a:t>GUIDED WALKTHROUGHS</a:t>
            </a:r>
            <a:endParaRPr lang="en-US" sz="1100" dirty="0"/>
          </a:p>
        </p:txBody>
      </p:sp>
      <p:sp>
        <p:nvSpPr>
          <p:cNvPr id="14" name="Shape 12"/>
          <p:cNvSpPr/>
          <p:nvPr/>
        </p:nvSpPr>
        <p:spPr>
          <a:xfrm>
            <a:off x="548640" y="3858768"/>
            <a:ext cx="3515258" cy="457200"/>
          </a:xfrm>
          <a:prstGeom prst="roundRect">
            <a:avLst>
              <a:gd name="adj" fmla="val 16000"/>
            </a:avLst>
          </a:prstGeom>
          <a:solidFill>
            <a:srgbClr val="1C222B"/>
          </a:solidFill>
          <a:ln/>
        </p:spPr>
      </p:sp>
      <p:sp>
        <p:nvSpPr>
          <p:cNvPr id="15" name="Text 13"/>
          <p:cNvSpPr txBox="1"/>
          <p:nvPr/>
        </p:nvSpPr>
        <p:spPr>
          <a:xfrm>
            <a:off x="713232" y="3877056"/>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Readiness Guide</a:t>
            </a:r>
            <a:endParaRPr lang="en-US" sz="1200" dirty="0"/>
          </a:p>
          <a:p>
            <a:pPr indent="0" marL="0">
              <a:buNone/>
            </a:pPr>
            <a:r>
              <a:rPr lang="en-US" sz="1000" dirty="0">
                <a:solidFill>
                  <a:srgbClr val="9AA4B2"/>
                </a:solidFill>
              </a:rPr>
              <a:t>How ready am I, and what next?</a:t>
            </a:r>
            <a:endParaRPr lang="en-US" sz="1200" dirty="0"/>
          </a:p>
        </p:txBody>
      </p:sp>
      <p:sp>
        <p:nvSpPr>
          <p:cNvPr id="16" name="Shape 14"/>
          <p:cNvSpPr/>
          <p:nvPr/>
        </p:nvSpPr>
        <p:spPr>
          <a:xfrm>
            <a:off x="548640" y="4370832"/>
            <a:ext cx="3515258" cy="457200"/>
          </a:xfrm>
          <a:prstGeom prst="roundRect">
            <a:avLst>
              <a:gd name="adj" fmla="val 16000"/>
            </a:avLst>
          </a:prstGeom>
          <a:solidFill>
            <a:srgbClr val="1C222B"/>
          </a:solidFill>
          <a:ln/>
        </p:spPr>
      </p:sp>
      <p:sp>
        <p:nvSpPr>
          <p:cNvPr id="17" name="Text 15"/>
          <p:cNvSpPr txBox="1"/>
          <p:nvPr/>
        </p:nvSpPr>
        <p:spPr>
          <a:xfrm>
            <a:off x="713232" y="4389120"/>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Paycheck to Retirement</a:t>
            </a:r>
            <a:endParaRPr lang="en-US" sz="1200" dirty="0"/>
          </a:p>
          <a:p>
            <a:pPr indent="0" marL="0">
              <a:buNone/>
            </a:pPr>
            <a:r>
              <a:rPr lang="en-US" sz="1000" dirty="0">
                <a:solidFill>
                  <a:srgbClr val="9AA4B2"/>
                </a:solidFill>
              </a:rPr>
              <a:t>Where should each paycheck go?</a:t>
            </a:r>
            <a:endParaRPr lang="en-US" sz="1200" dirty="0"/>
          </a:p>
        </p:txBody>
      </p:sp>
      <p:sp>
        <p:nvSpPr>
          <p:cNvPr id="18" name="Shape 16"/>
          <p:cNvSpPr/>
          <p:nvPr/>
        </p:nvSpPr>
        <p:spPr>
          <a:xfrm>
            <a:off x="4338218" y="1627632"/>
            <a:ext cx="146304" cy="146304"/>
          </a:xfrm>
          <a:prstGeom prst="ellipse">
            <a:avLst/>
          </a:prstGeom>
          <a:solidFill>
            <a:srgbClr val="5AA9E6"/>
          </a:solidFill>
          <a:ln/>
        </p:spPr>
      </p:sp>
      <p:sp>
        <p:nvSpPr>
          <p:cNvPr id="19" name="Text 17"/>
          <p:cNvSpPr txBox="1"/>
          <p:nvPr/>
        </p:nvSpPr>
        <p:spPr>
          <a:xfrm>
            <a:off x="4575962" y="1554480"/>
            <a:ext cx="3240938" cy="274320"/>
          </a:xfrm>
          <a:prstGeom prst="rect">
            <a:avLst/>
          </a:prstGeom>
          <a:noFill/>
          <a:ln/>
        </p:spPr>
        <p:txBody>
          <a:bodyPr wrap="square" lIns="0" tIns="0" rIns="0" bIns="0" rtlCol="0" anchor="t"/>
          <a:lstStyle/>
          <a:p>
            <a:pPr indent="0" marL="0">
              <a:buNone/>
            </a:pPr>
            <a:r>
              <a:rPr lang="en-US" sz="1100" b="1" spc="100" kern="0" dirty="0">
                <a:solidFill>
                  <a:srgbClr val="5AA9E6"/>
                </a:solidFill>
              </a:rPr>
              <a:t>RETIREMENT INCOME</a:t>
            </a:r>
            <a:endParaRPr lang="en-US" sz="1100" dirty="0"/>
          </a:p>
        </p:txBody>
      </p:sp>
      <p:sp>
        <p:nvSpPr>
          <p:cNvPr id="20" name="Shape 18"/>
          <p:cNvSpPr/>
          <p:nvPr/>
        </p:nvSpPr>
        <p:spPr>
          <a:xfrm>
            <a:off x="4338218" y="1865376"/>
            <a:ext cx="3515258" cy="457200"/>
          </a:xfrm>
          <a:prstGeom prst="roundRect">
            <a:avLst>
              <a:gd name="adj" fmla="val 16000"/>
            </a:avLst>
          </a:prstGeom>
          <a:solidFill>
            <a:srgbClr val="1C222B"/>
          </a:solidFill>
          <a:ln/>
        </p:spPr>
      </p:sp>
      <p:sp>
        <p:nvSpPr>
          <p:cNvPr id="21" name="Text 19"/>
          <p:cNvSpPr txBox="1"/>
          <p:nvPr/>
        </p:nvSpPr>
        <p:spPr>
          <a:xfrm>
            <a:off x="4502810" y="1883664"/>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Drawdown Simulator</a:t>
            </a:r>
            <a:endParaRPr lang="en-US" sz="1200" dirty="0"/>
          </a:p>
          <a:p>
            <a:pPr indent="0" marL="0">
              <a:buNone/>
            </a:pPr>
            <a:r>
              <a:rPr lang="en-US" sz="1000" dirty="0">
                <a:solidFill>
                  <a:srgbClr val="9AA4B2"/>
                </a:solidFill>
              </a:rPr>
              <a:t>Will my money last?</a:t>
            </a:r>
            <a:endParaRPr lang="en-US" sz="1200" dirty="0"/>
          </a:p>
        </p:txBody>
      </p:sp>
      <p:sp>
        <p:nvSpPr>
          <p:cNvPr id="22" name="Shape 20"/>
          <p:cNvSpPr/>
          <p:nvPr/>
        </p:nvSpPr>
        <p:spPr>
          <a:xfrm>
            <a:off x="4338218" y="2377440"/>
            <a:ext cx="3515258" cy="457200"/>
          </a:xfrm>
          <a:prstGeom prst="roundRect">
            <a:avLst>
              <a:gd name="adj" fmla="val 16000"/>
            </a:avLst>
          </a:prstGeom>
          <a:solidFill>
            <a:srgbClr val="1C222B"/>
          </a:solidFill>
          <a:ln/>
        </p:spPr>
      </p:sp>
      <p:sp>
        <p:nvSpPr>
          <p:cNvPr id="23" name="Text 21"/>
          <p:cNvSpPr txBox="1"/>
          <p:nvPr/>
        </p:nvSpPr>
        <p:spPr>
          <a:xfrm>
            <a:off x="4502810" y="2395728"/>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Retirement Plan Optimizer</a:t>
            </a:r>
            <a:endParaRPr lang="en-US" sz="1200" dirty="0"/>
          </a:p>
          <a:p>
            <a:pPr indent="0" marL="0">
              <a:buNone/>
            </a:pPr>
            <a:r>
              <a:rPr lang="en-US" sz="1000" dirty="0">
                <a:solidFill>
                  <a:srgbClr val="9AA4B2"/>
                </a:solidFill>
              </a:rPr>
              <a:t>Which plan leaves me the most?</a:t>
            </a:r>
            <a:endParaRPr lang="en-US" sz="1200" dirty="0"/>
          </a:p>
        </p:txBody>
      </p:sp>
      <p:sp>
        <p:nvSpPr>
          <p:cNvPr id="24" name="Shape 22"/>
          <p:cNvSpPr/>
          <p:nvPr/>
        </p:nvSpPr>
        <p:spPr>
          <a:xfrm>
            <a:off x="4338218" y="2889504"/>
            <a:ext cx="3515258" cy="457200"/>
          </a:xfrm>
          <a:prstGeom prst="roundRect">
            <a:avLst>
              <a:gd name="adj" fmla="val 16000"/>
            </a:avLst>
          </a:prstGeom>
          <a:solidFill>
            <a:srgbClr val="1C222B"/>
          </a:solidFill>
          <a:ln/>
        </p:spPr>
      </p:sp>
      <p:sp>
        <p:nvSpPr>
          <p:cNvPr id="25" name="Text 23"/>
          <p:cNvSpPr txBox="1"/>
          <p:nvPr/>
        </p:nvSpPr>
        <p:spPr>
          <a:xfrm>
            <a:off x="4502810" y="2907792"/>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Social Security Calculator</a:t>
            </a:r>
            <a:endParaRPr lang="en-US" sz="1200" dirty="0"/>
          </a:p>
          <a:p>
            <a:pPr indent="0" marL="0">
              <a:buNone/>
            </a:pPr>
            <a:r>
              <a:rPr lang="en-US" sz="1000" dirty="0">
                <a:solidFill>
                  <a:srgbClr val="9AA4B2"/>
                </a:solidFill>
              </a:rPr>
              <a:t>When should I claim?</a:t>
            </a:r>
            <a:endParaRPr lang="en-US" sz="1200" dirty="0"/>
          </a:p>
        </p:txBody>
      </p:sp>
      <p:sp>
        <p:nvSpPr>
          <p:cNvPr id="26" name="Shape 24"/>
          <p:cNvSpPr/>
          <p:nvPr/>
        </p:nvSpPr>
        <p:spPr>
          <a:xfrm>
            <a:off x="4338218" y="3401568"/>
            <a:ext cx="3515258" cy="457200"/>
          </a:xfrm>
          <a:prstGeom prst="roundRect">
            <a:avLst>
              <a:gd name="adj" fmla="val 16000"/>
            </a:avLst>
          </a:prstGeom>
          <a:solidFill>
            <a:srgbClr val="1C222B"/>
          </a:solidFill>
          <a:ln/>
        </p:spPr>
      </p:sp>
      <p:sp>
        <p:nvSpPr>
          <p:cNvPr id="27" name="Text 25"/>
          <p:cNvSpPr txBox="1"/>
          <p:nvPr/>
        </p:nvSpPr>
        <p:spPr>
          <a:xfrm>
            <a:off x="4502810" y="3419856"/>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Early Retirement Bridge</a:t>
            </a:r>
            <a:endParaRPr lang="en-US" sz="1200" dirty="0"/>
          </a:p>
          <a:p>
            <a:pPr indent="0" marL="0">
              <a:buNone/>
            </a:pPr>
            <a:r>
              <a:rPr lang="en-US" sz="1000" dirty="0">
                <a:solidFill>
                  <a:srgbClr val="9AA4B2"/>
                </a:solidFill>
              </a:rPr>
              <a:t>How do I pay for the years before 59½?</a:t>
            </a:r>
            <a:endParaRPr lang="en-US" sz="1200" dirty="0"/>
          </a:p>
        </p:txBody>
      </p:sp>
      <p:sp>
        <p:nvSpPr>
          <p:cNvPr id="28" name="Shape 26"/>
          <p:cNvSpPr/>
          <p:nvPr/>
        </p:nvSpPr>
        <p:spPr>
          <a:xfrm>
            <a:off x="4338218" y="3913632"/>
            <a:ext cx="3515258" cy="457200"/>
          </a:xfrm>
          <a:prstGeom prst="roundRect">
            <a:avLst>
              <a:gd name="adj" fmla="val 16000"/>
            </a:avLst>
          </a:prstGeom>
          <a:solidFill>
            <a:srgbClr val="1C222B"/>
          </a:solidFill>
          <a:ln/>
        </p:spPr>
      </p:sp>
      <p:sp>
        <p:nvSpPr>
          <p:cNvPr id="29" name="Text 27"/>
          <p:cNvSpPr txBox="1"/>
          <p:nvPr/>
        </p:nvSpPr>
        <p:spPr>
          <a:xfrm>
            <a:off x="4502810" y="3931920"/>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Roth Conversion Calculator</a:t>
            </a:r>
            <a:endParaRPr lang="en-US" sz="1200" dirty="0"/>
          </a:p>
          <a:p>
            <a:pPr indent="0" marL="0">
              <a:buNone/>
            </a:pPr>
            <a:r>
              <a:rPr lang="en-US" sz="1000" dirty="0">
                <a:solidFill>
                  <a:srgbClr val="9AA4B2"/>
                </a:solidFill>
              </a:rPr>
              <a:t>Should I convert before RMDs start?</a:t>
            </a:r>
            <a:endParaRPr lang="en-US" sz="1200" dirty="0"/>
          </a:p>
        </p:txBody>
      </p:sp>
      <p:sp>
        <p:nvSpPr>
          <p:cNvPr id="30" name="Shape 28"/>
          <p:cNvSpPr/>
          <p:nvPr/>
        </p:nvSpPr>
        <p:spPr>
          <a:xfrm>
            <a:off x="4338218" y="4425696"/>
            <a:ext cx="3515258" cy="457200"/>
          </a:xfrm>
          <a:prstGeom prst="roundRect">
            <a:avLst>
              <a:gd name="adj" fmla="val 16000"/>
            </a:avLst>
          </a:prstGeom>
          <a:solidFill>
            <a:srgbClr val="1C222B"/>
          </a:solidFill>
          <a:ln/>
        </p:spPr>
      </p:sp>
      <p:sp>
        <p:nvSpPr>
          <p:cNvPr id="31" name="Text 29"/>
          <p:cNvSpPr txBox="1"/>
          <p:nvPr/>
        </p:nvSpPr>
        <p:spPr>
          <a:xfrm>
            <a:off x="4502810" y="4443984"/>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Healthcare Cost Planner</a:t>
            </a:r>
            <a:endParaRPr lang="en-US" sz="1200" dirty="0"/>
          </a:p>
          <a:p>
            <a:pPr indent="0" marL="0">
              <a:buNone/>
            </a:pPr>
            <a:r>
              <a:rPr lang="en-US" sz="1000" dirty="0">
                <a:solidFill>
                  <a:srgbClr val="9AA4B2"/>
                </a:solidFill>
              </a:rPr>
              <a:t>What will health insurance cost?</a:t>
            </a:r>
            <a:endParaRPr lang="en-US" sz="1200" dirty="0"/>
          </a:p>
        </p:txBody>
      </p:sp>
      <p:sp>
        <p:nvSpPr>
          <p:cNvPr id="32" name="Shape 30"/>
          <p:cNvSpPr/>
          <p:nvPr/>
        </p:nvSpPr>
        <p:spPr>
          <a:xfrm>
            <a:off x="8127797" y="1627632"/>
            <a:ext cx="146304" cy="146304"/>
          </a:xfrm>
          <a:prstGeom prst="ellipse">
            <a:avLst/>
          </a:prstGeom>
          <a:solidFill>
            <a:srgbClr val="46B9A6"/>
          </a:solidFill>
          <a:ln/>
        </p:spPr>
      </p:sp>
      <p:sp>
        <p:nvSpPr>
          <p:cNvPr id="33" name="Text 31"/>
          <p:cNvSpPr txBox="1"/>
          <p:nvPr/>
        </p:nvSpPr>
        <p:spPr>
          <a:xfrm>
            <a:off x="8365541" y="1554480"/>
            <a:ext cx="3240938" cy="274320"/>
          </a:xfrm>
          <a:prstGeom prst="rect">
            <a:avLst/>
          </a:prstGeom>
          <a:noFill/>
          <a:ln/>
        </p:spPr>
        <p:txBody>
          <a:bodyPr wrap="square" lIns="0" tIns="0" rIns="0" bIns="0" rtlCol="0" anchor="t"/>
          <a:lstStyle/>
          <a:p>
            <a:pPr indent="0" marL="0">
              <a:buNone/>
            </a:pPr>
            <a:r>
              <a:rPr lang="en-US" sz="1100" b="1" spc="100" kern="0" dirty="0">
                <a:solidFill>
                  <a:srgbClr val="46B9A6"/>
                </a:solidFill>
              </a:rPr>
              <a:t>SAVING AND INVESTING</a:t>
            </a:r>
            <a:endParaRPr lang="en-US" sz="1100" dirty="0"/>
          </a:p>
        </p:txBody>
      </p:sp>
      <p:sp>
        <p:nvSpPr>
          <p:cNvPr id="34" name="Shape 32"/>
          <p:cNvSpPr/>
          <p:nvPr/>
        </p:nvSpPr>
        <p:spPr>
          <a:xfrm>
            <a:off x="8127797" y="1865376"/>
            <a:ext cx="3515258" cy="457200"/>
          </a:xfrm>
          <a:prstGeom prst="roundRect">
            <a:avLst>
              <a:gd name="adj" fmla="val 16000"/>
            </a:avLst>
          </a:prstGeom>
          <a:solidFill>
            <a:srgbClr val="1C222B"/>
          </a:solidFill>
          <a:ln/>
        </p:spPr>
      </p:sp>
      <p:sp>
        <p:nvSpPr>
          <p:cNvPr id="35" name="Text 33"/>
          <p:cNvSpPr txBox="1"/>
          <p:nvPr/>
        </p:nvSpPr>
        <p:spPr>
          <a:xfrm>
            <a:off x="8292389" y="1883664"/>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FIRE Calculator</a:t>
            </a:r>
            <a:endParaRPr lang="en-US" sz="1200" dirty="0"/>
          </a:p>
          <a:p>
            <a:pPr indent="0" marL="0">
              <a:buNone/>
            </a:pPr>
            <a:r>
              <a:rPr lang="en-US" sz="1000" dirty="0">
                <a:solidFill>
                  <a:srgbClr val="9AA4B2"/>
                </a:solidFill>
              </a:rPr>
              <a:t>When does work become optional?</a:t>
            </a:r>
            <a:endParaRPr lang="en-US" sz="1200" dirty="0"/>
          </a:p>
        </p:txBody>
      </p:sp>
      <p:sp>
        <p:nvSpPr>
          <p:cNvPr id="36" name="Shape 34"/>
          <p:cNvSpPr/>
          <p:nvPr/>
        </p:nvSpPr>
        <p:spPr>
          <a:xfrm>
            <a:off x="8127797" y="2377440"/>
            <a:ext cx="3515258" cy="457200"/>
          </a:xfrm>
          <a:prstGeom prst="roundRect">
            <a:avLst>
              <a:gd name="adj" fmla="val 16000"/>
            </a:avLst>
          </a:prstGeom>
          <a:solidFill>
            <a:srgbClr val="1C222B"/>
          </a:solidFill>
          <a:ln/>
        </p:spPr>
      </p:sp>
      <p:sp>
        <p:nvSpPr>
          <p:cNvPr id="37" name="Text 35"/>
          <p:cNvSpPr txBox="1"/>
          <p:nvPr/>
        </p:nvSpPr>
        <p:spPr>
          <a:xfrm>
            <a:off x="8292389" y="2395728"/>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Portfolio Backtest</a:t>
            </a:r>
            <a:endParaRPr lang="en-US" sz="1200" dirty="0"/>
          </a:p>
          <a:p>
            <a:pPr indent="0" marL="0">
              <a:buNone/>
            </a:pPr>
            <a:r>
              <a:rPr lang="en-US" sz="1000" dirty="0">
                <a:solidFill>
                  <a:srgbClr val="9AA4B2"/>
                </a:solidFill>
              </a:rPr>
              <a:t>What would this mix have done?</a:t>
            </a:r>
            <a:endParaRPr lang="en-US" sz="1200" dirty="0"/>
          </a:p>
        </p:txBody>
      </p:sp>
      <p:sp>
        <p:nvSpPr>
          <p:cNvPr id="38" name="Shape 36"/>
          <p:cNvSpPr/>
          <p:nvPr/>
        </p:nvSpPr>
        <p:spPr>
          <a:xfrm>
            <a:off x="8127797" y="2889504"/>
            <a:ext cx="3515258" cy="457200"/>
          </a:xfrm>
          <a:prstGeom prst="roundRect">
            <a:avLst>
              <a:gd name="adj" fmla="val 16000"/>
            </a:avLst>
          </a:prstGeom>
          <a:solidFill>
            <a:srgbClr val="1C222B"/>
          </a:solidFill>
          <a:ln/>
        </p:spPr>
      </p:sp>
      <p:sp>
        <p:nvSpPr>
          <p:cNvPr id="39" name="Text 37"/>
          <p:cNvSpPr txBox="1"/>
          <p:nvPr/>
        </p:nvSpPr>
        <p:spPr>
          <a:xfrm>
            <a:off x="8292389" y="2907792"/>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College Savings</a:t>
            </a:r>
            <a:endParaRPr lang="en-US" sz="1200" dirty="0"/>
          </a:p>
          <a:p>
            <a:pPr indent="0" marL="0">
              <a:buNone/>
            </a:pPr>
            <a:r>
              <a:rPr lang="en-US" sz="1000" dirty="0">
                <a:solidFill>
                  <a:srgbClr val="9AA4B2"/>
                </a:solidFill>
              </a:rPr>
              <a:t>How much should I save for college?</a:t>
            </a:r>
            <a:endParaRPr lang="en-US" sz="1200" dirty="0"/>
          </a:p>
        </p:txBody>
      </p:sp>
      <p:sp>
        <p:nvSpPr>
          <p:cNvPr id="40" name="Shape 38"/>
          <p:cNvSpPr/>
          <p:nvPr/>
        </p:nvSpPr>
        <p:spPr>
          <a:xfrm>
            <a:off x="8127797" y="3401568"/>
            <a:ext cx="3515258" cy="457200"/>
          </a:xfrm>
          <a:prstGeom prst="roundRect">
            <a:avLst>
              <a:gd name="adj" fmla="val 16000"/>
            </a:avLst>
          </a:prstGeom>
          <a:solidFill>
            <a:srgbClr val="1C222B"/>
          </a:solidFill>
          <a:ln/>
        </p:spPr>
      </p:sp>
      <p:sp>
        <p:nvSpPr>
          <p:cNvPr id="41" name="Text 39"/>
          <p:cNvSpPr txBox="1"/>
          <p:nvPr/>
        </p:nvSpPr>
        <p:spPr>
          <a:xfrm>
            <a:off x="8292389" y="3419856"/>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Rent vs. Buy</a:t>
            </a:r>
            <a:endParaRPr lang="en-US" sz="1200" dirty="0"/>
          </a:p>
          <a:p>
            <a:pPr indent="0" marL="0">
              <a:buNone/>
            </a:pPr>
            <a:r>
              <a:rPr lang="en-US" sz="1000" dirty="0">
                <a:solidFill>
                  <a:srgbClr val="9AA4B2"/>
                </a:solidFill>
              </a:rPr>
              <a:t>Should I rent or buy?</a:t>
            </a:r>
            <a:endParaRPr lang="en-US" sz="1200" dirty="0"/>
          </a:p>
        </p:txBody>
      </p:sp>
      <p:sp>
        <p:nvSpPr>
          <p:cNvPr id="42" name="Shape 40"/>
          <p:cNvSpPr/>
          <p:nvPr/>
        </p:nvSpPr>
        <p:spPr>
          <a:xfrm>
            <a:off x="8127797" y="4133088"/>
            <a:ext cx="146304" cy="146304"/>
          </a:xfrm>
          <a:prstGeom prst="ellipse">
            <a:avLst/>
          </a:prstGeom>
          <a:solidFill>
            <a:srgbClr val="9670EC"/>
          </a:solidFill>
          <a:ln/>
        </p:spPr>
      </p:sp>
      <p:sp>
        <p:nvSpPr>
          <p:cNvPr id="43" name="Text 41"/>
          <p:cNvSpPr txBox="1"/>
          <p:nvPr/>
        </p:nvSpPr>
        <p:spPr>
          <a:xfrm>
            <a:off x="8365541" y="4059936"/>
            <a:ext cx="3240938" cy="274320"/>
          </a:xfrm>
          <a:prstGeom prst="rect">
            <a:avLst/>
          </a:prstGeom>
          <a:noFill/>
          <a:ln/>
        </p:spPr>
        <p:txBody>
          <a:bodyPr wrap="square" lIns="0" tIns="0" rIns="0" bIns="0" rtlCol="0" anchor="t"/>
          <a:lstStyle/>
          <a:p>
            <a:pPr indent="0" marL="0">
              <a:buNone/>
            </a:pPr>
            <a:r>
              <a:rPr lang="en-US" sz="1100" b="1" spc="100" kern="0" dirty="0">
                <a:solidFill>
                  <a:srgbClr val="9670EC"/>
                </a:solidFill>
              </a:rPr>
              <a:t>EVERYDAY MONEY</a:t>
            </a:r>
            <a:endParaRPr lang="en-US" sz="1100" dirty="0"/>
          </a:p>
        </p:txBody>
      </p:sp>
      <p:sp>
        <p:nvSpPr>
          <p:cNvPr id="44" name="Shape 42"/>
          <p:cNvSpPr/>
          <p:nvPr/>
        </p:nvSpPr>
        <p:spPr>
          <a:xfrm>
            <a:off x="8127797" y="4370832"/>
            <a:ext cx="3515258" cy="457200"/>
          </a:xfrm>
          <a:prstGeom prst="roundRect">
            <a:avLst>
              <a:gd name="adj" fmla="val 16000"/>
            </a:avLst>
          </a:prstGeom>
          <a:solidFill>
            <a:srgbClr val="1C222B"/>
          </a:solidFill>
          <a:ln/>
        </p:spPr>
      </p:sp>
      <p:sp>
        <p:nvSpPr>
          <p:cNvPr id="45" name="Text 43"/>
          <p:cNvSpPr txBox="1"/>
          <p:nvPr/>
        </p:nvSpPr>
        <p:spPr>
          <a:xfrm>
            <a:off x="8292389" y="4389120"/>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Income Tax</a:t>
            </a:r>
            <a:endParaRPr lang="en-US" sz="1200" dirty="0"/>
          </a:p>
          <a:p>
            <a:pPr indent="0" marL="0">
              <a:buNone/>
            </a:pPr>
            <a:r>
              <a:rPr lang="en-US" sz="1000" dirty="0">
                <a:solidFill>
                  <a:srgbClr val="9AA4B2"/>
                </a:solidFill>
              </a:rPr>
              <a:t>How much tax will I owe?</a:t>
            </a:r>
            <a:endParaRPr lang="en-US" sz="1200" dirty="0"/>
          </a:p>
        </p:txBody>
      </p:sp>
      <p:sp>
        <p:nvSpPr>
          <p:cNvPr id="46" name="Shape 44"/>
          <p:cNvSpPr/>
          <p:nvPr/>
        </p:nvSpPr>
        <p:spPr>
          <a:xfrm>
            <a:off x="8127797" y="4882896"/>
            <a:ext cx="3515258" cy="457200"/>
          </a:xfrm>
          <a:prstGeom prst="roundRect">
            <a:avLst>
              <a:gd name="adj" fmla="val 16000"/>
            </a:avLst>
          </a:prstGeom>
          <a:solidFill>
            <a:srgbClr val="1C222B"/>
          </a:solidFill>
          <a:ln/>
        </p:spPr>
      </p:sp>
      <p:sp>
        <p:nvSpPr>
          <p:cNvPr id="47" name="Text 45"/>
          <p:cNvSpPr txBox="1"/>
          <p:nvPr/>
        </p:nvSpPr>
        <p:spPr>
          <a:xfrm>
            <a:off x="8292389" y="4901184"/>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Budget</a:t>
            </a:r>
            <a:endParaRPr lang="en-US" sz="1200" dirty="0"/>
          </a:p>
          <a:p>
            <a:pPr indent="0" marL="0">
              <a:buNone/>
            </a:pPr>
            <a:r>
              <a:rPr lang="en-US" sz="1000" dirty="0">
                <a:solidFill>
                  <a:srgbClr val="9AA4B2"/>
                </a:solidFill>
              </a:rPr>
              <a:t>Where does my money go?</a:t>
            </a:r>
            <a:endParaRPr lang="en-US" sz="1200" dirty="0"/>
          </a:p>
        </p:txBody>
      </p:sp>
      <p:sp>
        <p:nvSpPr>
          <p:cNvPr id="48" name="Shape 46"/>
          <p:cNvSpPr/>
          <p:nvPr/>
        </p:nvSpPr>
        <p:spPr>
          <a:xfrm>
            <a:off x="8127797" y="5394960"/>
            <a:ext cx="3515258" cy="457200"/>
          </a:xfrm>
          <a:prstGeom prst="roundRect">
            <a:avLst>
              <a:gd name="adj" fmla="val 16000"/>
            </a:avLst>
          </a:prstGeom>
          <a:solidFill>
            <a:srgbClr val="1C222B"/>
          </a:solidFill>
          <a:ln/>
        </p:spPr>
      </p:sp>
      <p:sp>
        <p:nvSpPr>
          <p:cNvPr id="49" name="Text 47"/>
          <p:cNvSpPr txBox="1"/>
          <p:nvPr/>
        </p:nvSpPr>
        <p:spPr>
          <a:xfrm>
            <a:off x="8292389" y="5413248"/>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Debt Payoff</a:t>
            </a:r>
            <a:endParaRPr lang="en-US" sz="1200" dirty="0"/>
          </a:p>
          <a:p>
            <a:pPr indent="0" marL="0">
              <a:buNone/>
            </a:pPr>
            <a:r>
              <a:rPr lang="en-US" sz="1000" dirty="0">
                <a:solidFill>
                  <a:srgbClr val="9AA4B2"/>
                </a:solidFill>
              </a:rPr>
              <a:t>Which debt should I pay off first?</a:t>
            </a:r>
            <a:endParaRPr lang="en-US" sz="1200" dirty="0"/>
          </a:p>
        </p:txBody>
      </p:sp>
      <p:sp>
        <p:nvSpPr>
          <p:cNvPr id="50" name="Shape 48"/>
          <p:cNvSpPr/>
          <p:nvPr/>
        </p:nvSpPr>
        <p:spPr>
          <a:xfrm>
            <a:off x="8127797" y="5907024"/>
            <a:ext cx="3515258" cy="457200"/>
          </a:xfrm>
          <a:prstGeom prst="roundRect">
            <a:avLst>
              <a:gd name="adj" fmla="val 16000"/>
            </a:avLst>
          </a:prstGeom>
          <a:solidFill>
            <a:srgbClr val="1C222B"/>
          </a:solidFill>
          <a:ln/>
        </p:spPr>
      </p:sp>
      <p:sp>
        <p:nvSpPr>
          <p:cNvPr id="51" name="Text 49"/>
          <p:cNvSpPr txBox="1"/>
          <p:nvPr/>
        </p:nvSpPr>
        <p:spPr>
          <a:xfrm>
            <a:off x="8292389" y="5925312"/>
            <a:ext cx="3240938" cy="420624"/>
          </a:xfrm>
          <a:prstGeom prst="rect">
            <a:avLst/>
          </a:prstGeom>
          <a:noFill/>
          <a:ln/>
        </p:spPr>
        <p:txBody>
          <a:bodyPr wrap="square" lIns="0" tIns="0" rIns="0" bIns="0" rtlCol="0" anchor="ctr"/>
          <a:lstStyle/>
          <a:p>
            <a:pPr indent="0" marL="0">
              <a:buNone/>
            </a:pPr>
            <a:r>
              <a:rPr lang="en-US" sz="1200" b="1" dirty="0">
                <a:solidFill>
                  <a:srgbClr val="E8EBF0"/>
                </a:solidFill>
              </a:rPr>
              <a:t>Mortgage Calculator</a:t>
            </a:r>
            <a:endParaRPr lang="en-US" sz="1200" dirty="0"/>
          </a:p>
          <a:p>
            <a:pPr indent="0" marL="0">
              <a:buNone/>
            </a:pPr>
            <a:r>
              <a:rPr lang="en-US" sz="1000" dirty="0">
                <a:solidFill>
                  <a:srgbClr val="9AA4B2"/>
                </a:solidFill>
              </a:rPr>
              <a:t>What will the house cost each month?</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CALCULATORS</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Basic and Advanced</a:t>
            </a:r>
            <a:endParaRPr lang="en-US" sz="3000" dirty="0"/>
          </a:p>
        </p:txBody>
      </p:sp>
      <p:sp>
        <p:nvSpPr>
          <p:cNvPr id="4" name="Text 2"/>
          <p:cNvSpPr txBox="1"/>
          <p:nvPr/>
        </p:nvSpPr>
        <p:spPr>
          <a:xfrm>
            <a:off x="548640" y="1508760"/>
            <a:ext cx="4023360" cy="576072"/>
          </a:xfrm>
          <a:prstGeom prst="rect">
            <a:avLst/>
          </a:prstGeom>
          <a:noFill/>
          <a:ln/>
        </p:spPr>
        <p:txBody>
          <a:bodyPr wrap="square" lIns="0" tIns="0" rIns="0" bIns="0" rtlCol="0" anchor="t"/>
          <a:lstStyle/>
          <a:p>
            <a:pPr indent="0" marL="0">
              <a:buNone/>
            </a:pPr>
            <a:r>
              <a:rPr lang="en-US" sz="1700" b="1" dirty="0">
                <a:solidFill>
                  <a:srgbClr val="E3A93B"/>
                </a:solidFill>
              </a:rPr>
              <a:t>What will my savings grow to, and is it enough?</a:t>
            </a:r>
            <a:endParaRPr lang="en-US" sz="1700" dirty="0"/>
          </a:p>
        </p:txBody>
      </p:sp>
      <p:sp>
        <p:nvSpPr>
          <p:cNvPr id="5" name="Text 3"/>
          <p:cNvSpPr txBox="1"/>
          <p:nvPr/>
        </p:nvSpPr>
        <p:spPr>
          <a:xfrm>
            <a:off x="548640" y="2313432"/>
            <a:ext cx="4023360" cy="685800"/>
          </a:xfrm>
          <a:prstGeom prst="rect">
            <a:avLst/>
          </a:prstGeom>
          <a:noFill/>
          <a:ln/>
        </p:spPr>
        <p:txBody>
          <a:bodyPr wrap="square" lIns="0" tIns="0" rIns="0" bIns="0" rtlCol="0" anchor="t"/>
          <a:lstStyle/>
          <a:p>
            <a:pPr indent="0" marL="0">
              <a:buNone/>
            </a:pPr>
            <a:r>
              <a:rPr lang="en-US" sz="1400" dirty="0">
                <a:solidFill>
                  <a:srgbClr val="9AA4B2"/>
                </a:solidFill>
              </a:rPr>
              <a:t>Basic answers in six questions. Advanced adds what a real plan has to carry.</a:t>
            </a:r>
            <a:endParaRPr lang="en-US" sz="1400" dirty="0"/>
          </a:p>
        </p:txBody>
      </p:sp>
      <p:sp>
        <p:nvSpPr>
          <p:cNvPr id="6" name="Text 4"/>
          <p:cNvSpPr txBox="1"/>
          <p:nvPr/>
        </p:nvSpPr>
        <p:spPr>
          <a:xfrm>
            <a:off x="548640" y="3108960"/>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ADVANCED ADDS</a:t>
            </a:r>
            <a:endParaRPr lang="en-US" sz="1100" dirty="0"/>
          </a:p>
        </p:txBody>
      </p:sp>
      <p:sp>
        <p:nvSpPr>
          <p:cNvPr id="7" name="Text 5"/>
          <p:cNvSpPr txBox="1"/>
          <p:nvPr/>
        </p:nvSpPr>
        <p:spPr>
          <a:xfrm>
            <a:off x="548640" y="3401568"/>
            <a:ext cx="4023360" cy="162306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Traditional, Roth, brokerage and HSA</a:t>
            </a:r>
            <a:endParaRPr lang="en-US" sz="1400" dirty="0"/>
          </a:p>
          <a:p>
            <a:pPr marL="177800" indent="-177800">
              <a:spcAft>
                <a:spcPts val="300"/>
              </a:spcAft>
              <a:buSzPct val="100000"/>
              <a:buChar char="•"/>
            </a:pPr>
            <a:r>
              <a:rPr lang="en-US" sz="1400" dirty="0">
                <a:solidFill>
                  <a:srgbClr val="E8EBF0"/>
                </a:solidFill>
              </a:rPr>
              <a:t>Employer match, fees and a glide path</a:t>
            </a:r>
            <a:endParaRPr lang="en-US" sz="1400" dirty="0"/>
          </a:p>
          <a:p>
            <a:pPr marL="177800" indent="-177800">
              <a:spcAft>
                <a:spcPts val="300"/>
              </a:spcAft>
              <a:buSzPct val="100000"/>
              <a:buChar char="•"/>
            </a:pPr>
            <a:r>
              <a:rPr lang="en-US" sz="1400" dirty="0">
                <a:solidFill>
                  <a:srgbClr val="E8EBF0"/>
                </a:solidFill>
              </a:rPr>
              <a:t>Taxes by filing status and state</a:t>
            </a:r>
            <a:endParaRPr lang="en-US" sz="1400" dirty="0"/>
          </a:p>
          <a:p>
            <a:pPr marL="177800" indent="-177800">
              <a:spcAft>
                <a:spcPts val="300"/>
              </a:spcAft>
              <a:buSzPct val="100000"/>
              <a:buChar char="•"/>
            </a:pPr>
            <a:r>
              <a:rPr lang="en-US" sz="1400" dirty="0">
                <a:solidFill>
                  <a:srgbClr val="E8EBF0"/>
                </a:solidFill>
              </a:rPr>
              <a:t>Reach a target: the contribution or years it takes</a:t>
            </a:r>
            <a:endParaRPr lang="en-US" sz="1400" dirty="0"/>
          </a:p>
          <a:p>
            <a:pPr marL="177800" indent="-177800">
              <a:spcAft>
                <a:spcPts val="300"/>
              </a:spcAft>
              <a:buSzPct val="100000"/>
              <a:buChar char="•"/>
            </a:pPr>
            <a:r>
              <a:rPr lang="en-US" sz="1400" dirty="0">
                <a:solidFill>
                  <a:srgbClr val="E8EBF0"/>
                </a:solidFill>
              </a:rPr>
              <a:t>Rate band, 1926 history or Monte Carlo</a:t>
            </a:r>
            <a:endParaRPr lang="en-US" sz="1400" dirty="0"/>
          </a:p>
        </p:txBody>
      </p:sp>
      <p:sp>
        <p:nvSpPr>
          <p:cNvPr id="8" name="Text 6"/>
          <p:cNvSpPr txBox="1"/>
          <p:nvPr/>
        </p:nvSpPr>
        <p:spPr>
          <a:xfrm>
            <a:off x="548640" y="5234940"/>
            <a:ext cx="4023360" cy="548640"/>
          </a:xfrm>
          <a:prstGeom prst="rect">
            <a:avLst/>
          </a:prstGeom>
          <a:noFill/>
          <a:ln/>
        </p:spPr>
        <p:txBody>
          <a:bodyPr wrap="square" lIns="0" tIns="0" rIns="0" bIns="0" rtlCol="0" anchor="t"/>
          <a:lstStyle/>
          <a:p>
            <a:pPr indent="0" marL="0">
              <a:buNone/>
            </a:pPr>
            <a:r>
              <a:rPr lang="en-US" sz="3400" b="1" dirty="0">
                <a:solidFill>
                  <a:srgbClr val="E3A93B"/>
                </a:solidFill>
              </a:rPr>
              <a:t>5,000</a:t>
            </a:r>
            <a:endParaRPr lang="en-US" sz="3400" dirty="0"/>
          </a:p>
        </p:txBody>
      </p:sp>
      <p:sp>
        <p:nvSpPr>
          <p:cNvPr id="9" name="Text 7"/>
          <p:cNvSpPr txBox="1"/>
          <p:nvPr/>
        </p:nvSpPr>
        <p:spPr>
          <a:xfrm>
            <a:off x="548640" y="5783580"/>
            <a:ext cx="4023360" cy="274320"/>
          </a:xfrm>
          <a:prstGeom prst="rect">
            <a:avLst/>
          </a:prstGeom>
          <a:noFill/>
          <a:ln/>
        </p:spPr>
        <p:txBody>
          <a:bodyPr wrap="square" lIns="0" tIns="0" rIns="0" bIns="0" rtlCol="0" anchor="t"/>
          <a:lstStyle/>
          <a:p>
            <a:pPr indent="0" marL="0">
              <a:buNone/>
            </a:pPr>
            <a:r>
              <a:rPr lang="en-US" sz="1200" dirty="0">
                <a:solidFill>
                  <a:srgbClr val="9AA4B2"/>
                </a:solidFill>
              </a:rPr>
              <a:t>Monte Carlo runs on every redraw</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calculator" history="1" highlightClick="0" endSnd="0">
                  <a:extLst>
                    <a:ext uri="{A12FA001-AC4F-418D-AE19-62706E023703}">
                      <ahyp:hlinkClr xmlns:ahyp="http://schemas.microsoft.com/office/drawing/2018/hyperlinkcolor" val="tx"/>
                    </a:ext>
                  </a:extLst>
                </a:hlinkClick>
              </a:rPr>
              <a:t>retcalc.app/calculator</a:t>
            </a:r>
            <a:endParaRPr lang="en-US" sz="1000" dirty="0"/>
          </a:p>
        </p:txBody>
      </p:sp>
      <p:sp>
        <p:nvSpPr>
          <p:cNvPr id="11" name="Shape 9"/>
          <p:cNvSpPr/>
          <p:nvPr/>
        </p:nvSpPr>
        <p:spPr>
          <a:xfrm>
            <a:off x="4983480" y="0"/>
            <a:ext cx="7208215" cy="6858000"/>
          </a:xfrm>
          <a:prstGeom prst="rect">
            <a:avLst/>
          </a:prstGeom>
          <a:solidFill>
            <a:srgbClr val="342C1D"/>
          </a:solidFill>
          <a:ln/>
        </p:spPr>
      </p:sp>
      <p:pic>
        <p:nvPicPr>
          <p:cNvPr id="12" name="Image 0" descr="/Users/erikalfriend/Projects/RetCalc/.claude/worktrees/marketing-package/marketing/deck/img/calculator_1_balance-over-time.png">    </p:cNvPr>
          <p:cNvPicPr>
            <a:picLocks noChangeAspect="1"/>
          </p:cNvPicPr>
          <p:nvPr/>
        </p:nvPicPr>
        <p:blipFill>
          <a:blip r:embed="rId2"/>
          <a:stretch>
            <a:fillRect/>
          </a:stretch>
        </p:blipFill>
        <p:spPr>
          <a:xfrm>
            <a:off x="6647662" y="411480"/>
            <a:ext cx="3879852" cy="3517120"/>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advanced_chart_mc_0_0.8.png">    </p:cNvPr>
          <p:cNvPicPr>
            <a:picLocks noChangeAspect="1"/>
          </p:cNvPicPr>
          <p:nvPr/>
        </p:nvPicPr>
        <p:blipFill>
          <a:blip r:embed="rId3"/>
          <a:stretch>
            <a:fillRect/>
          </a:stretch>
        </p:blipFill>
        <p:spPr>
          <a:xfrm>
            <a:off x="6647662" y="4084172"/>
            <a:ext cx="3879852" cy="2362348"/>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CALCULATORS</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Stages: around children</a:t>
            </a:r>
            <a:endParaRPr lang="en-US" sz="3000" dirty="0"/>
          </a:p>
        </p:txBody>
      </p:sp>
      <p:sp>
        <p:nvSpPr>
          <p:cNvPr id="4" name="Text 2"/>
          <p:cNvSpPr txBox="1"/>
          <p:nvPr/>
        </p:nvSpPr>
        <p:spPr>
          <a:xfrm>
            <a:off x="548640" y="1938528"/>
            <a:ext cx="4023360" cy="310896"/>
          </a:xfrm>
          <a:prstGeom prst="rect">
            <a:avLst/>
          </a:prstGeom>
          <a:noFill/>
          <a:ln/>
        </p:spPr>
        <p:txBody>
          <a:bodyPr wrap="square" lIns="0" tIns="0" rIns="0" bIns="0" rtlCol="0" anchor="t"/>
          <a:lstStyle/>
          <a:p>
            <a:pPr indent="0" marL="0">
              <a:buNone/>
            </a:pPr>
            <a:r>
              <a:rPr lang="en-US" sz="1700" b="1" dirty="0">
                <a:solidFill>
                  <a:srgbClr val="E3A93B"/>
                </a:solidFill>
              </a:rPr>
              <a:t>Saving that pauses, then comes back</a:t>
            </a:r>
            <a:endParaRPr lang="en-US" sz="1700" dirty="0"/>
          </a:p>
        </p:txBody>
      </p:sp>
      <p:sp>
        <p:nvSpPr>
          <p:cNvPr id="5" name="Text 3"/>
          <p:cNvSpPr txBox="1"/>
          <p:nvPr/>
        </p:nvSpPr>
        <p:spPr>
          <a:xfrm>
            <a:off x="548640" y="2478024"/>
            <a:ext cx="4023360" cy="1143000"/>
          </a:xfrm>
          <a:prstGeom prst="rect">
            <a:avLst/>
          </a:prstGeom>
          <a:noFill/>
          <a:ln/>
        </p:spPr>
        <p:txBody>
          <a:bodyPr wrap="square" lIns="0" tIns="0" rIns="0" bIns="0" rtlCol="0" anchor="t"/>
          <a:lstStyle/>
          <a:p>
            <a:pPr indent="0" marL="0">
              <a:buNone/>
            </a:pPr>
            <a:r>
              <a:rPr lang="en-US" sz="1400" dirty="0">
                <a:solidFill>
                  <a:srgbClr val="9AA4B2"/>
                </a:solidFill>
              </a:rPr>
              <a:t>The kids builder turned the sample couple's single 31-year stage into nine, from Before children to Empty nest, with childcare and the teen years taking the saving for 18 years.</a:t>
            </a:r>
            <a:endParaRPr lang="en-US" sz="1400" dirty="0"/>
          </a:p>
        </p:txBody>
      </p:sp>
      <p:sp>
        <p:nvSpPr>
          <p:cNvPr id="6" name="Text 4"/>
          <p:cNvSpPr txBox="1"/>
          <p:nvPr/>
        </p:nvSpPr>
        <p:spPr>
          <a:xfrm>
            <a:off x="548640" y="373075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THE BUILDER ASKS</a:t>
            </a:r>
            <a:endParaRPr lang="en-US" sz="1100" dirty="0"/>
          </a:p>
        </p:txBody>
      </p:sp>
      <p:sp>
        <p:nvSpPr>
          <p:cNvPr id="7" name="Text 5"/>
          <p:cNvSpPr txBox="1"/>
          <p:nvPr/>
        </p:nvSpPr>
        <p:spPr>
          <a:xfrm>
            <a:off x="548640" y="4023360"/>
            <a:ext cx="4023360" cy="1133856"/>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Children you have now, and their ages</a:t>
            </a:r>
            <a:endParaRPr lang="en-US" sz="1400" dirty="0"/>
          </a:p>
          <a:p>
            <a:pPr marL="177800" indent="-177800">
              <a:spcAft>
                <a:spcPts val="300"/>
              </a:spcAft>
              <a:buSzPct val="100000"/>
              <a:buChar char="•"/>
            </a:pPr>
            <a:r>
              <a:rPr lang="en-US" sz="1400" dirty="0">
                <a:solidFill>
                  <a:srgbClr val="E8EBF0"/>
                </a:solidFill>
              </a:rPr>
              <a:t>Children planned, and how far apart</a:t>
            </a:r>
            <a:endParaRPr lang="en-US" sz="1400" dirty="0"/>
          </a:p>
          <a:p>
            <a:pPr marL="177800" indent="-177800">
              <a:spcAft>
                <a:spcPts val="300"/>
              </a:spcAft>
              <a:buSzPct val="100000"/>
              <a:buChar char="•"/>
            </a:pPr>
            <a:r>
              <a:rPr lang="en-US" sz="1400" dirty="0">
                <a:solidFill>
                  <a:srgbClr val="E8EBF0"/>
                </a:solidFill>
              </a:rPr>
              <a:t>Paid childcare before school</a:t>
            </a:r>
            <a:endParaRPr lang="en-US" sz="1400" dirty="0"/>
          </a:p>
          <a:p>
            <a:pPr marL="177800" indent="-177800">
              <a:spcAft>
                <a:spcPts val="300"/>
              </a:spcAft>
              <a:buSzPct val="100000"/>
              <a:buChar char="•"/>
            </a:pPr>
            <a:r>
              <a:rPr lang="en-US" sz="1400" dirty="0">
                <a:solidFill>
                  <a:srgbClr val="E8EBF0"/>
                </a:solidFill>
              </a:rPr>
              <a:t>Monthly cost by age band, or the defaults</a:t>
            </a:r>
            <a:endParaRPr lang="en-US" sz="1400" dirty="0"/>
          </a:p>
        </p:txBody>
      </p:sp>
      <p:sp>
        <p:nvSpPr>
          <p:cNvPr id="8" name="Text 6"/>
          <p:cNvSpPr txBox="1"/>
          <p:nvPr/>
        </p:nvSpPr>
        <p:spPr>
          <a:xfrm>
            <a:off x="548640" y="5367528"/>
            <a:ext cx="4023360" cy="548640"/>
          </a:xfrm>
          <a:prstGeom prst="rect">
            <a:avLst/>
          </a:prstGeom>
          <a:noFill/>
          <a:ln/>
        </p:spPr>
        <p:txBody>
          <a:bodyPr wrap="square" lIns="0" tIns="0" rIns="0" bIns="0" rtlCol="0" anchor="t"/>
          <a:lstStyle/>
          <a:p>
            <a:pPr indent="0" marL="0">
              <a:buNone/>
            </a:pPr>
            <a:r>
              <a:rPr lang="en-US" sz="3400" b="1" dirty="0">
                <a:solidFill>
                  <a:srgbClr val="E3A93B"/>
                </a:solidFill>
              </a:rPr>
              <a:t>9 stages</a:t>
            </a:r>
            <a:endParaRPr lang="en-US" sz="3400" dirty="0"/>
          </a:p>
        </p:txBody>
      </p:sp>
      <p:sp>
        <p:nvSpPr>
          <p:cNvPr id="9" name="Text 7"/>
          <p:cNvSpPr txBox="1"/>
          <p:nvPr/>
        </p:nvSpPr>
        <p:spPr>
          <a:xfrm>
            <a:off x="548640" y="5916168"/>
            <a:ext cx="4023360" cy="274320"/>
          </a:xfrm>
          <a:prstGeom prst="rect">
            <a:avLst/>
          </a:prstGeom>
          <a:noFill/>
          <a:ln/>
        </p:spPr>
        <p:txBody>
          <a:bodyPr wrap="square" lIns="0" tIns="0" rIns="0" bIns="0" rtlCol="0" anchor="t"/>
          <a:lstStyle/>
          <a:p>
            <a:pPr indent="0" marL="0">
              <a:buNone/>
            </a:pPr>
            <a:r>
              <a:rPr lang="en-US" sz="1200" dirty="0">
                <a:solidFill>
                  <a:srgbClr val="9AA4B2"/>
                </a:solidFill>
              </a:rPr>
              <a:t>built from one, around two planned children</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stages" history="1" highlightClick="0" endSnd="0">
                  <a:extLst>
                    <a:ext uri="{A12FA001-AC4F-418D-AE19-62706E023703}">
                      <ahyp:hlinkClr xmlns:ahyp="http://schemas.microsoft.com/office/drawing/2018/hyperlinkcolor" val="tx"/>
                    </a:ext>
                  </a:extLst>
                </a:hlinkClick>
              </a:rPr>
              <a:t>retcalc.app/stages</a:t>
            </a:r>
            <a:endParaRPr lang="en-US" sz="1000" dirty="0"/>
          </a:p>
        </p:txBody>
      </p:sp>
      <p:sp>
        <p:nvSpPr>
          <p:cNvPr id="11" name="Shape 9"/>
          <p:cNvSpPr/>
          <p:nvPr/>
        </p:nvSpPr>
        <p:spPr>
          <a:xfrm>
            <a:off x="4983480" y="0"/>
            <a:ext cx="7208215" cy="6858000"/>
          </a:xfrm>
          <a:prstGeom prst="rect">
            <a:avLst/>
          </a:prstGeom>
          <a:solidFill>
            <a:srgbClr val="342C1D"/>
          </a:solidFill>
          <a:ln/>
        </p:spPr>
      </p:sp>
      <p:pic>
        <p:nvPicPr>
          <p:cNvPr id="12" name="Image 0" descr="/Users/erikalfriend/Projects/RetCalc/.claude/worktrees/marketing-package/marketing/deck/img/st_stg_0_your-stages_0_0.215.png">    </p:cNvPr>
          <p:cNvPicPr>
            <a:picLocks noChangeAspect="1"/>
          </p:cNvPicPr>
          <p:nvPr/>
        </p:nvPicPr>
        <p:blipFill>
          <a:blip r:embed="rId2"/>
          <a:stretch>
            <a:fillRect/>
          </a:stretch>
        </p:blipFill>
        <p:spPr>
          <a:xfrm>
            <a:off x="5394960" y="641927"/>
            <a:ext cx="2092431" cy="1925239"/>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st_stg_1_after-tax-income-per.png">    </p:cNvPr>
          <p:cNvPicPr>
            <a:picLocks noChangeAspect="1"/>
          </p:cNvPicPr>
          <p:nvPr/>
        </p:nvPicPr>
        <p:blipFill>
          <a:blip r:embed="rId3"/>
          <a:stretch>
            <a:fillRect/>
          </a:stretch>
        </p:blipFill>
        <p:spPr>
          <a:xfrm>
            <a:off x="7743423" y="641927"/>
            <a:ext cx="4036792" cy="1925239"/>
          </a:xfrm>
          <a:prstGeom prst="rect">
            <a:avLst/>
          </a:prstGeom>
          <a:effectLst>
            <a:outerShdw sx="100000" sy="100000" kx="0" ky="0" algn="bl" rotWithShape="0" blurRad="254000" dist="101600" dir="5400000">
              <a:srgbClr val="000000">
                <a:alpha val="50000"/>
              </a:srgbClr>
            </a:outerShdw>
          </a:effectLst>
        </p:spPr>
      </p:pic>
      <p:pic>
        <p:nvPicPr>
          <p:cNvPr id="14" name="Image 2" descr="/Users/erikalfriend/Projects/RetCalc/.claude/worktrees/marketing-package/marketing/deck/img/st_stg_7_stage-by-stage.png">    </p:cNvPr>
          <p:cNvPicPr>
            <a:picLocks noChangeAspect="1"/>
          </p:cNvPicPr>
          <p:nvPr/>
        </p:nvPicPr>
        <p:blipFill>
          <a:blip r:embed="rId4"/>
          <a:stretch>
            <a:fillRect/>
          </a:stretch>
        </p:blipFill>
        <p:spPr>
          <a:xfrm>
            <a:off x="5394960" y="2823198"/>
            <a:ext cx="6385255" cy="3392875"/>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Drawdown: 15 strategies</a:t>
            </a:r>
            <a:endParaRPr lang="en-US" sz="3000" dirty="0"/>
          </a:p>
        </p:txBody>
      </p:sp>
      <p:sp>
        <p:nvSpPr>
          <p:cNvPr id="4" name="Text 2"/>
          <p:cNvSpPr txBox="1"/>
          <p:nvPr/>
        </p:nvSpPr>
        <p:spPr>
          <a:xfrm>
            <a:off x="548640" y="1938528"/>
            <a:ext cx="4023360" cy="576072"/>
          </a:xfrm>
          <a:prstGeom prst="rect">
            <a:avLst/>
          </a:prstGeom>
          <a:noFill/>
          <a:ln/>
        </p:spPr>
        <p:txBody>
          <a:bodyPr wrap="square" lIns="0" tIns="0" rIns="0" bIns="0" rtlCol="0" anchor="t"/>
          <a:lstStyle/>
          <a:p>
            <a:pPr indent="0" marL="0">
              <a:buNone/>
            </a:pPr>
            <a:r>
              <a:rPr lang="en-US" sz="1700" b="1" dirty="0">
                <a:solidFill>
                  <a:srgbClr val="5AA9E6"/>
                </a:solidFill>
              </a:rPr>
              <a:t>Which withdrawal rule spends the most?</a:t>
            </a:r>
            <a:endParaRPr lang="en-US" sz="1700" dirty="0"/>
          </a:p>
        </p:txBody>
      </p:sp>
      <p:sp>
        <p:nvSpPr>
          <p:cNvPr id="5" name="Text 3"/>
          <p:cNvSpPr txBox="1"/>
          <p:nvPr/>
        </p:nvSpPr>
        <p:spPr>
          <a:xfrm>
            <a:off x="548640" y="2743200"/>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FIVE FAMILIES</a:t>
            </a:r>
            <a:endParaRPr lang="en-US" sz="1100" dirty="0"/>
          </a:p>
        </p:txBody>
      </p:sp>
      <p:sp>
        <p:nvSpPr>
          <p:cNvPr id="6" name="Text 4"/>
          <p:cNvSpPr txBox="1"/>
          <p:nvPr/>
        </p:nvSpPr>
        <p:spPr>
          <a:xfrm>
            <a:off x="548640" y="3035808"/>
            <a:ext cx="4023360" cy="162306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Steady: fixed, Kitces ratchet</a:t>
            </a:r>
            <a:endParaRPr lang="en-US" sz="1400" dirty="0"/>
          </a:p>
          <a:p>
            <a:pPr marL="177800" indent="-177800">
              <a:spcAft>
                <a:spcPts val="300"/>
              </a:spcAft>
              <a:buSzPct val="100000"/>
              <a:buChar char="•"/>
            </a:pPr>
            <a:r>
              <a:rPr lang="en-US" sz="1400" dirty="0">
                <a:solidFill>
                  <a:srgbClr val="E8EBF0"/>
                </a:solidFill>
              </a:rPr>
              <a:t>Share: fixed %, 95% rule, 1/N, RMD, VPW</a:t>
            </a:r>
            <a:endParaRPr lang="en-US" sz="1400" dirty="0"/>
          </a:p>
          <a:p>
            <a:pPr marL="177800" indent="-177800">
              <a:spcAft>
                <a:spcPts val="300"/>
              </a:spcAft>
              <a:buSzPct val="100000"/>
              <a:buChar char="•"/>
            </a:pPr>
            <a:r>
              <a:rPr lang="en-US" sz="1400" dirty="0">
                <a:solidFill>
                  <a:srgbClr val="E8EBF0"/>
                </a:solidFill>
              </a:rPr>
              <a:t>Guardrails: Guyton-Klinger, risk-based</a:t>
            </a:r>
            <a:endParaRPr lang="en-US" sz="1400" dirty="0"/>
          </a:p>
          <a:p>
            <a:pPr marL="177800" indent="-177800">
              <a:spcAft>
                <a:spcPts val="300"/>
              </a:spcAft>
              <a:buSzPct val="100000"/>
              <a:buChar char="•"/>
            </a:pPr>
            <a:r>
              <a:rPr lang="en-US" sz="1400" dirty="0">
                <a:solidFill>
                  <a:srgbClr val="E8EBF0"/>
                </a:solidFill>
              </a:rPr>
              <a:t>Smoothed: floor and ceiling, Vanguard, Yale, Autopilot II, Sensible</a:t>
            </a:r>
            <a:endParaRPr lang="en-US" sz="1400" dirty="0"/>
          </a:p>
          <a:p>
            <a:pPr marL="177800" indent="-177800">
              <a:spcAft>
                <a:spcPts val="300"/>
              </a:spcAft>
              <a:buSzPct val="100000"/>
              <a:buChar char="•"/>
            </a:pPr>
            <a:r>
              <a:rPr lang="en-US" sz="1400" dirty="0">
                <a:solidFill>
                  <a:srgbClr val="E8EBF0"/>
                </a:solidFill>
              </a:rPr>
              <a:t>Valuation: CAPE-based</a:t>
            </a:r>
            <a:endParaRPr lang="en-US" sz="1400" dirty="0"/>
          </a:p>
        </p:txBody>
      </p:sp>
      <p:sp>
        <p:nvSpPr>
          <p:cNvPr id="7" name="Text 5"/>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5AA9E6"/>
                </a:solidFill>
              </a:rPr>
              <a:t>15</a:t>
            </a:r>
            <a:endParaRPr lang="en-US" sz="3400" dirty="0"/>
          </a:p>
        </p:txBody>
      </p:sp>
      <p:sp>
        <p:nvSpPr>
          <p:cNvPr id="8" name="Text 6"/>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strategies, tuned to the same risk and compared</a:t>
            </a:r>
            <a:endParaRPr lang="en-US" sz="1200" dirty="0"/>
          </a:p>
        </p:txBody>
      </p:sp>
      <p:sp>
        <p:nvSpPr>
          <p:cNvPr id="9" name="Text 7"/>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drawdown" history="1" highlightClick="0" endSnd="0">
                  <a:extLst>
                    <a:ext uri="{A12FA001-AC4F-418D-AE19-62706E023703}">
                      <ahyp:hlinkClr xmlns:ahyp="http://schemas.microsoft.com/office/drawing/2018/hyperlinkcolor" val="tx"/>
                    </a:ext>
                  </a:extLst>
                </a:hlinkClick>
              </a:rPr>
              <a:t>retcalc.app/drawdown</a:t>
            </a:r>
            <a:endParaRPr lang="en-US" sz="1000" dirty="0"/>
          </a:p>
        </p:txBody>
      </p:sp>
      <p:sp>
        <p:nvSpPr>
          <p:cNvPr id="10" name="Shape 8"/>
          <p:cNvSpPr/>
          <p:nvPr/>
        </p:nvSpPr>
        <p:spPr>
          <a:xfrm>
            <a:off x="4983480" y="0"/>
            <a:ext cx="7208215" cy="6858000"/>
          </a:xfrm>
          <a:prstGeom prst="rect">
            <a:avLst/>
          </a:prstGeom>
          <a:solidFill>
            <a:srgbClr val="1C2C3B"/>
          </a:solidFill>
          <a:ln/>
        </p:spPr>
      </p:sp>
      <p:pic>
        <p:nvPicPr>
          <p:cNvPr id="11" name="Image 0" descr="/Users/erikalfriend/Projects/RetCalc/.claude/worktrees/marketing-package/marketing/deck/img/drawdown_cmp_3_strategy-showdown_0.13_0.425.png">    </p:cNvPr>
          <p:cNvPicPr>
            <a:picLocks noChangeAspect="1"/>
          </p:cNvPicPr>
          <p:nvPr/>
        </p:nvPicPr>
        <p:blipFill>
          <a:blip r:embed="rId2"/>
          <a:stretch>
            <a:fillRect/>
          </a:stretch>
        </p:blipFill>
        <p:spPr>
          <a:xfrm>
            <a:off x="5870353" y="411480"/>
            <a:ext cx="5434468" cy="3550091"/>
          </a:xfrm>
          <a:prstGeom prst="rect">
            <a:avLst/>
          </a:prstGeom>
          <a:effectLst>
            <a:outerShdw sx="100000" sy="100000" kx="0" ky="0" algn="bl" rotWithShape="0" blurRad="254000" dist="101600" dir="5400000">
              <a:srgbClr val="000000">
                <a:alpha val="50000"/>
              </a:srgbClr>
            </a:outerShdw>
          </a:effectLst>
        </p:spPr>
      </p:pic>
      <p:pic>
        <p:nvPicPr>
          <p:cNvPr id="12" name="Image 1" descr="/Users/erikalfriend/Projects/RetCalc/.claude/worktrees/marketing-package/marketing/deck/img/drawdown_2_every-historical-sta_0.12_0.76.png">    </p:cNvPr>
          <p:cNvPicPr>
            <a:picLocks noChangeAspect="1"/>
          </p:cNvPicPr>
          <p:nvPr/>
        </p:nvPicPr>
        <p:blipFill>
          <a:blip r:embed="rId3"/>
          <a:stretch>
            <a:fillRect/>
          </a:stretch>
        </p:blipFill>
        <p:spPr>
          <a:xfrm>
            <a:off x="5870353" y="4179478"/>
            <a:ext cx="5434468" cy="2267042"/>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Retirement Plan Optimizer</a:t>
            </a:r>
            <a:endParaRPr lang="en-US" sz="3000" dirty="0"/>
          </a:p>
        </p:txBody>
      </p:sp>
      <p:sp>
        <p:nvSpPr>
          <p:cNvPr id="4" name="Text 2"/>
          <p:cNvSpPr txBox="1"/>
          <p:nvPr/>
        </p:nvSpPr>
        <p:spPr>
          <a:xfrm>
            <a:off x="548640" y="1938528"/>
            <a:ext cx="4023360" cy="310896"/>
          </a:xfrm>
          <a:prstGeom prst="rect">
            <a:avLst/>
          </a:prstGeom>
          <a:noFill/>
          <a:ln/>
        </p:spPr>
        <p:txBody>
          <a:bodyPr wrap="square" lIns="0" tIns="0" rIns="0" bIns="0" rtlCol="0" anchor="t"/>
          <a:lstStyle/>
          <a:p>
            <a:pPr indent="0" marL="0">
              <a:buNone/>
            </a:pPr>
            <a:r>
              <a:rPr lang="en-US" sz="1700" b="1" dirty="0">
                <a:solidFill>
                  <a:srgbClr val="5AA9E6"/>
                </a:solidFill>
              </a:rPr>
              <a:t>Which plan leaves me the most?</a:t>
            </a:r>
            <a:endParaRPr lang="en-US" sz="1700" dirty="0"/>
          </a:p>
        </p:txBody>
      </p:sp>
      <p:sp>
        <p:nvSpPr>
          <p:cNvPr id="5" name="Text 3"/>
          <p:cNvSpPr txBox="1"/>
          <p:nvPr/>
        </p:nvSpPr>
        <p:spPr>
          <a:xfrm>
            <a:off x="548640" y="2478024"/>
            <a:ext cx="4023360" cy="914400"/>
          </a:xfrm>
          <a:prstGeom prst="rect">
            <a:avLst/>
          </a:prstGeom>
          <a:noFill/>
          <a:ln/>
        </p:spPr>
        <p:txBody>
          <a:bodyPr wrap="square" lIns="0" tIns="0" rIns="0" bIns="0" rtlCol="0" anchor="t"/>
          <a:lstStyle/>
          <a:p>
            <a:pPr indent="0" marL="0">
              <a:buNone/>
            </a:pPr>
            <a:r>
              <a:rPr lang="en-US" sz="1400" dirty="0">
                <a:solidFill>
                  <a:srgbClr val="9AA4B2"/>
                </a:solidFill>
              </a:rPr>
              <a:t>Claiming ages, withdrawal order, Roth conversions and income guards, crossed and run through every market since 1926.</a:t>
            </a:r>
            <a:endParaRPr lang="en-US" sz="1400" dirty="0"/>
          </a:p>
        </p:txBody>
      </p:sp>
      <p:sp>
        <p:nvSpPr>
          <p:cNvPr id="6" name="Text 4"/>
          <p:cNvSpPr txBox="1"/>
          <p:nvPr/>
        </p:nvSpPr>
        <p:spPr>
          <a:xfrm>
            <a:off x="548640" y="350215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IN THE SAMPLE</a:t>
            </a:r>
            <a:endParaRPr lang="en-US" sz="1100" dirty="0"/>
          </a:p>
        </p:txBody>
      </p:sp>
      <p:sp>
        <p:nvSpPr>
          <p:cNvPr id="7" name="Text 5"/>
          <p:cNvSpPr txBox="1"/>
          <p:nvPr/>
        </p:nvSpPr>
        <p:spPr>
          <a:xfrm>
            <a:off x="548640" y="3794760"/>
            <a:ext cx="4023360" cy="603504"/>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4,941 plans in 66 historical retirements</a:t>
            </a:r>
            <a:endParaRPr lang="en-US" sz="1400" dirty="0"/>
          </a:p>
          <a:p>
            <a:pPr marL="177800" indent="-177800">
              <a:spcAft>
                <a:spcPts val="300"/>
              </a:spcAft>
              <a:buSzPct val="100000"/>
              <a:buChar char="•"/>
            </a:pPr>
            <a:r>
              <a:rPr lang="en-US" sz="1400" dirty="0">
                <a:solidFill>
                  <a:srgbClr val="E8EBF0"/>
                </a:solidFill>
              </a:rPr>
              <a:t>+$375k left over the usual way</a:t>
            </a:r>
            <a:endParaRPr lang="en-US" sz="1400" dirty="0"/>
          </a:p>
        </p:txBody>
      </p:sp>
      <p:sp>
        <p:nvSpPr>
          <p:cNvPr id="8" name="Text 6"/>
          <p:cNvSpPr txBox="1"/>
          <p:nvPr/>
        </p:nvSpPr>
        <p:spPr>
          <a:xfrm>
            <a:off x="548640" y="4562856"/>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GOALS</a:t>
            </a:r>
            <a:endParaRPr lang="en-US" sz="1100" dirty="0"/>
          </a:p>
        </p:txBody>
      </p:sp>
      <p:sp>
        <p:nvSpPr>
          <p:cNvPr id="9" name="Text 7"/>
          <p:cNvSpPr txBox="1"/>
          <p:nvPr/>
        </p:nvSpPr>
        <p:spPr>
          <a:xfrm>
            <a:off x="548640" y="4855464"/>
            <a:ext cx="4023360" cy="33832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Leave the most, make it last, or spend the most</a:t>
            </a:r>
            <a:endParaRPr lang="en-US" sz="1400" dirty="0"/>
          </a:p>
        </p:txBody>
      </p:sp>
      <p:sp>
        <p:nvSpPr>
          <p:cNvPr id="10" name="Text 8"/>
          <p:cNvSpPr txBox="1"/>
          <p:nvPr/>
        </p:nvSpPr>
        <p:spPr>
          <a:xfrm>
            <a:off x="548640" y="5404104"/>
            <a:ext cx="4023360" cy="548640"/>
          </a:xfrm>
          <a:prstGeom prst="rect">
            <a:avLst/>
          </a:prstGeom>
          <a:noFill/>
          <a:ln/>
        </p:spPr>
        <p:txBody>
          <a:bodyPr wrap="square" lIns="0" tIns="0" rIns="0" bIns="0" rtlCol="0" anchor="t"/>
          <a:lstStyle/>
          <a:p>
            <a:pPr indent="0" marL="0">
              <a:buNone/>
            </a:pPr>
            <a:r>
              <a:rPr lang="en-US" sz="3400" b="1" dirty="0">
                <a:solidFill>
                  <a:srgbClr val="5AA9E6"/>
                </a:solidFill>
              </a:rPr>
              <a:t>326,106</a:t>
            </a:r>
            <a:endParaRPr lang="en-US" sz="3400" dirty="0"/>
          </a:p>
        </p:txBody>
      </p:sp>
      <p:sp>
        <p:nvSpPr>
          <p:cNvPr id="11" name="Text 9"/>
          <p:cNvSpPr txBox="1"/>
          <p:nvPr/>
        </p:nvSpPr>
        <p:spPr>
          <a:xfrm>
            <a:off x="548640" y="5952744"/>
            <a:ext cx="4023360" cy="274320"/>
          </a:xfrm>
          <a:prstGeom prst="rect">
            <a:avLst/>
          </a:prstGeom>
          <a:noFill/>
          <a:ln/>
        </p:spPr>
        <p:txBody>
          <a:bodyPr wrap="square" lIns="0" tIns="0" rIns="0" bIns="0" rtlCol="0" anchor="t"/>
          <a:lstStyle/>
          <a:p>
            <a:pPr indent="0" marL="0">
              <a:buNone/>
            </a:pPr>
            <a:r>
              <a:rPr lang="en-US" sz="1200" dirty="0">
                <a:solidFill>
                  <a:srgbClr val="9AA4B2"/>
                </a:solidFill>
              </a:rPr>
              <a:t>retirements simulated in one search</a:t>
            </a:r>
            <a:endParaRPr lang="en-US" sz="1200" dirty="0"/>
          </a:p>
        </p:txBody>
      </p:sp>
      <p:sp>
        <p:nvSpPr>
          <p:cNvPr id="12" name="Text 10"/>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optimizer" history="1" highlightClick="0" endSnd="0">
                  <a:extLst>
                    <a:ext uri="{A12FA001-AC4F-418D-AE19-62706E023703}">
                      <ahyp:hlinkClr xmlns:ahyp="http://schemas.microsoft.com/office/drawing/2018/hyperlinkcolor" val="tx"/>
                    </a:ext>
                  </a:extLst>
                </a:hlinkClick>
              </a:rPr>
              <a:t>retcalc.app/optimizer</a:t>
            </a:r>
            <a:endParaRPr lang="en-US" sz="1000" dirty="0"/>
          </a:p>
        </p:txBody>
      </p:sp>
      <p:sp>
        <p:nvSpPr>
          <p:cNvPr id="13" name="Shape 11"/>
          <p:cNvSpPr/>
          <p:nvPr/>
        </p:nvSpPr>
        <p:spPr>
          <a:xfrm>
            <a:off x="4983480" y="0"/>
            <a:ext cx="7208215" cy="6858000"/>
          </a:xfrm>
          <a:prstGeom prst="rect">
            <a:avLst/>
          </a:prstGeom>
          <a:solidFill>
            <a:srgbClr val="1C2C3B"/>
          </a:solidFill>
          <a:ln/>
        </p:spPr>
      </p:sp>
      <p:pic>
        <p:nvPicPr>
          <p:cNvPr id="14" name="Image 0" descr="/Users/erikalfriend/Projects/RetCalc/.claude/worktrees/marketing-package/marketing/deck/img/optimizer_2_left-for-you-and-you.png">    </p:cNvPr>
          <p:cNvPicPr>
            <a:picLocks noChangeAspect="1"/>
          </p:cNvPicPr>
          <p:nvPr/>
        </p:nvPicPr>
        <p:blipFill>
          <a:blip r:embed="rId2"/>
          <a:stretch>
            <a:fillRect/>
          </a:stretch>
        </p:blipFill>
        <p:spPr>
          <a:xfrm>
            <a:off x="5394960" y="916904"/>
            <a:ext cx="6385255" cy="1541529"/>
          </a:xfrm>
          <a:prstGeom prst="rect">
            <a:avLst/>
          </a:prstGeom>
          <a:effectLst>
            <a:outerShdw sx="100000" sy="100000" kx="0" ky="0" algn="bl" rotWithShape="0" blurRad="254000" dist="101600" dir="5400000">
              <a:srgbClr val="000000">
                <a:alpha val="50000"/>
              </a:srgbClr>
            </a:outerShdw>
          </a:effectLst>
        </p:spPr>
      </p:pic>
      <p:pic>
        <p:nvPicPr>
          <p:cNvPr id="15" name="Image 1" descr="/Users/erikalfriend/Projects/RetCalc/.claude/worktrees/marketing-package/marketing/deck/img/optimizer_5_where-each-year-s-mo.png">    </p:cNvPr>
          <p:cNvPicPr>
            <a:picLocks noChangeAspect="1"/>
          </p:cNvPicPr>
          <p:nvPr/>
        </p:nvPicPr>
        <p:blipFill>
          <a:blip r:embed="rId3"/>
          <a:stretch>
            <a:fillRect/>
          </a:stretch>
        </p:blipFill>
        <p:spPr>
          <a:xfrm>
            <a:off x="5394960" y="2714465"/>
            <a:ext cx="6385255" cy="3226632"/>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Social Security Calculator</a:t>
            </a:r>
            <a:endParaRPr lang="en-US" sz="3000" dirty="0"/>
          </a:p>
        </p:txBody>
      </p:sp>
      <p:sp>
        <p:nvSpPr>
          <p:cNvPr id="4" name="Text 2"/>
          <p:cNvSpPr txBox="1"/>
          <p:nvPr/>
        </p:nvSpPr>
        <p:spPr>
          <a:xfrm>
            <a:off x="548640" y="1938528"/>
            <a:ext cx="4023360" cy="310896"/>
          </a:xfrm>
          <a:prstGeom prst="rect">
            <a:avLst/>
          </a:prstGeom>
          <a:noFill/>
          <a:ln/>
        </p:spPr>
        <p:txBody>
          <a:bodyPr wrap="square" lIns="0" tIns="0" rIns="0" bIns="0" rtlCol="0" anchor="t"/>
          <a:lstStyle/>
          <a:p>
            <a:pPr indent="0" marL="0">
              <a:buNone/>
            </a:pPr>
            <a:r>
              <a:rPr lang="en-US" sz="1700" b="1" dirty="0">
                <a:solidFill>
                  <a:srgbClr val="5AA9E6"/>
                </a:solidFill>
              </a:rPr>
              <a:t>When should I claim?</a:t>
            </a:r>
            <a:endParaRPr lang="en-US" sz="1700" dirty="0"/>
          </a:p>
        </p:txBody>
      </p:sp>
      <p:sp>
        <p:nvSpPr>
          <p:cNvPr id="5" name="Text 3"/>
          <p:cNvSpPr txBox="1"/>
          <p:nvPr/>
        </p:nvSpPr>
        <p:spPr>
          <a:xfrm>
            <a:off x="548640" y="2478024"/>
            <a:ext cx="4023360" cy="914400"/>
          </a:xfrm>
          <a:prstGeom prst="rect">
            <a:avLst/>
          </a:prstGeom>
          <a:noFill/>
          <a:ln/>
        </p:spPr>
        <p:txBody>
          <a:bodyPr wrap="square" lIns="0" tIns="0" rIns="0" bIns="0" rtlCol="0" anchor="t"/>
          <a:lstStyle/>
          <a:p>
            <a:pPr indent="0" marL="0">
              <a:buNone/>
            </a:pPr>
            <a:r>
              <a:rPr lang="en-US" sz="1400" dirty="0">
                <a:solidFill>
                  <a:srgbClr val="9AA4B2"/>
                </a:solidFill>
              </a:rPr>
              <a:t>The check at every age from 62 to 70, how it is figured, and which age pays off best for how long you live.</a:t>
            </a:r>
            <a:endParaRPr lang="en-US" sz="1400" dirty="0"/>
          </a:p>
        </p:txBody>
      </p:sp>
      <p:sp>
        <p:nvSpPr>
          <p:cNvPr id="6" name="Text 4"/>
          <p:cNvSpPr txBox="1"/>
          <p:nvPr/>
        </p:nvSpPr>
        <p:spPr>
          <a:xfrm>
            <a:off x="548640" y="350215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FOR COUPLES</a:t>
            </a:r>
            <a:endParaRPr lang="en-US" sz="1100" dirty="0"/>
          </a:p>
        </p:txBody>
      </p:sp>
      <p:sp>
        <p:nvSpPr>
          <p:cNvPr id="7" name="Text 5"/>
          <p:cNvSpPr txBox="1"/>
          <p:nvPr/>
        </p:nvSpPr>
        <p:spPr>
          <a:xfrm>
            <a:off x="548640" y="3794760"/>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Every pair of claiming ages</a:t>
            </a:r>
            <a:endParaRPr lang="en-US" sz="1400" dirty="0"/>
          </a:p>
          <a:p>
            <a:pPr marL="177800" indent="-177800">
              <a:spcAft>
                <a:spcPts val="300"/>
              </a:spcAft>
              <a:buSzPct val="100000"/>
              <a:buChar char="•"/>
            </a:pPr>
            <a:r>
              <a:rPr lang="en-US" sz="1400" dirty="0">
                <a:solidFill>
                  <a:srgbClr val="E8EBF0"/>
                </a:solidFill>
              </a:rPr>
              <a:t>The survivor benefit</a:t>
            </a:r>
            <a:endParaRPr lang="en-US" sz="1400" dirty="0"/>
          </a:p>
          <a:p>
            <a:pPr marL="177800" indent="-177800">
              <a:spcAft>
                <a:spcPts val="300"/>
              </a:spcAft>
              <a:buSzPct val="100000"/>
              <a:buChar char="•"/>
            </a:pPr>
            <a:r>
              <a:rPr lang="en-US" sz="1400" dirty="0">
                <a:solidFill>
                  <a:srgbClr val="E8EBF0"/>
                </a:solidFill>
              </a:rPr>
              <a:t>How much of it is taxed</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5AA9E6"/>
                </a:solidFill>
              </a:rPr>
              <a:t>62 to 70</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every claiming age, side by side</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social-security" history="1" highlightClick="0" endSnd="0">
                  <a:extLst>
                    <a:ext uri="{A12FA001-AC4F-418D-AE19-62706E023703}">
                      <ahyp:hlinkClr xmlns:ahyp="http://schemas.microsoft.com/office/drawing/2018/hyperlinkcolor" val="tx"/>
                    </a:ext>
                  </a:extLst>
                </a:hlinkClick>
              </a:rPr>
              <a:t>retcalc.app/social-security</a:t>
            </a:r>
            <a:endParaRPr lang="en-US" sz="1000" dirty="0"/>
          </a:p>
        </p:txBody>
      </p:sp>
      <p:sp>
        <p:nvSpPr>
          <p:cNvPr id="11" name="Shape 9"/>
          <p:cNvSpPr/>
          <p:nvPr/>
        </p:nvSpPr>
        <p:spPr>
          <a:xfrm>
            <a:off x="4983480" y="0"/>
            <a:ext cx="7208215" cy="6858000"/>
          </a:xfrm>
          <a:prstGeom prst="rect">
            <a:avLst/>
          </a:prstGeom>
          <a:solidFill>
            <a:srgbClr val="1C2C3B"/>
          </a:solidFill>
          <a:ln/>
        </p:spPr>
      </p:sp>
      <p:pic>
        <p:nvPicPr>
          <p:cNvPr id="12" name="Image 0" descr="/Users/erikalfriend/Projects/RetCalc/.claude/worktrees/marketing-package/marketing/deck/img/ss_1_pick-the-age-you-cla.png">    </p:cNvPr>
          <p:cNvPicPr>
            <a:picLocks noChangeAspect="1"/>
          </p:cNvPicPr>
          <p:nvPr/>
        </p:nvPicPr>
        <p:blipFill>
          <a:blip r:embed="rId2"/>
          <a:stretch>
            <a:fillRect/>
          </a:stretch>
        </p:blipFill>
        <p:spPr>
          <a:xfrm>
            <a:off x="5394960" y="1017156"/>
            <a:ext cx="6385255" cy="2298292"/>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ss_3_best-age-by-how-long.png">    </p:cNvPr>
          <p:cNvPicPr>
            <a:picLocks noChangeAspect="1"/>
          </p:cNvPicPr>
          <p:nvPr/>
        </p:nvPicPr>
        <p:blipFill>
          <a:blip r:embed="rId3"/>
          <a:stretch>
            <a:fillRect/>
          </a:stretch>
        </p:blipFill>
        <p:spPr>
          <a:xfrm>
            <a:off x="5394960" y="3571480"/>
            <a:ext cx="3064612" cy="2269364"/>
          </a:xfrm>
          <a:prstGeom prst="rect">
            <a:avLst/>
          </a:prstGeom>
          <a:effectLst>
            <a:outerShdw sx="100000" sy="100000" kx="0" ky="0" algn="bl" rotWithShape="0" blurRad="254000" dist="101600" dir="5400000">
              <a:srgbClr val="000000">
                <a:alpha val="50000"/>
              </a:srgbClr>
            </a:outerShdw>
          </a:effectLst>
        </p:spPr>
      </p:pic>
      <p:pic>
        <p:nvPicPr>
          <p:cNvPr id="14" name="Image 2" descr="/Users/erikalfriend/Projects/RetCalc/.claude/worktrees/marketing-package/marketing/deck/img/ss_4_when-waiting-pays-of.png">    </p:cNvPr>
          <p:cNvPicPr>
            <a:picLocks noChangeAspect="1"/>
          </p:cNvPicPr>
          <p:nvPr/>
        </p:nvPicPr>
        <p:blipFill>
          <a:blip r:embed="rId4"/>
          <a:stretch>
            <a:fillRect/>
          </a:stretch>
        </p:blipFill>
        <p:spPr>
          <a:xfrm>
            <a:off x="8715604" y="3571480"/>
            <a:ext cx="3064612" cy="2269364"/>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Early Retirement Bridge</a:t>
            </a:r>
            <a:endParaRPr lang="en-US" sz="3000" dirty="0"/>
          </a:p>
        </p:txBody>
      </p:sp>
      <p:sp>
        <p:nvSpPr>
          <p:cNvPr id="4" name="Text 2"/>
          <p:cNvSpPr txBox="1"/>
          <p:nvPr/>
        </p:nvSpPr>
        <p:spPr>
          <a:xfrm>
            <a:off x="548640" y="1938528"/>
            <a:ext cx="4023360" cy="576072"/>
          </a:xfrm>
          <a:prstGeom prst="rect">
            <a:avLst/>
          </a:prstGeom>
          <a:noFill/>
          <a:ln/>
        </p:spPr>
        <p:txBody>
          <a:bodyPr wrap="square" lIns="0" tIns="0" rIns="0" bIns="0" rtlCol="0" anchor="t"/>
          <a:lstStyle/>
          <a:p>
            <a:pPr indent="0" marL="0">
              <a:buNone/>
            </a:pPr>
            <a:r>
              <a:rPr lang="en-US" sz="1700" b="1" dirty="0">
                <a:solidFill>
                  <a:srgbClr val="5AA9E6"/>
                </a:solidFill>
              </a:rPr>
              <a:t>How do I pay for the years before 59½?</a:t>
            </a:r>
            <a:endParaRPr lang="en-US" sz="1700" dirty="0"/>
          </a:p>
        </p:txBody>
      </p:sp>
      <p:sp>
        <p:nvSpPr>
          <p:cNvPr id="5" name="Text 3"/>
          <p:cNvSpPr txBox="1"/>
          <p:nvPr/>
        </p:nvSpPr>
        <p:spPr>
          <a:xfrm>
            <a:off x="548640" y="2743200"/>
            <a:ext cx="4023360" cy="640080"/>
          </a:xfrm>
          <a:prstGeom prst="rect">
            <a:avLst/>
          </a:prstGeom>
          <a:noFill/>
          <a:ln/>
        </p:spPr>
        <p:txBody>
          <a:bodyPr wrap="square" lIns="0" tIns="0" rIns="0" bIns="0" rtlCol="0" anchor="t"/>
          <a:lstStyle/>
          <a:p>
            <a:pPr indent="0" marL="0">
              <a:buNone/>
            </a:pPr>
            <a:r>
              <a:rPr lang="en-US" sz="1400" dirty="0">
                <a:solidFill>
                  <a:srgbClr val="9AA4B2"/>
                </a:solidFill>
              </a:rPr>
              <a:t>Tax, penalties and ACA premiums for each route, and what is left at 59½.</a:t>
            </a:r>
            <a:endParaRPr lang="en-US" sz="1400" dirty="0"/>
          </a:p>
        </p:txBody>
      </p:sp>
      <p:sp>
        <p:nvSpPr>
          <p:cNvPr id="6" name="Text 4"/>
          <p:cNvSpPr txBox="1"/>
          <p:nvPr/>
        </p:nvSpPr>
        <p:spPr>
          <a:xfrm>
            <a:off x="548640" y="3493008"/>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ROUTES COMPARED</a:t>
            </a:r>
            <a:endParaRPr lang="en-US" sz="1100" dirty="0"/>
          </a:p>
        </p:txBody>
      </p:sp>
      <p:sp>
        <p:nvSpPr>
          <p:cNvPr id="7" name="Text 5"/>
          <p:cNvSpPr txBox="1"/>
          <p:nvPr/>
        </p:nvSpPr>
        <p:spPr>
          <a:xfrm>
            <a:off x="548640" y="3785616"/>
            <a:ext cx="4023360"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Roth conversion ladder</a:t>
            </a:r>
            <a:endParaRPr lang="en-US" sz="1400" dirty="0"/>
          </a:p>
          <a:p>
            <a:pPr marL="177800" indent="-177800">
              <a:spcAft>
                <a:spcPts val="300"/>
              </a:spcAft>
              <a:buSzPct val="100000"/>
              <a:buChar char="•"/>
            </a:pPr>
            <a:r>
              <a:rPr lang="en-US" sz="1400" dirty="0">
                <a:solidFill>
                  <a:srgbClr val="E8EBF0"/>
                </a:solidFill>
              </a:rPr>
              <a:t>72(t) payments</a:t>
            </a:r>
            <a:endParaRPr lang="en-US" sz="1400" dirty="0"/>
          </a:p>
          <a:p>
            <a:pPr marL="177800" indent="-177800">
              <a:spcAft>
                <a:spcPts val="300"/>
              </a:spcAft>
              <a:buSzPct val="100000"/>
              <a:buChar char="•"/>
            </a:pPr>
            <a:r>
              <a:rPr lang="en-US" sz="1400" dirty="0">
                <a:solidFill>
                  <a:srgbClr val="E8EBF0"/>
                </a:solidFill>
              </a:rPr>
              <a:t>Brokerage, then Roth contributions</a:t>
            </a:r>
            <a:endParaRPr lang="en-US" sz="1400" dirty="0"/>
          </a:p>
          <a:p>
            <a:pPr marL="177800" indent="-177800">
              <a:spcAft>
                <a:spcPts val="300"/>
              </a:spcAft>
              <a:buSzPct val="100000"/>
              <a:buChar char="•"/>
            </a:pPr>
            <a:r>
              <a:rPr lang="en-US" sz="1400" dirty="0">
                <a:solidFill>
                  <a:srgbClr val="E8EBF0"/>
                </a:solidFill>
              </a:rPr>
              <a:t>Rule of 55 and part-time work</a:t>
            </a:r>
            <a:endParaRPr lang="en-US" sz="1400" dirty="0"/>
          </a:p>
          <a:p>
            <a:pPr marL="177800" indent="-177800">
              <a:spcAft>
                <a:spcPts val="300"/>
              </a:spcAft>
              <a:buSzPct val="100000"/>
              <a:buChar char="•"/>
            </a:pPr>
            <a:r>
              <a:rPr lang="en-US" sz="1400" dirty="0">
                <a:solidFill>
                  <a:srgbClr val="E8EBF0"/>
                </a:solidFill>
              </a:rPr>
              <a:t>Paying the 10% penalty, as a benchmark</a:t>
            </a:r>
            <a:endParaRPr lang="en-US" sz="1400" dirty="0"/>
          </a:p>
        </p:txBody>
      </p:sp>
      <p:sp>
        <p:nvSpPr>
          <p:cNvPr id="8" name="Text 6"/>
          <p:cNvSpPr txBox="1"/>
          <p:nvPr/>
        </p:nvSpPr>
        <p:spPr>
          <a:xfrm>
            <a:off x="548640" y="5394960"/>
            <a:ext cx="4023360" cy="548640"/>
          </a:xfrm>
          <a:prstGeom prst="rect">
            <a:avLst/>
          </a:prstGeom>
          <a:noFill/>
          <a:ln/>
        </p:spPr>
        <p:txBody>
          <a:bodyPr wrap="square" lIns="0" tIns="0" rIns="0" bIns="0" rtlCol="0" anchor="t"/>
          <a:lstStyle/>
          <a:p>
            <a:pPr indent="0" marL="0">
              <a:buNone/>
            </a:pPr>
            <a:r>
              <a:rPr lang="en-US" sz="3400" b="1" dirty="0">
                <a:solidFill>
                  <a:srgbClr val="5AA9E6"/>
                </a:solidFill>
              </a:rPr>
              <a:t>6 routes</a:t>
            </a:r>
            <a:endParaRPr lang="en-US" sz="3400" dirty="0"/>
          </a:p>
        </p:txBody>
      </p:sp>
      <p:sp>
        <p:nvSpPr>
          <p:cNvPr id="9" name="Text 7"/>
          <p:cNvSpPr txBox="1"/>
          <p:nvPr/>
        </p:nvSpPr>
        <p:spPr>
          <a:xfrm>
            <a:off x="548640" y="5943600"/>
            <a:ext cx="4023360" cy="274320"/>
          </a:xfrm>
          <a:prstGeom prst="rect">
            <a:avLst/>
          </a:prstGeom>
          <a:noFill/>
          <a:ln/>
        </p:spPr>
        <p:txBody>
          <a:bodyPr wrap="square" lIns="0" tIns="0" rIns="0" bIns="0" rtlCol="0" anchor="t"/>
          <a:lstStyle/>
          <a:p>
            <a:pPr indent="0" marL="0">
              <a:buNone/>
            </a:pPr>
            <a:r>
              <a:rPr lang="en-US" sz="1200" dirty="0">
                <a:solidFill>
                  <a:srgbClr val="9AA4B2"/>
                </a:solidFill>
              </a:rPr>
              <a:t>to 59½, each tested since 1926</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bridge" history="1" highlightClick="0" endSnd="0">
                  <a:extLst>
                    <a:ext uri="{A12FA001-AC4F-418D-AE19-62706E023703}">
                      <ahyp:hlinkClr xmlns:ahyp="http://schemas.microsoft.com/office/drawing/2018/hyperlinkcolor" val="tx"/>
                    </a:ext>
                  </a:extLst>
                </a:hlinkClick>
              </a:rPr>
              <a:t>retcalc.app/bridge</a:t>
            </a:r>
            <a:endParaRPr lang="en-US" sz="1000" dirty="0"/>
          </a:p>
        </p:txBody>
      </p:sp>
      <p:sp>
        <p:nvSpPr>
          <p:cNvPr id="11" name="Shape 9"/>
          <p:cNvSpPr/>
          <p:nvPr/>
        </p:nvSpPr>
        <p:spPr>
          <a:xfrm>
            <a:off x="4983480" y="0"/>
            <a:ext cx="7208215" cy="6858000"/>
          </a:xfrm>
          <a:prstGeom prst="rect">
            <a:avLst/>
          </a:prstGeom>
          <a:solidFill>
            <a:srgbClr val="1C2C3B"/>
          </a:solidFill>
          <a:ln/>
        </p:spPr>
      </p:sp>
      <p:pic>
        <p:nvPicPr>
          <p:cNvPr id="12" name="Image 0" descr="/Users/erikalfriend/Projects/RetCalc/.claude/worktrees/marketing-package/marketing/deck/img/bridge_2_ways-to-59_0_0.72.png">    </p:cNvPr>
          <p:cNvPicPr>
            <a:picLocks noChangeAspect="1"/>
          </p:cNvPicPr>
          <p:nvPr/>
        </p:nvPicPr>
        <p:blipFill>
          <a:blip r:embed="rId2"/>
          <a:stretch>
            <a:fillRect/>
          </a:stretch>
        </p:blipFill>
        <p:spPr>
          <a:xfrm>
            <a:off x="5899005" y="411480"/>
            <a:ext cx="5377166" cy="2822217"/>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bridge_4_where-each-year-s-mo.png">    </p:cNvPr>
          <p:cNvPicPr>
            <a:picLocks noChangeAspect="1"/>
          </p:cNvPicPr>
          <p:nvPr/>
        </p:nvPicPr>
        <p:blipFill>
          <a:blip r:embed="rId3"/>
          <a:stretch>
            <a:fillRect/>
          </a:stretch>
        </p:blipFill>
        <p:spPr>
          <a:xfrm>
            <a:off x="5899005" y="3449307"/>
            <a:ext cx="5377166" cy="2997213"/>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Roth Conversion Calculator</a:t>
            </a:r>
            <a:endParaRPr lang="en-US" sz="3000" dirty="0"/>
          </a:p>
        </p:txBody>
      </p:sp>
      <p:sp>
        <p:nvSpPr>
          <p:cNvPr id="4" name="Text 2"/>
          <p:cNvSpPr txBox="1"/>
          <p:nvPr/>
        </p:nvSpPr>
        <p:spPr>
          <a:xfrm>
            <a:off x="548640" y="1938528"/>
            <a:ext cx="4023360" cy="310896"/>
          </a:xfrm>
          <a:prstGeom prst="rect">
            <a:avLst/>
          </a:prstGeom>
          <a:noFill/>
          <a:ln/>
        </p:spPr>
        <p:txBody>
          <a:bodyPr wrap="square" lIns="0" tIns="0" rIns="0" bIns="0" rtlCol="0" anchor="t"/>
          <a:lstStyle/>
          <a:p>
            <a:pPr indent="0" marL="0">
              <a:buNone/>
            </a:pPr>
            <a:r>
              <a:rPr lang="en-US" sz="1700" b="1" dirty="0">
                <a:solidFill>
                  <a:srgbClr val="5AA9E6"/>
                </a:solidFill>
              </a:rPr>
              <a:t>Should I convert before RMDs start?</a:t>
            </a:r>
            <a:endParaRPr lang="en-US" sz="1700" dirty="0"/>
          </a:p>
        </p:txBody>
      </p:sp>
      <p:sp>
        <p:nvSpPr>
          <p:cNvPr id="5" name="Text 3"/>
          <p:cNvSpPr txBox="1"/>
          <p:nvPr/>
        </p:nvSpPr>
        <p:spPr>
          <a:xfrm>
            <a:off x="548640" y="2478024"/>
            <a:ext cx="4023360" cy="868680"/>
          </a:xfrm>
          <a:prstGeom prst="rect">
            <a:avLst/>
          </a:prstGeom>
          <a:noFill/>
          <a:ln/>
        </p:spPr>
        <p:txBody>
          <a:bodyPr wrap="square" lIns="0" tIns="0" rIns="0" bIns="0" rtlCol="0" anchor="t"/>
          <a:lstStyle/>
          <a:p>
            <a:pPr indent="0" marL="0">
              <a:buNone/>
            </a:pPr>
            <a:r>
              <a:rPr lang="en-US" sz="1400" dirty="0">
                <a:solidFill>
                  <a:srgbClr val="9AA4B2"/>
                </a:solidFill>
              </a:rPr>
              <a:t>Projects required distributions to age 100, then tests a conversion schedule against doing nothing.</a:t>
            </a:r>
            <a:endParaRPr lang="en-US" sz="1400" dirty="0"/>
          </a:p>
        </p:txBody>
      </p:sp>
      <p:sp>
        <p:nvSpPr>
          <p:cNvPr id="6" name="Text 4"/>
          <p:cNvSpPr txBox="1"/>
          <p:nvPr/>
        </p:nvSpPr>
        <p:spPr>
          <a:xfrm>
            <a:off x="548640" y="345643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STRATEGIES</a:t>
            </a:r>
            <a:endParaRPr lang="en-US" sz="1100" dirty="0"/>
          </a:p>
        </p:txBody>
      </p:sp>
      <p:sp>
        <p:nvSpPr>
          <p:cNvPr id="7" name="Text 5"/>
          <p:cNvSpPr txBox="1"/>
          <p:nvPr/>
        </p:nvSpPr>
        <p:spPr>
          <a:xfrm>
            <a:off x="548640" y="3749040"/>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Fill a bracket or an IRMAA threshold</a:t>
            </a:r>
            <a:endParaRPr lang="en-US" sz="1400" dirty="0"/>
          </a:p>
          <a:p>
            <a:pPr marL="177800" indent="-177800">
              <a:spcAft>
                <a:spcPts val="300"/>
              </a:spcAft>
              <a:buSzPct val="100000"/>
              <a:buChar char="•"/>
            </a:pPr>
            <a:r>
              <a:rPr lang="en-US" sz="1400" dirty="0">
                <a:solidFill>
                  <a:srgbClr val="E8EBF0"/>
                </a:solidFill>
              </a:rPr>
              <a:t>A fixed amount or a share of the balance</a:t>
            </a:r>
            <a:endParaRPr lang="en-US" sz="1400" dirty="0"/>
          </a:p>
          <a:p>
            <a:pPr marL="177800" indent="-177800">
              <a:spcAft>
                <a:spcPts val="300"/>
              </a:spcAft>
              <a:buSzPct val="100000"/>
              <a:buChar char="•"/>
            </a:pPr>
            <a:r>
              <a:rPr lang="en-US" sz="1400" dirty="0">
                <a:solidFill>
                  <a:srgbClr val="E8EBF0"/>
                </a:solidFill>
              </a:rPr>
              <a:t>None, for comparison</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5AA9E6"/>
                </a:solidFill>
              </a:rPr>
              <a:t>+$223,304</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after-tax net worth from converting, in the sample</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roth" history="1" highlightClick="0" endSnd="0">
                  <a:extLst>
                    <a:ext uri="{A12FA001-AC4F-418D-AE19-62706E023703}">
                      <ahyp:hlinkClr xmlns:ahyp="http://schemas.microsoft.com/office/drawing/2018/hyperlinkcolor" val="tx"/>
                    </a:ext>
                  </a:extLst>
                </a:hlinkClick>
              </a:rPr>
              <a:t>retcalc.app/roth</a:t>
            </a:r>
            <a:endParaRPr lang="en-US" sz="1000" dirty="0"/>
          </a:p>
        </p:txBody>
      </p:sp>
      <p:sp>
        <p:nvSpPr>
          <p:cNvPr id="11" name="Shape 9"/>
          <p:cNvSpPr/>
          <p:nvPr/>
        </p:nvSpPr>
        <p:spPr>
          <a:xfrm>
            <a:off x="4983480" y="0"/>
            <a:ext cx="7208215" cy="6858000"/>
          </a:xfrm>
          <a:prstGeom prst="rect">
            <a:avLst/>
          </a:prstGeom>
          <a:solidFill>
            <a:srgbClr val="1C2C3B"/>
          </a:solidFill>
          <a:ln/>
        </p:spPr>
      </p:sp>
      <p:pic>
        <p:nvPicPr>
          <p:cNvPr id="12" name="Image 0" descr="/Users/erikalfriend/Projects/RetCalc/.claude/worktrees/marketing-package/marketing/deck/img/roth_1_converting-wins-on-b.png">    </p:cNvPr>
          <p:cNvPicPr>
            <a:picLocks noChangeAspect="1"/>
          </p:cNvPicPr>
          <p:nvPr/>
        </p:nvPicPr>
        <p:blipFill>
          <a:blip r:embed="rId2"/>
          <a:stretch>
            <a:fillRect/>
          </a:stretch>
        </p:blipFill>
        <p:spPr>
          <a:xfrm>
            <a:off x="5933980" y="411480"/>
            <a:ext cx="5307215" cy="2537414"/>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roth_3_traditional-balance.png">    </p:cNvPr>
          <p:cNvPicPr>
            <a:picLocks noChangeAspect="1"/>
          </p:cNvPicPr>
          <p:nvPr/>
        </p:nvPicPr>
        <p:blipFill>
          <a:blip r:embed="rId3"/>
          <a:stretch>
            <a:fillRect/>
          </a:stretch>
        </p:blipFill>
        <p:spPr>
          <a:xfrm>
            <a:off x="5933980" y="3161699"/>
            <a:ext cx="5307215" cy="3284821"/>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RETIREMENT INCOME</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Healthcare Cost Planner</a:t>
            </a:r>
            <a:endParaRPr lang="en-US" sz="3000" dirty="0"/>
          </a:p>
        </p:txBody>
      </p:sp>
      <p:sp>
        <p:nvSpPr>
          <p:cNvPr id="4" name="Text 2"/>
          <p:cNvSpPr txBox="1"/>
          <p:nvPr/>
        </p:nvSpPr>
        <p:spPr>
          <a:xfrm>
            <a:off x="548640" y="1938528"/>
            <a:ext cx="4023360" cy="576072"/>
          </a:xfrm>
          <a:prstGeom prst="rect">
            <a:avLst/>
          </a:prstGeom>
          <a:noFill/>
          <a:ln/>
        </p:spPr>
        <p:txBody>
          <a:bodyPr wrap="square" lIns="0" tIns="0" rIns="0" bIns="0" rtlCol="0" anchor="t"/>
          <a:lstStyle/>
          <a:p>
            <a:pPr indent="0" marL="0">
              <a:buNone/>
            </a:pPr>
            <a:r>
              <a:rPr lang="en-US" sz="1700" b="1" dirty="0">
                <a:solidFill>
                  <a:srgbClr val="5AA9E6"/>
                </a:solidFill>
              </a:rPr>
              <a:t>What will health insurance cost before and after Medicare?</a:t>
            </a:r>
            <a:endParaRPr lang="en-US" sz="1700" dirty="0"/>
          </a:p>
        </p:txBody>
      </p:sp>
      <p:sp>
        <p:nvSpPr>
          <p:cNvPr id="5" name="Text 3"/>
          <p:cNvSpPr txBox="1"/>
          <p:nvPr/>
        </p:nvSpPr>
        <p:spPr>
          <a:xfrm>
            <a:off x="548640" y="2743200"/>
            <a:ext cx="4023360" cy="868680"/>
          </a:xfrm>
          <a:prstGeom prst="rect">
            <a:avLst/>
          </a:prstGeom>
          <a:noFill/>
          <a:ln/>
        </p:spPr>
        <p:txBody>
          <a:bodyPr wrap="square" lIns="0" tIns="0" rIns="0" bIns="0" rtlCol="0" anchor="t"/>
          <a:lstStyle/>
          <a:p>
            <a:pPr indent="0" marL="0">
              <a:buNone/>
            </a:pPr>
            <a:r>
              <a:rPr lang="en-US" sz="1400" dirty="0">
                <a:solidFill>
                  <a:srgbClr val="9AA4B2"/>
                </a:solidFill>
              </a:rPr>
              <a:t>ACA premiums and subsidies for the gap before 65, then Medicare Part B, Part D, Medigap and IRMAA.</a:t>
            </a:r>
            <a:endParaRPr lang="en-US" sz="1400" dirty="0"/>
          </a:p>
        </p:txBody>
      </p:sp>
      <p:sp>
        <p:nvSpPr>
          <p:cNvPr id="6" name="Text 4"/>
          <p:cNvSpPr txBox="1"/>
          <p:nvPr/>
        </p:nvSpPr>
        <p:spPr>
          <a:xfrm>
            <a:off x="548640" y="3721608"/>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THE SAMPLE</a:t>
            </a:r>
            <a:endParaRPr lang="en-US" sz="1100" dirty="0"/>
          </a:p>
        </p:txBody>
      </p:sp>
      <p:sp>
        <p:nvSpPr>
          <p:cNvPr id="7" name="Text 5"/>
          <p:cNvSpPr txBox="1"/>
          <p:nvPr/>
        </p:nvSpPr>
        <p:spPr>
          <a:xfrm>
            <a:off x="548640" y="4014216"/>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A couple retiring at 60 on $95,000</a:t>
            </a:r>
            <a:endParaRPr lang="en-US" sz="1400" dirty="0"/>
          </a:p>
          <a:p>
            <a:pPr marL="177800" indent="-177800">
              <a:spcAft>
                <a:spcPts val="300"/>
              </a:spcAft>
              <a:buSzPct val="100000"/>
              <a:buChar char="•"/>
            </a:pPr>
            <a:r>
              <a:rPr lang="en-US" sz="1400" dirty="0">
                <a:solidFill>
                  <a:srgbClr val="E8EBF0"/>
                </a:solidFill>
              </a:rPr>
              <a:t>Just over the subsidy cliff: $2,688 per month</a:t>
            </a:r>
            <a:endParaRPr lang="en-US" sz="1400" dirty="0"/>
          </a:p>
          <a:p>
            <a:pPr marL="177800" indent="-177800">
              <a:spcAft>
                <a:spcPts val="300"/>
              </a:spcAft>
              <a:buSzPct val="100000"/>
              <a:buChar char="•"/>
            </a:pPr>
            <a:r>
              <a:rPr lang="en-US" sz="1400" dirty="0">
                <a:solidFill>
                  <a:srgbClr val="E8EBF0"/>
                </a:solidFill>
              </a:rPr>
              <a:t>Then Medicare: $716–876 per month</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5AA9E6"/>
                </a:solidFill>
              </a:rPr>
              <a:t>$2,688</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per month for the ACA, just over the subsidy cliff</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healthcare" history="1" highlightClick="0" endSnd="0">
                  <a:extLst>
                    <a:ext uri="{A12FA001-AC4F-418D-AE19-62706E023703}">
                      <ahyp:hlinkClr xmlns:ahyp="http://schemas.microsoft.com/office/drawing/2018/hyperlinkcolor" val="tx"/>
                    </a:ext>
                  </a:extLst>
                </a:hlinkClick>
              </a:rPr>
              <a:t>retcalc.app/healthcare</a:t>
            </a:r>
            <a:endParaRPr lang="en-US" sz="1000" dirty="0"/>
          </a:p>
        </p:txBody>
      </p:sp>
      <p:sp>
        <p:nvSpPr>
          <p:cNvPr id="11" name="Shape 9"/>
          <p:cNvSpPr/>
          <p:nvPr/>
        </p:nvSpPr>
        <p:spPr>
          <a:xfrm>
            <a:off x="4983480" y="0"/>
            <a:ext cx="7208215" cy="6858000"/>
          </a:xfrm>
          <a:prstGeom prst="rect">
            <a:avLst/>
          </a:prstGeom>
          <a:solidFill>
            <a:srgbClr val="1C2C3B"/>
          </a:solidFill>
          <a:ln/>
        </p:spPr>
      </p:sp>
      <p:pic>
        <p:nvPicPr>
          <p:cNvPr id="12" name="Image 0" descr="/Users/erikalfriend/Projects/RetCalc/.claude/worktrees/marketing-package/marketing/deck/img/hc95_1_aca-premium-before-6.png">    </p:cNvPr>
          <p:cNvPicPr>
            <a:picLocks noChangeAspect="1"/>
          </p:cNvPicPr>
          <p:nvPr/>
        </p:nvPicPr>
        <p:blipFill>
          <a:blip r:embed="rId2"/>
          <a:stretch>
            <a:fillRect/>
          </a:stretch>
        </p:blipFill>
        <p:spPr>
          <a:xfrm>
            <a:off x="5394960" y="1015633"/>
            <a:ext cx="6385255" cy="1201486"/>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hc95_2_before-65-the-aca-br_0_0.545.png">    </p:cNvPr>
          <p:cNvPicPr>
            <a:picLocks noChangeAspect="1"/>
          </p:cNvPicPr>
          <p:nvPr/>
        </p:nvPicPr>
        <p:blipFill>
          <a:blip r:embed="rId3"/>
          <a:stretch>
            <a:fillRect/>
          </a:stretch>
        </p:blipFill>
        <p:spPr>
          <a:xfrm>
            <a:off x="5394960" y="2473151"/>
            <a:ext cx="3060897" cy="3369215"/>
          </a:xfrm>
          <a:prstGeom prst="rect">
            <a:avLst/>
          </a:prstGeom>
          <a:effectLst>
            <a:outerShdw sx="100000" sy="100000" kx="0" ky="0" algn="bl" rotWithShape="0" blurRad="254000" dist="101600" dir="5400000">
              <a:srgbClr val="000000">
                <a:alpha val="50000"/>
              </a:srgbClr>
            </a:outerShdw>
          </a:effectLst>
        </p:spPr>
      </p:pic>
      <p:pic>
        <p:nvPicPr>
          <p:cNvPr id="14" name="Image 2" descr="/Users/erikalfriend/Projects/RetCalc/.claude/worktrees/marketing-package/marketing/deck/img/hc95_3_from-65-medicare_0_0.545.png">    </p:cNvPr>
          <p:cNvPicPr>
            <a:picLocks noChangeAspect="1"/>
          </p:cNvPicPr>
          <p:nvPr/>
        </p:nvPicPr>
        <p:blipFill>
          <a:blip r:embed="rId4"/>
          <a:stretch>
            <a:fillRect/>
          </a:stretch>
        </p:blipFill>
        <p:spPr>
          <a:xfrm>
            <a:off x="8711889" y="2473151"/>
            <a:ext cx="3068326" cy="3369215"/>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SAVING AND INVESTING</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FIRE Calculator</a:t>
            </a:r>
            <a:endParaRPr lang="en-US" sz="3000" dirty="0"/>
          </a:p>
        </p:txBody>
      </p:sp>
      <p:sp>
        <p:nvSpPr>
          <p:cNvPr id="4" name="Text 2"/>
          <p:cNvSpPr txBox="1"/>
          <p:nvPr/>
        </p:nvSpPr>
        <p:spPr>
          <a:xfrm>
            <a:off x="548640" y="1508760"/>
            <a:ext cx="4023360" cy="310896"/>
          </a:xfrm>
          <a:prstGeom prst="rect">
            <a:avLst/>
          </a:prstGeom>
          <a:noFill/>
          <a:ln/>
        </p:spPr>
        <p:txBody>
          <a:bodyPr wrap="square" lIns="0" tIns="0" rIns="0" bIns="0" rtlCol="0" anchor="t"/>
          <a:lstStyle/>
          <a:p>
            <a:pPr indent="0" marL="0">
              <a:buNone/>
            </a:pPr>
            <a:r>
              <a:rPr lang="en-US" sz="1700" b="1" dirty="0">
                <a:solidFill>
                  <a:srgbClr val="46B9A6"/>
                </a:solidFill>
              </a:rPr>
              <a:t>When does work become optional?</a:t>
            </a:r>
            <a:endParaRPr lang="en-US" sz="1700" dirty="0"/>
          </a:p>
        </p:txBody>
      </p:sp>
      <p:sp>
        <p:nvSpPr>
          <p:cNvPr id="5" name="Text 3"/>
          <p:cNvSpPr txBox="1"/>
          <p:nvPr/>
        </p:nvSpPr>
        <p:spPr>
          <a:xfrm>
            <a:off x="548640" y="2048256"/>
            <a:ext cx="4023360" cy="868680"/>
          </a:xfrm>
          <a:prstGeom prst="rect">
            <a:avLst/>
          </a:prstGeom>
          <a:noFill/>
          <a:ln/>
        </p:spPr>
        <p:txBody>
          <a:bodyPr wrap="square" lIns="0" tIns="0" rIns="0" bIns="0" rtlCol="0" anchor="t"/>
          <a:lstStyle/>
          <a:p>
            <a:pPr indent="0" marL="0">
              <a:buNone/>
            </a:pPr>
            <a:r>
              <a:rPr lang="en-US" sz="1400" dirty="0">
                <a:solidFill>
                  <a:srgbClr val="9AA4B2"/>
                </a:solidFill>
              </a:rPr>
              <a:t>The age a portfolio reaches financial independence, or with Coast FIRE, the age you could stop contributing.</a:t>
            </a:r>
            <a:endParaRPr lang="en-US" sz="1400" dirty="0"/>
          </a:p>
        </p:txBody>
      </p:sp>
      <p:sp>
        <p:nvSpPr>
          <p:cNvPr id="6" name="Text 4"/>
          <p:cNvSpPr txBox="1"/>
          <p:nvPr/>
        </p:nvSpPr>
        <p:spPr>
          <a:xfrm>
            <a:off x="548640" y="3026664"/>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HISTORICAL MODE</a:t>
            </a:r>
            <a:endParaRPr lang="en-US" sz="1100" dirty="0"/>
          </a:p>
        </p:txBody>
      </p:sp>
      <p:sp>
        <p:nvSpPr>
          <p:cNvPr id="7" name="Text 5"/>
          <p:cNvSpPr txBox="1"/>
          <p:nvPr/>
        </p:nvSpPr>
        <p:spPr>
          <a:xfrm>
            <a:off x="548640" y="3319272"/>
            <a:ext cx="4023360" cy="8275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Every rolling window since 1926</a:t>
            </a:r>
            <a:endParaRPr lang="en-US" sz="1400" dirty="0"/>
          </a:p>
          <a:p>
            <a:pPr marL="177800" indent="-177800">
              <a:spcAft>
                <a:spcPts val="300"/>
              </a:spcAft>
              <a:buSzPct val="100000"/>
              <a:buChar char="•"/>
            </a:pPr>
            <a:r>
              <a:rPr lang="en-US" sz="1400" dirty="0">
                <a:solidFill>
                  <a:srgbClr val="E8EBF0"/>
                </a:solidFill>
              </a:rPr>
              <a:t>A success-rate slider gives a second answer: the age reached in, say, 90% of history</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46B9A6"/>
                </a:solidFill>
              </a:rPr>
              <a:t>Age 66.6</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financial independence in the sample, at $1,024,146</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fire" history="1" highlightClick="0" endSnd="0">
                  <a:extLst>
                    <a:ext uri="{A12FA001-AC4F-418D-AE19-62706E023703}">
                      <ahyp:hlinkClr xmlns:ahyp="http://schemas.microsoft.com/office/drawing/2018/hyperlinkcolor" val="tx"/>
                    </a:ext>
                  </a:extLst>
                </a:hlinkClick>
              </a:rPr>
              <a:t>retcalc.app/fire</a:t>
            </a:r>
            <a:endParaRPr lang="en-US" sz="1000" dirty="0"/>
          </a:p>
        </p:txBody>
      </p:sp>
      <p:sp>
        <p:nvSpPr>
          <p:cNvPr id="11" name="Shape 9"/>
          <p:cNvSpPr/>
          <p:nvPr/>
        </p:nvSpPr>
        <p:spPr>
          <a:xfrm>
            <a:off x="4983480" y="0"/>
            <a:ext cx="7208215" cy="6858000"/>
          </a:xfrm>
          <a:prstGeom prst="rect">
            <a:avLst/>
          </a:prstGeom>
          <a:solidFill>
            <a:srgbClr val="182F30"/>
          </a:solidFill>
          <a:ln/>
        </p:spPr>
      </p:sp>
      <p:pic>
        <p:nvPicPr>
          <p:cNvPr id="12" name="Image 0" descr="/Users/erikalfriend/Projects/RetCalc/.claude/worktrees/marketing-package/marketing/deck/img/fire_hist_1_rate-bandhistoricaly.png">    </p:cNvPr>
          <p:cNvPicPr>
            <a:picLocks noChangeAspect="1"/>
          </p:cNvPicPr>
          <p:nvPr/>
        </p:nvPicPr>
        <p:blipFill>
          <a:blip r:embed="rId2"/>
          <a:stretch>
            <a:fillRect/>
          </a:stretch>
        </p:blipFill>
        <p:spPr>
          <a:xfrm>
            <a:off x="6199867" y="411480"/>
            <a:ext cx="4775441" cy="3000898"/>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fire_hist_2_portfolio-growth.png">    </p:cNvPr>
          <p:cNvPicPr>
            <a:picLocks noChangeAspect="1"/>
          </p:cNvPicPr>
          <p:nvPr/>
        </p:nvPicPr>
        <p:blipFill>
          <a:blip r:embed="rId3"/>
          <a:stretch>
            <a:fillRect/>
          </a:stretch>
        </p:blipFill>
        <p:spPr>
          <a:xfrm>
            <a:off x="6199867" y="3603861"/>
            <a:ext cx="4775441" cy="2842659"/>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SAVING AND INVESTING</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Portfolio Backtest</a:t>
            </a:r>
            <a:endParaRPr lang="en-US" sz="3000" dirty="0"/>
          </a:p>
        </p:txBody>
      </p:sp>
      <p:sp>
        <p:nvSpPr>
          <p:cNvPr id="4" name="Text 2"/>
          <p:cNvSpPr txBox="1"/>
          <p:nvPr/>
        </p:nvSpPr>
        <p:spPr>
          <a:xfrm>
            <a:off x="548640" y="1508760"/>
            <a:ext cx="4023360" cy="576072"/>
          </a:xfrm>
          <a:prstGeom prst="rect">
            <a:avLst/>
          </a:prstGeom>
          <a:noFill/>
          <a:ln/>
        </p:spPr>
        <p:txBody>
          <a:bodyPr wrap="square" lIns="0" tIns="0" rIns="0" bIns="0" rtlCol="0" anchor="t"/>
          <a:lstStyle/>
          <a:p>
            <a:pPr indent="0" marL="0">
              <a:buNone/>
            </a:pPr>
            <a:r>
              <a:rPr lang="en-US" sz="1700" b="1" dirty="0">
                <a:solidFill>
                  <a:srgbClr val="46B9A6"/>
                </a:solidFill>
              </a:rPr>
              <a:t>What would this mix have actually done?</a:t>
            </a:r>
            <a:endParaRPr lang="en-US" sz="1700" dirty="0"/>
          </a:p>
        </p:txBody>
      </p:sp>
      <p:sp>
        <p:nvSpPr>
          <p:cNvPr id="5" name="Text 3"/>
          <p:cNvSpPr txBox="1"/>
          <p:nvPr/>
        </p:nvSpPr>
        <p:spPr>
          <a:xfrm>
            <a:off x="548640" y="231343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YOU CHOOSE</a:t>
            </a:r>
            <a:endParaRPr lang="en-US" sz="1100" dirty="0"/>
          </a:p>
        </p:txBody>
      </p:sp>
      <p:sp>
        <p:nvSpPr>
          <p:cNvPr id="6" name="Text 4"/>
          <p:cNvSpPr txBox="1"/>
          <p:nvPr/>
        </p:nvSpPr>
        <p:spPr>
          <a:xfrm>
            <a:off x="548640" y="2606040"/>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Stocks, small-cap value, bonds and cash</a:t>
            </a:r>
            <a:endParaRPr lang="en-US" sz="1400" dirty="0"/>
          </a:p>
          <a:p>
            <a:pPr marL="177800" indent="-177800">
              <a:spcAft>
                <a:spcPts val="300"/>
              </a:spcAft>
              <a:buSzPct val="100000"/>
              <a:buChar char="•"/>
            </a:pPr>
            <a:r>
              <a:rPr lang="en-US" sz="1400" dirty="0">
                <a:solidFill>
                  <a:srgbClr val="E8EBF0"/>
                </a:solidFill>
              </a:rPr>
              <a:t>How often to rebalance</a:t>
            </a:r>
            <a:endParaRPr lang="en-US" sz="1400" dirty="0"/>
          </a:p>
          <a:p>
            <a:pPr marL="177800" indent="-177800">
              <a:spcAft>
                <a:spcPts val="300"/>
              </a:spcAft>
              <a:buSzPct val="100000"/>
              <a:buChar char="•"/>
            </a:pPr>
            <a:r>
              <a:rPr lang="en-US" sz="1400" dirty="0">
                <a:solidFill>
                  <a:srgbClr val="E8EBF0"/>
                </a:solidFill>
              </a:rPr>
              <a:t>Any span from 1926 to 2025</a:t>
            </a:r>
            <a:endParaRPr lang="en-US" sz="1400" dirty="0"/>
          </a:p>
        </p:txBody>
      </p:sp>
      <p:sp>
        <p:nvSpPr>
          <p:cNvPr id="7" name="Text 5"/>
          <p:cNvSpPr txBox="1"/>
          <p:nvPr/>
        </p:nvSpPr>
        <p:spPr>
          <a:xfrm>
            <a:off x="548640" y="363931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YOU SEE</a:t>
            </a:r>
            <a:endParaRPr lang="en-US" sz="1100" dirty="0"/>
          </a:p>
        </p:txBody>
      </p:sp>
      <p:sp>
        <p:nvSpPr>
          <p:cNvPr id="8" name="Text 6"/>
          <p:cNvSpPr txBox="1"/>
          <p:nvPr/>
        </p:nvSpPr>
        <p:spPr>
          <a:xfrm>
            <a:off x="548640" y="3931920"/>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Return, before and after inflation</a:t>
            </a:r>
            <a:endParaRPr lang="en-US" sz="1400" dirty="0"/>
          </a:p>
          <a:p>
            <a:pPr marL="177800" indent="-177800">
              <a:spcAft>
                <a:spcPts val="300"/>
              </a:spcAft>
              <a:buSzPct val="100000"/>
              <a:buChar char="•"/>
            </a:pPr>
            <a:r>
              <a:rPr lang="en-US" sz="1400" dirty="0">
                <a:solidFill>
                  <a:srgbClr val="E8EBF0"/>
                </a:solidFill>
              </a:rPr>
              <a:t>Volatility and the deepest fall</a:t>
            </a:r>
            <a:endParaRPr lang="en-US" sz="1400" dirty="0"/>
          </a:p>
          <a:p>
            <a:pPr marL="177800" indent="-177800">
              <a:spcAft>
                <a:spcPts val="300"/>
              </a:spcAft>
              <a:buSzPct val="100000"/>
              <a:buChar char="•"/>
            </a:pPr>
            <a:r>
              <a:rPr lang="en-US" sz="1400" dirty="0">
                <a:solidFill>
                  <a:srgbClr val="E8EBF0"/>
                </a:solidFill>
              </a:rPr>
              <a:t>Growth of $10,000 and rolling returns</a:t>
            </a:r>
            <a:endParaRPr lang="en-US" sz="1400" dirty="0"/>
          </a:p>
        </p:txBody>
      </p:sp>
      <p:sp>
        <p:nvSpPr>
          <p:cNvPr id="9" name="Text 7"/>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46B9A6"/>
                </a:solidFill>
              </a:rPr>
              <a:t>9.65%</a:t>
            </a:r>
            <a:endParaRPr lang="en-US" sz="3400" dirty="0"/>
          </a:p>
        </p:txBody>
      </p:sp>
      <p:sp>
        <p:nvSpPr>
          <p:cNvPr id="10" name="Text 8"/>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per year for 80/20 stocks and bonds, 1926–2025</a:t>
            </a:r>
            <a:endParaRPr lang="en-US" sz="1200" dirty="0"/>
          </a:p>
        </p:txBody>
      </p:sp>
      <p:sp>
        <p:nvSpPr>
          <p:cNvPr id="11" name="Text 9"/>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backtest" history="1" highlightClick="0" endSnd="0">
                  <a:extLst>
                    <a:ext uri="{A12FA001-AC4F-418D-AE19-62706E023703}">
                      <ahyp:hlinkClr xmlns:ahyp="http://schemas.microsoft.com/office/drawing/2018/hyperlinkcolor" val="tx"/>
                    </a:ext>
                  </a:extLst>
                </a:hlinkClick>
              </a:rPr>
              <a:t>retcalc.app/backtest</a:t>
            </a:r>
            <a:endParaRPr lang="en-US" sz="1000" dirty="0"/>
          </a:p>
        </p:txBody>
      </p:sp>
      <p:sp>
        <p:nvSpPr>
          <p:cNvPr id="12" name="Shape 10"/>
          <p:cNvSpPr/>
          <p:nvPr/>
        </p:nvSpPr>
        <p:spPr>
          <a:xfrm>
            <a:off x="4983480" y="0"/>
            <a:ext cx="7208215" cy="6858000"/>
          </a:xfrm>
          <a:prstGeom prst="rect">
            <a:avLst/>
          </a:prstGeom>
          <a:solidFill>
            <a:srgbClr val="182F30"/>
          </a:solidFill>
          <a:ln/>
        </p:spPr>
      </p:sp>
      <p:pic>
        <p:nvPicPr>
          <p:cNvPr id="13" name="Image 0" descr="/Users/erikalfriend/Projects/RetCalc/.claude/worktrees/marketing-package/marketing/deck/img/backtest_1_return-per-year9-65-_0_0.66.png">    </p:cNvPr>
          <p:cNvPicPr>
            <a:picLocks noChangeAspect="1"/>
          </p:cNvPicPr>
          <p:nvPr/>
        </p:nvPicPr>
        <p:blipFill>
          <a:blip r:embed="rId2"/>
          <a:stretch>
            <a:fillRect/>
          </a:stretch>
        </p:blipFill>
        <p:spPr>
          <a:xfrm>
            <a:off x="5413751" y="411480"/>
            <a:ext cx="6347674" cy="2422633"/>
          </a:xfrm>
          <a:prstGeom prst="rect">
            <a:avLst/>
          </a:prstGeom>
          <a:effectLst>
            <a:outerShdw sx="100000" sy="100000" kx="0" ky="0" algn="bl" rotWithShape="0" blurRad="254000" dist="101600" dir="5400000">
              <a:srgbClr val="000000">
                <a:alpha val="50000"/>
              </a:srgbClr>
            </a:outerShdw>
          </a:effectLst>
        </p:spPr>
      </p:pic>
      <p:pic>
        <p:nvPicPr>
          <p:cNvPr id="14" name="Image 1" descr="/Users/erikalfriend/Projects/RetCalc/.claude/worktrees/marketing-package/marketing/deck/img/backtest_2_growth-of-10-000.png">    </p:cNvPr>
          <p:cNvPicPr>
            <a:picLocks noChangeAspect="1"/>
          </p:cNvPicPr>
          <p:nvPr/>
        </p:nvPicPr>
        <p:blipFill>
          <a:blip r:embed="rId3"/>
          <a:stretch>
            <a:fillRect/>
          </a:stretch>
        </p:blipFill>
        <p:spPr>
          <a:xfrm>
            <a:off x="5413751" y="3088638"/>
            <a:ext cx="6347674" cy="3357882"/>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SAVING AND INVESTING</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College Savings</a:t>
            </a:r>
            <a:endParaRPr lang="en-US" sz="3000" dirty="0"/>
          </a:p>
        </p:txBody>
      </p:sp>
      <p:sp>
        <p:nvSpPr>
          <p:cNvPr id="4" name="Text 2"/>
          <p:cNvSpPr txBox="1"/>
          <p:nvPr/>
        </p:nvSpPr>
        <p:spPr>
          <a:xfrm>
            <a:off x="548640" y="1508760"/>
            <a:ext cx="4023360" cy="310896"/>
          </a:xfrm>
          <a:prstGeom prst="rect">
            <a:avLst/>
          </a:prstGeom>
          <a:noFill/>
          <a:ln/>
        </p:spPr>
        <p:txBody>
          <a:bodyPr wrap="square" lIns="0" tIns="0" rIns="0" bIns="0" rtlCol="0" anchor="t"/>
          <a:lstStyle/>
          <a:p>
            <a:pPr indent="0" marL="0">
              <a:buNone/>
            </a:pPr>
            <a:r>
              <a:rPr lang="en-US" sz="1700" b="1" dirty="0">
                <a:solidFill>
                  <a:srgbClr val="46B9A6"/>
                </a:solidFill>
              </a:rPr>
              <a:t>How much should I save for college?</a:t>
            </a:r>
            <a:endParaRPr lang="en-US" sz="1700" dirty="0"/>
          </a:p>
        </p:txBody>
      </p:sp>
      <p:sp>
        <p:nvSpPr>
          <p:cNvPr id="5" name="Text 3"/>
          <p:cNvSpPr txBox="1"/>
          <p:nvPr/>
        </p:nvSpPr>
        <p:spPr>
          <a:xfrm>
            <a:off x="548640" y="2048256"/>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PRESETS, PER YEAR</a:t>
            </a:r>
            <a:endParaRPr lang="en-US" sz="1100" dirty="0"/>
          </a:p>
        </p:txBody>
      </p:sp>
      <p:sp>
        <p:nvSpPr>
          <p:cNvPr id="6" name="Text 4"/>
          <p:cNvSpPr txBox="1"/>
          <p:nvPr/>
        </p:nvSpPr>
        <p:spPr>
          <a:xfrm>
            <a:off x="548640" y="2340864"/>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Public in-state, about $27,000</a:t>
            </a:r>
            <a:endParaRPr lang="en-US" sz="1400" dirty="0"/>
          </a:p>
          <a:p>
            <a:pPr marL="177800" indent="-177800">
              <a:spcAft>
                <a:spcPts val="300"/>
              </a:spcAft>
              <a:buSzPct val="100000"/>
              <a:buChar char="•"/>
            </a:pPr>
            <a:r>
              <a:rPr lang="en-US" sz="1400" dirty="0">
                <a:solidFill>
                  <a:srgbClr val="E8EBF0"/>
                </a:solidFill>
              </a:rPr>
              <a:t>Private non-profit, about $59,000</a:t>
            </a:r>
            <a:endParaRPr lang="en-US" sz="1400" dirty="0"/>
          </a:p>
          <a:p>
            <a:pPr marL="177800" indent="-177800">
              <a:spcAft>
                <a:spcPts val="300"/>
              </a:spcAft>
              <a:buSzPct val="100000"/>
              <a:buChar char="•"/>
            </a:pPr>
            <a:r>
              <a:rPr lang="en-US" sz="1400" dirty="0">
                <a:solidFill>
                  <a:srgbClr val="E8EBF0"/>
                </a:solidFill>
              </a:rPr>
              <a:t>Elite, about $82,000</a:t>
            </a:r>
            <a:endParaRPr lang="en-US" sz="1400" dirty="0"/>
          </a:p>
        </p:txBody>
      </p:sp>
      <p:sp>
        <p:nvSpPr>
          <p:cNvPr id="7" name="Text 5"/>
          <p:cNvSpPr txBox="1"/>
          <p:nvPr/>
        </p:nvSpPr>
        <p:spPr>
          <a:xfrm>
            <a:off x="548640" y="3374136"/>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ALSO</a:t>
            </a:r>
            <a:endParaRPr lang="en-US" sz="1100" dirty="0"/>
          </a:p>
        </p:txBody>
      </p:sp>
      <p:sp>
        <p:nvSpPr>
          <p:cNvPr id="8" name="Text 6"/>
          <p:cNvSpPr txBox="1"/>
          <p:nvPr/>
        </p:nvSpPr>
        <p:spPr>
          <a:xfrm>
            <a:off x="548640" y="3666744"/>
            <a:ext cx="4023360" cy="603504"/>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Several children on one account</a:t>
            </a:r>
            <a:endParaRPr lang="en-US" sz="1400" dirty="0"/>
          </a:p>
          <a:p>
            <a:pPr marL="177800" indent="-177800">
              <a:spcAft>
                <a:spcPts val="300"/>
              </a:spcAft>
              <a:buSzPct val="100000"/>
              <a:buChar char="•"/>
            </a:pPr>
            <a:r>
              <a:rPr lang="en-US" sz="1400" dirty="0">
                <a:solidFill>
                  <a:srgbClr val="E8EBF0"/>
                </a:solidFill>
              </a:rPr>
              <a:t>Tuition inflation and years in college</a:t>
            </a:r>
            <a:endParaRPr lang="en-US" sz="1400" dirty="0"/>
          </a:p>
        </p:txBody>
      </p:sp>
      <p:sp>
        <p:nvSpPr>
          <p:cNvPr id="9" name="Text 7"/>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46B9A6"/>
                </a:solidFill>
              </a:rPr>
              <a:t>$558</a:t>
            </a:r>
            <a:endParaRPr lang="en-US" sz="3400" dirty="0"/>
          </a:p>
        </p:txBody>
      </p:sp>
      <p:sp>
        <p:nvSpPr>
          <p:cNvPr id="10" name="Text 8"/>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per month for an in-state school, 18 years out</a:t>
            </a:r>
            <a:endParaRPr lang="en-US" sz="1200" dirty="0"/>
          </a:p>
        </p:txBody>
      </p:sp>
      <p:sp>
        <p:nvSpPr>
          <p:cNvPr id="11" name="Text 9"/>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college" history="1" highlightClick="0" endSnd="0">
                  <a:extLst>
                    <a:ext uri="{A12FA001-AC4F-418D-AE19-62706E023703}">
                      <ahyp:hlinkClr xmlns:ahyp="http://schemas.microsoft.com/office/drawing/2018/hyperlinkcolor" val="tx"/>
                    </a:ext>
                  </a:extLst>
                </a:hlinkClick>
              </a:rPr>
              <a:t>retcalc.app/college</a:t>
            </a:r>
            <a:endParaRPr lang="en-US" sz="1000" dirty="0"/>
          </a:p>
        </p:txBody>
      </p:sp>
      <p:sp>
        <p:nvSpPr>
          <p:cNvPr id="12" name="Shape 10"/>
          <p:cNvSpPr/>
          <p:nvPr/>
        </p:nvSpPr>
        <p:spPr>
          <a:xfrm>
            <a:off x="4983480" y="0"/>
            <a:ext cx="7208215" cy="6858000"/>
          </a:xfrm>
          <a:prstGeom prst="rect">
            <a:avLst/>
          </a:prstGeom>
          <a:solidFill>
            <a:srgbClr val="182F30"/>
          </a:solidFill>
          <a:ln/>
        </p:spPr>
      </p:sp>
      <p:pic>
        <p:nvPicPr>
          <p:cNvPr id="13" name="Image 0" descr="/Users/erikalfriend/Projects/RetCalc/.claude/worktrees/marketing-package/marketing/deck/img/college_1_save-per-month-558fo.png">    </p:cNvPr>
          <p:cNvPicPr>
            <a:picLocks noChangeAspect="1"/>
          </p:cNvPicPr>
          <p:nvPr/>
        </p:nvPicPr>
        <p:blipFill>
          <a:blip r:embed="rId2"/>
          <a:stretch>
            <a:fillRect/>
          </a:stretch>
        </p:blipFill>
        <p:spPr>
          <a:xfrm>
            <a:off x="5394960" y="1015138"/>
            <a:ext cx="6385255" cy="1193929"/>
          </a:xfrm>
          <a:prstGeom prst="rect">
            <a:avLst/>
          </a:prstGeom>
          <a:effectLst>
            <a:outerShdw sx="100000" sy="100000" kx="0" ky="0" algn="bl" rotWithShape="0" blurRad="254000" dist="101600" dir="5400000">
              <a:srgbClr val="000000">
                <a:alpha val="50000"/>
              </a:srgbClr>
            </a:outerShdw>
          </a:effectLst>
        </p:spPr>
      </p:pic>
      <p:pic>
        <p:nvPicPr>
          <p:cNvPr id="14" name="Image 1" descr="/Users/erikalfriend/Projects/RetCalc/.claude/worktrees/marketing-package/marketing/deck/img/college_2_savings-over-time.png">    </p:cNvPr>
          <p:cNvPicPr>
            <a:picLocks noChangeAspect="1"/>
          </p:cNvPicPr>
          <p:nvPr/>
        </p:nvPicPr>
        <p:blipFill>
          <a:blip r:embed="rId3"/>
          <a:stretch>
            <a:fillRect/>
          </a:stretch>
        </p:blipFill>
        <p:spPr>
          <a:xfrm>
            <a:off x="5394960" y="2465100"/>
            <a:ext cx="6385255" cy="3377762"/>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SAVING AND INVESTING</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Rent vs. Buy</a:t>
            </a:r>
            <a:endParaRPr lang="en-US" sz="3000" dirty="0"/>
          </a:p>
        </p:txBody>
      </p:sp>
      <p:sp>
        <p:nvSpPr>
          <p:cNvPr id="4" name="Text 2"/>
          <p:cNvSpPr txBox="1"/>
          <p:nvPr/>
        </p:nvSpPr>
        <p:spPr>
          <a:xfrm>
            <a:off x="548640" y="1508760"/>
            <a:ext cx="4023360" cy="310896"/>
          </a:xfrm>
          <a:prstGeom prst="rect">
            <a:avLst/>
          </a:prstGeom>
          <a:noFill/>
          <a:ln/>
        </p:spPr>
        <p:txBody>
          <a:bodyPr wrap="square" lIns="0" tIns="0" rIns="0" bIns="0" rtlCol="0" anchor="t"/>
          <a:lstStyle/>
          <a:p>
            <a:pPr indent="0" marL="0">
              <a:buNone/>
            </a:pPr>
            <a:r>
              <a:rPr lang="en-US" sz="1700" b="1" dirty="0">
                <a:solidFill>
                  <a:srgbClr val="46B9A6"/>
                </a:solidFill>
              </a:rPr>
              <a:t>Should I rent or buy?</a:t>
            </a:r>
            <a:endParaRPr lang="en-US" sz="1700" dirty="0"/>
          </a:p>
        </p:txBody>
      </p:sp>
      <p:sp>
        <p:nvSpPr>
          <p:cNvPr id="5" name="Text 3"/>
          <p:cNvSpPr txBox="1"/>
          <p:nvPr/>
        </p:nvSpPr>
        <p:spPr>
          <a:xfrm>
            <a:off x="548640" y="2048256"/>
            <a:ext cx="4023360" cy="868680"/>
          </a:xfrm>
          <a:prstGeom prst="rect">
            <a:avLst/>
          </a:prstGeom>
          <a:noFill/>
          <a:ln/>
        </p:spPr>
        <p:txBody>
          <a:bodyPr wrap="square" lIns="0" tIns="0" rIns="0" bIns="0" rtlCol="0" anchor="t"/>
          <a:lstStyle/>
          <a:p>
            <a:pPr indent="0" marL="0">
              <a:buNone/>
            </a:pPr>
            <a:r>
              <a:rPr lang="en-US" sz="1400" dirty="0">
                <a:solidFill>
                  <a:srgbClr val="9AA4B2"/>
                </a:solidFill>
              </a:rPr>
              <a:t>Buyer and renter net worth over any horizon, counting what the down payment could have earned.</a:t>
            </a:r>
            <a:endParaRPr lang="en-US" sz="1400" dirty="0"/>
          </a:p>
        </p:txBody>
      </p:sp>
      <p:sp>
        <p:nvSpPr>
          <p:cNvPr id="6" name="Text 4"/>
          <p:cNvSpPr txBox="1"/>
          <p:nvPr/>
        </p:nvSpPr>
        <p:spPr>
          <a:xfrm>
            <a:off x="548640" y="3026664"/>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IT COUNTS</a:t>
            </a:r>
            <a:endParaRPr lang="en-US" sz="1100" dirty="0"/>
          </a:p>
        </p:txBody>
      </p:sp>
      <p:sp>
        <p:nvSpPr>
          <p:cNvPr id="7" name="Text 5"/>
          <p:cNvSpPr txBox="1"/>
          <p:nvPr/>
        </p:nvSpPr>
        <p:spPr>
          <a:xfrm>
            <a:off x="548640" y="3319272"/>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Price, down payment, rate and term</a:t>
            </a:r>
            <a:endParaRPr lang="en-US" sz="1400" dirty="0"/>
          </a:p>
          <a:p>
            <a:pPr marL="177800" indent="-177800">
              <a:spcAft>
                <a:spcPts val="300"/>
              </a:spcAft>
              <a:buSzPct val="100000"/>
              <a:buChar char="•"/>
            </a:pPr>
            <a:r>
              <a:rPr lang="en-US" sz="1400" dirty="0">
                <a:solidFill>
                  <a:srgbClr val="E8EBF0"/>
                </a:solidFill>
              </a:rPr>
              <a:t>Tax, insurance, upkeep, closing and selling</a:t>
            </a:r>
            <a:endParaRPr lang="en-US" sz="1400" dirty="0"/>
          </a:p>
          <a:p>
            <a:pPr marL="177800" indent="-177800">
              <a:spcAft>
                <a:spcPts val="300"/>
              </a:spcAft>
              <a:buSzPct val="100000"/>
              <a:buChar char="•"/>
            </a:pPr>
            <a:r>
              <a:rPr lang="en-US" sz="1400" dirty="0">
                <a:solidFill>
                  <a:srgbClr val="E8EBF0"/>
                </a:solidFill>
              </a:rPr>
              <a:t>Rent growth, appreciation and returns</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46B9A6"/>
                </a:solidFill>
              </a:rPr>
              <a:t>$811,712</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how far renting came out ahead after 30 years</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rentbuy" history="1" highlightClick="0" endSnd="0">
                  <a:extLst>
                    <a:ext uri="{A12FA001-AC4F-418D-AE19-62706E023703}">
                      <ahyp:hlinkClr xmlns:ahyp="http://schemas.microsoft.com/office/drawing/2018/hyperlinkcolor" val="tx"/>
                    </a:ext>
                  </a:extLst>
                </a:hlinkClick>
              </a:rPr>
              <a:t>retcalc.app/rentbuy</a:t>
            </a:r>
            <a:endParaRPr lang="en-US" sz="1000" dirty="0"/>
          </a:p>
        </p:txBody>
      </p:sp>
      <p:sp>
        <p:nvSpPr>
          <p:cNvPr id="11" name="Shape 9"/>
          <p:cNvSpPr/>
          <p:nvPr/>
        </p:nvSpPr>
        <p:spPr>
          <a:xfrm>
            <a:off x="4983480" y="0"/>
            <a:ext cx="7208215" cy="6858000"/>
          </a:xfrm>
          <a:prstGeom prst="rect">
            <a:avLst/>
          </a:prstGeom>
          <a:solidFill>
            <a:srgbClr val="182F30"/>
          </a:solidFill>
          <a:ln/>
        </p:spPr>
      </p:sp>
      <p:pic>
        <p:nvPicPr>
          <p:cNvPr id="12" name="Image 0" descr="/Users/erikalfriend/Projects/RetCalc/.claude/worktrees/marketing-package/marketing/deck/img/rentbuy_2_net-worth-over-time.png">    </p:cNvPr>
          <p:cNvPicPr>
            <a:picLocks noChangeAspect="1"/>
          </p:cNvPicPr>
          <p:nvPr/>
        </p:nvPicPr>
        <p:blipFill>
          <a:blip r:embed="rId2"/>
          <a:stretch>
            <a:fillRect/>
          </a:stretch>
        </p:blipFill>
        <p:spPr>
          <a:xfrm>
            <a:off x="5394960" y="474847"/>
            <a:ext cx="6385255" cy="3377762"/>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rentbuy_1_each-month-to-start_0_0.8.png">    </p:cNvPr>
          <p:cNvPicPr>
            <a:picLocks noChangeAspect="1"/>
          </p:cNvPicPr>
          <p:nvPr/>
        </p:nvPicPr>
        <p:blipFill>
          <a:blip r:embed="rId3"/>
          <a:stretch>
            <a:fillRect/>
          </a:stretch>
        </p:blipFill>
        <p:spPr>
          <a:xfrm>
            <a:off x="5394960" y="4108642"/>
            <a:ext cx="6385255" cy="2274511"/>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EVERYDAY MONEY</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Income Tax: retirement mode</a:t>
            </a:r>
            <a:endParaRPr lang="en-US" sz="3000" dirty="0"/>
          </a:p>
        </p:txBody>
      </p:sp>
      <p:sp>
        <p:nvSpPr>
          <p:cNvPr id="4" name="Text 2"/>
          <p:cNvSpPr txBox="1"/>
          <p:nvPr/>
        </p:nvSpPr>
        <p:spPr>
          <a:xfrm>
            <a:off x="548640" y="1938528"/>
            <a:ext cx="4023360" cy="576072"/>
          </a:xfrm>
          <a:prstGeom prst="rect">
            <a:avLst/>
          </a:prstGeom>
          <a:noFill/>
          <a:ln/>
        </p:spPr>
        <p:txBody>
          <a:bodyPr wrap="square" lIns="0" tIns="0" rIns="0" bIns="0" rtlCol="0" anchor="t"/>
          <a:lstStyle/>
          <a:p>
            <a:pPr indent="0" marL="0">
              <a:buNone/>
            </a:pPr>
            <a:r>
              <a:rPr lang="en-US" sz="1700" b="1" dirty="0">
                <a:solidFill>
                  <a:srgbClr val="9670EC"/>
                </a:solidFill>
              </a:rPr>
              <a:t>What does a year of withdrawals cost?</a:t>
            </a:r>
            <a:endParaRPr lang="en-US" sz="1700" dirty="0"/>
          </a:p>
        </p:txBody>
      </p:sp>
      <p:sp>
        <p:nvSpPr>
          <p:cNvPr id="5" name="Text 3"/>
          <p:cNvSpPr txBox="1"/>
          <p:nvPr/>
        </p:nvSpPr>
        <p:spPr>
          <a:xfrm>
            <a:off x="548640" y="2743200"/>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IT STACKS</a:t>
            </a:r>
            <a:endParaRPr lang="en-US" sz="1100" dirty="0"/>
          </a:p>
        </p:txBody>
      </p:sp>
      <p:sp>
        <p:nvSpPr>
          <p:cNvPr id="6" name="Text 4"/>
          <p:cNvSpPr txBox="1"/>
          <p:nvPr/>
        </p:nvSpPr>
        <p:spPr>
          <a:xfrm>
            <a:off x="548640" y="3035808"/>
            <a:ext cx="4023360"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Long-term gains into the 0/15/20% bands</a:t>
            </a:r>
            <a:endParaRPr lang="en-US" sz="1400" dirty="0"/>
          </a:p>
          <a:p>
            <a:pPr marL="177800" indent="-177800">
              <a:spcAft>
                <a:spcPts val="300"/>
              </a:spcAft>
              <a:buSzPct val="100000"/>
              <a:buChar char="•"/>
            </a:pPr>
            <a:r>
              <a:rPr lang="en-US" sz="1400" dirty="0">
                <a:solidFill>
                  <a:srgbClr val="E8EBF0"/>
                </a:solidFill>
              </a:rPr>
              <a:t>The 3.8% net investment income tax</a:t>
            </a:r>
            <a:endParaRPr lang="en-US" sz="1400" dirty="0"/>
          </a:p>
          <a:p>
            <a:pPr marL="177800" indent="-177800">
              <a:spcAft>
                <a:spcPts val="300"/>
              </a:spcAft>
              <a:buSzPct val="100000"/>
              <a:buChar char="•"/>
            </a:pPr>
            <a:r>
              <a:rPr lang="en-US" sz="1400" dirty="0">
                <a:solidFill>
                  <a:srgbClr val="E8EBF0"/>
                </a:solidFill>
              </a:rPr>
              <a:t>Social Security's 0/50/85% tiers</a:t>
            </a:r>
            <a:endParaRPr lang="en-US" sz="1400" dirty="0"/>
          </a:p>
          <a:p>
            <a:pPr marL="177800" indent="-177800">
              <a:spcAft>
                <a:spcPts val="300"/>
              </a:spcAft>
              <a:buSzPct val="100000"/>
              <a:buChar char="•"/>
            </a:pPr>
            <a:r>
              <a:rPr lang="en-US" sz="1400" dirty="0">
                <a:solidFill>
                  <a:srgbClr val="E8EBF0"/>
                </a:solidFill>
              </a:rPr>
              <a:t>The 2026 senior deduction</a:t>
            </a:r>
            <a:endParaRPr lang="en-US" sz="1400" dirty="0"/>
          </a:p>
          <a:p>
            <a:pPr marL="177800" indent="-177800">
              <a:spcAft>
                <a:spcPts val="300"/>
              </a:spcAft>
              <a:buSzPct val="100000"/>
              <a:buChar char="•"/>
            </a:pPr>
            <a:r>
              <a:rPr lang="en-US" sz="1400" dirty="0">
                <a:solidFill>
                  <a:srgbClr val="E8EBF0"/>
                </a:solidFill>
              </a:rPr>
              <a:t>State rules for pensions and withdrawals</a:t>
            </a:r>
            <a:endParaRPr lang="en-US" sz="1400" dirty="0"/>
          </a:p>
        </p:txBody>
      </p:sp>
      <p:sp>
        <p:nvSpPr>
          <p:cNvPr id="7" name="Text 5"/>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9670EC"/>
                </a:solidFill>
              </a:rPr>
              <a:t>4.9%</a:t>
            </a:r>
            <a:endParaRPr lang="en-US" sz="3400" dirty="0"/>
          </a:p>
        </p:txBody>
      </p:sp>
      <p:sp>
        <p:nvSpPr>
          <p:cNvPr id="8" name="Text 6"/>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total tax on $100,000 of retirement income</a:t>
            </a:r>
            <a:endParaRPr lang="en-US" sz="1200" dirty="0"/>
          </a:p>
        </p:txBody>
      </p:sp>
      <p:sp>
        <p:nvSpPr>
          <p:cNvPr id="9" name="Text 7"/>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incometax" history="1" highlightClick="0" endSnd="0">
                  <a:extLst>
                    <a:ext uri="{A12FA001-AC4F-418D-AE19-62706E023703}">
                      <ahyp:hlinkClr xmlns:ahyp="http://schemas.microsoft.com/office/drawing/2018/hyperlinkcolor" val="tx"/>
                    </a:ext>
                  </a:extLst>
                </a:hlinkClick>
              </a:rPr>
              <a:t>retcalc.app/incometax</a:t>
            </a:r>
            <a:endParaRPr lang="en-US" sz="1000" dirty="0"/>
          </a:p>
        </p:txBody>
      </p:sp>
      <p:sp>
        <p:nvSpPr>
          <p:cNvPr id="10" name="Shape 8"/>
          <p:cNvSpPr/>
          <p:nvPr/>
        </p:nvSpPr>
        <p:spPr>
          <a:xfrm>
            <a:off x="4983480" y="0"/>
            <a:ext cx="7208215" cy="6858000"/>
          </a:xfrm>
          <a:prstGeom prst="rect">
            <a:avLst/>
          </a:prstGeom>
          <a:solidFill>
            <a:srgbClr val="26223D"/>
          </a:solidFill>
          <a:ln/>
        </p:spPr>
      </p:sp>
      <p:pic>
        <p:nvPicPr>
          <p:cNvPr id="11" name="Image 0" descr="/Users/erikalfriend/Projects/RetCalc/.claude/worktrees/marketing-package/marketing/deck/img/incometax_ret_2_your-capital-gain-an.png">    </p:cNvPr>
          <p:cNvPicPr>
            <a:picLocks noChangeAspect="1"/>
          </p:cNvPicPr>
          <p:nvPr/>
        </p:nvPicPr>
        <p:blipFill>
          <a:blip r:embed="rId2"/>
          <a:stretch>
            <a:fillRect/>
          </a:stretch>
        </p:blipFill>
        <p:spPr>
          <a:xfrm>
            <a:off x="5806637" y="411480"/>
            <a:ext cx="5561901" cy="2626271"/>
          </a:xfrm>
          <a:prstGeom prst="rect">
            <a:avLst/>
          </a:prstGeom>
          <a:effectLst>
            <a:outerShdw sx="100000" sy="100000" kx="0" ky="0" algn="bl" rotWithShape="0" blurRad="254000" dist="101600" dir="5400000">
              <a:srgbClr val="000000">
                <a:alpha val="50000"/>
              </a:srgbClr>
            </a:outerShdw>
          </a:effectLst>
        </p:spPr>
      </p:pic>
      <p:pic>
        <p:nvPicPr>
          <p:cNvPr id="12" name="Image 1" descr="/Users/erikalfriend/Projects/RetCalc/.claude/worktrees/marketing-package/marketing/deck/img/incometax_ret_3_where-each-dollar-ca_0_0.74.png">    </p:cNvPr>
          <p:cNvPicPr>
            <a:picLocks noChangeAspect="1"/>
          </p:cNvPicPr>
          <p:nvPr/>
        </p:nvPicPr>
        <p:blipFill>
          <a:blip r:embed="rId3"/>
          <a:stretch>
            <a:fillRect/>
          </a:stretch>
        </p:blipFill>
        <p:spPr>
          <a:xfrm>
            <a:off x="5806637" y="3260768"/>
            <a:ext cx="5561901" cy="3185752"/>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EVERYDAY MONEY</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Budget: the itemized paycheck</a:t>
            </a:r>
            <a:endParaRPr lang="en-US" sz="3000" dirty="0"/>
          </a:p>
        </p:txBody>
      </p:sp>
      <p:sp>
        <p:nvSpPr>
          <p:cNvPr id="4" name="Text 2"/>
          <p:cNvSpPr txBox="1"/>
          <p:nvPr/>
        </p:nvSpPr>
        <p:spPr>
          <a:xfrm>
            <a:off x="548640" y="1938528"/>
            <a:ext cx="4023360" cy="310896"/>
          </a:xfrm>
          <a:prstGeom prst="rect">
            <a:avLst/>
          </a:prstGeom>
          <a:noFill/>
          <a:ln/>
        </p:spPr>
        <p:txBody>
          <a:bodyPr wrap="square" lIns="0" tIns="0" rIns="0" bIns="0" rtlCol="0" anchor="t"/>
          <a:lstStyle/>
          <a:p>
            <a:pPr indent="0" marL="0">
              <a:buNone/>
            </a:pPr>
            <a:r>
              <a:rPr lang="en-US" sz="1700" b="1" dirty="0">
                <a:solidFill>
                  <a:srgbClr val="9670EC"/>
                </a:solidFill>
              </a:rPr>
              <a:t>Every line of every check</a:t>
            </a:r>
            <a:endParaRPr lang="en-US" sz="1700" dirty="0"/>
          </a:p>
        </p:txBody>
      </p:sp>
      <p:sp>
        <p:nvSpPr>
          <p:cNvPr id="5" name="Text 3"/>
          <p:cNvSpPr txBox="1"/>
          <p:nvPr/>
        </p:nvSpPr>
        <p:spPr>
          <a:xfrm>
            <a:off x="548640" y="2478024"/>
            <a:ext cx="4023360" cy="914400"/>
          </a:xfrm>
          <a:prstGeom prst="rect">
            <a:avLst/>
          </a:prstGeom>
          <a:noFill/>
          <a:ln/>
        </p:spPr>
        <p:txBody>
          <a:bodyPr wrap="square" lIns="0" tIns="0" rIns="0" bIns="0" rtlCol="0" anchor="t"/>
          <a:lstStyle/>
          <a:p>
            <a:pPr indent="0" marL="0">
              <a:buNone/>
            </a:pPr>
            <a:r>
              <a:rPr lang="en-US" sz="1400" dirty="0">
                <a:solidFill>
                  <a:srgbClr val="9AA4B2"/>
                </a:solidFill>
              </a:rPr>
              <a:t>Per check, per month and per year: earnings, pre-tax lines, each tax, the deposit, the budget and where the rest goes.</a:t>
            </a:r>
            <a:endParaRPr lang="en-US" sz="1400" dirty="0"/>
          </a:p>
        </p:txBody>
      </p:sp>
      <p:sp>
        <p:nvSpPr>
          <p:cNvPr id="6" name="Text 4"/>
          <p:cNvSpPr txBox="1"/>
          <p:nvPr/>
        </p:nvSpPr>
        <p:spPr>
          <a:xfrm>
            <a:off x="548640" y="3502152"/>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THREE ONE-CLICK PLANS</a:t>
            </a:r>
            <a:endParaRPr lang="en-US" sz="1100" dirty="0"/>
          </a:p>
        </p:txBody>
      </p:sp>
      <p:sp>
        <p:nvSpPr>
          <p:cNvPr id="7" name="Text 5"/>
          <p:cNvSpPr txBox="1"/>
          <p:nvPr/>
        </p:nvSpPr>
        <p:spPr>
          <a:xfrm>
            <a:off x="548640" y="3794760"/>
            <a:ext cx="4023360" cy="86868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The usual order</a:t>
            </a:r>
            <a:endParaRPr lang="en-US" sz="1400" dirty="0"/>
          </a:p>
          <a:p>
            <a:pPr marL="177800" indent="-177800">
              <a:spcAft>
                <a:spcPts val="300"/>
              </a:spcAft>
              <a:buSzPct val="100000"/>
              <a:buChar char="•"/>
            </a:pPr>
            <a:r>
              <a:rPr lang="en-US" sz="1400" dirty="0">
                <a:solidFill>
                  <a:srgbClr val="E8EBF0"/>
                </a:solidFill>
              </a:rPr>
              <a:t>Max tax breaks</a:t>
            </a:r>
            <a:endParaRPr lang="en-US" sz="1400" dirty="0"/>
          </a:p>
          <a:p>
            <a:pPr marL="177800" indent="-177800">
              <a:spcAft>
                <a:spcPts val="300"/>
              </a:spcAft>
              <a:buSzPct val="100000"/>
              <a:buChar char="•"/>
            </a:pPr>
            <a:r>
              <a:rPr lang="en-US" sz="1400" dirty="0">
                <a:solidFill>
                  <a:srgbClr val="E8EBF0"/>
                </a:solidFill>
              </a:rPr>
              <a:t>Stay flexible</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9670EC"/>
                </a:solidFill>
              </a:rPr>
              <a:t>$0</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left unassigned: every dollar has a place</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budget" history="1" highlightClick="0" endSnd="0">
                  <a:extLst>
                    <a:ext uri="{A12FA001-AC4F-418D-AE19-62706E023703}">
                      <ahyp:hlinkClr xmlns:ahyp="http://schemas.microsoft.com/office/drawing/2018/hyperlinkcolor" val="tx"/>
                    </a:ext>
                  </a:extLst>
                </a:hlinkClick>
              </a:rPr>
              <a:t>retcalc.app/budget</a:t>
            </a:r>
            <a:endParaRPr lang="en-US" sz="1000" dirty="0"/>
          </a:p>
        </p:txBody>
      </p:sp>
      <p:sp>
        <p:nvSpPr>
          <p:cNvPr id="11" name="Shape 9"/>
          <p:cNvSpPr/>
          <p:nvPr/>
        </p:nvSpPr>
        <p:spPr>
          <a:xfrm>
            <a:off x="4983480" y="0"/>
            <a:ext cx="7208215" cy="6858000"/>
          </a:xfrm>
          <a:prstGeom prst="rect">
            <a:avLst/>
          </a:prstGeom>
          <a:solidFill>
            <a:srgbClr val="26223D"/>
          </a:solidFill>
          <a:ln/>
        </p:spPr>
      </p:sp>
      <p:pic>
        <p:nvPicPr>
          <p:cNvPr id="12" name="Image 0" descr="/Users/erikalfriend/Projects/RetCalc/.claude/worktrees/marketing-package/marketing/deck/img/plan_paycheck_4_itemized-paycheck_0_0.5.png">    </p:cNvPr>
          <p:cNvPicPr>
            <a:picLocks noChangeAspect="1"/>
          </p:cNvPicPr>
          <p:nvPr/>
        </p:nvPicPr>
        <p:blipFill>
          <a:blip r:embed="rId2"/>
          <a:stretch>
            <a:fillRect/>
          </a:stretch>
        </p:blipFill>
        <p:spPr>
          <a:xfrm>
            <a:off x="5562346" y="411480"/>
            <a:ext cx="6050484" cy="2796111"/>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plan_paycheck_4_itemized-paycheck_0.5_1.png">    </p:cNvPr>
          <p:cNvPicPr>
            <a:picLocks noChangeAspect="1"/>
          </p:cNvPicPr>
          <p:nvPr/>
        </p:nvPicPr>
        <p:blipFill>
          <a:blip r:embed="rId3"/>
          <a:stretch>
            <a:fillRect/>
          </a:stretch>
        </p:blipFill>
        <p:spPr>
          <a:xfrm>
            <a:off x="5562346" y="3467529"/>
            <a:ext cx="6050484" cy="2796111"/>
          </a:xfrm>
          <a:prstGeom prst="rect">
            <a:avLst/>
          </a:prstGeom>
          <a:effectLst>
            <a:outerShdw sx="100000" sy="100000" kx="0" ky="0" algn="bl" rotWithShape="0" blurRad="254000" dist="101600" dir="5400000">
              <a:srgbClr val="000000">
                <a:alpha val="50000"/>
              </a:srgbClr>
            </a:outerShdw>
          </a:effectLst>
        </p:spPr>
      </p:pic>
      <p:sp>
        <p:nvSpPr>
          <p:cNvPr id="14" name="Text 10"/>
          <p:cNvSpPr txBox="1"/>
          <p:nvPr/>
        </p:nvSpPr>
        <p:spPr>
          <a:xfrm>
            <a:off x="5394960" y="6473952"/>
            <a:ext cx="6385255" cy="274320"/>
          </a:xfrm>
          <a:prstGeom prst="rect">
            <a:avLst/>
          </a:prstGeom>
          <a:noFill/>
          <a:ln/>
        </p:spPr>
        <p:txBody>
          <a:bodyPr wrap="square" lIns="0" tIns="0" rIns="0" bIns="0" rtlCol="0" anchor="t"/>
          <a:lstStyle/>
          <a:p>
            <a:pPr algn="r" indent="0" marL="0">
              <a:buNone/>
            </a:pPr>
            <a:r>
              <a:rPr lang="en-US" sz="1000" dirty="0">
                <a:solidFill>
                  <a:srgbClr val="9AA4B2"/>
                </a:solidFill>
              </a:rPr>
              <a:t>The itemized paycheck, in two halves: per check, per month and per year</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EVERYDAY MONEY</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Debt Payoff</a:t>
            </a:r>
            <a:endParaRPr lang="en-US" sz="3000" dirty="0"/>
          </a:p>
        </p:txBody>
      </p:sp>
      <p:sp>
        <p:nvSpPr>
          <p:cNvPr id="4" name="Text 2"/>
          <p:cNvSpPr txBox="1"/>
          <p:nvPr/>
        </p:nvSpPr>
        <p:spPr>
          <a:xfrm>
            <a:off x="548640" y="1508760"/>
            <a:ext cx="4023360" cy="310896"/>
          </a:xfrm>
          <a:prstGeom prst="rect">
            <a:avLst/>
          </a:prstGeom>
          <a:noFill/>
          <a:ln/>
        </p:spPr>
        <p:txBody>
          <a:bodyPr wrap="square" lIns="0" tIns="0" rIns="0" bIns="0" rtlCol="0" anchor="t"/>
          <a:lstStyle/>
          <a:p>
            <a:pPr indent="0" marL="0">
              <a:buNone/>
            </a:pPr>
            <a:r>
              <a:rPr lang="en-US" sz="1700" b="1" dirty="0">
                <a:solidFill>
                  <a:srgbClr val="9670EC"/>
                </a:solidFill>
              </a:rPr>
              <a:t>Which debt should I pay off first?</a:t>
            </a:r>
            <a:endParaRPr lang="en-US" sz="1700" dirty="0"/>
          </a:p>
        </p:txBody>
      </p:sp>
      <p:sp>
        <p:nvSpPr>
          <p:cNvPr id="5" name="Text 3"/>
          <p:cNvSpPr txBox="1"/>
          <p:nvPr/>
        </p:nvSpPr>
        <p:spPr>
          <a:xfrm>
            <a:off x="548640" y="2048256"/>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YOU GET</a:t>
            </a:r>
            <a:endParaRPr lang="en-US" sz="1100" dirty="0"/>
          </a:p>
        </p:txBody>
      </p:sp>
      <p:sp>
        <p:nvSpPr>
          <p:cNvPr id="6" name="Text 4"/>
          <p:cNvSpPr txBox="1"/>
          <p:nvPr/>
        </p:nvSpPr>
        <p:spPr>
          <a:xfrm>
            <a:off x="548640" y="2340864"/>
            <a:ext cx="4023360" cy="1133856"/>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The debt-free date and total interest</a:t>
            </a:r>
            <a:endParaRPr lang="en-US" sz="1400" dirty="0"/>
          </a:p>
          <a:p>
            <a:pPr marL="177800" indent="-177800">
              <a:spcAft>
                <a:spcPts val="300"/>
              </a:spcAft>
              <a:buSzPct val="100000"/>
              <a:buChar char="•"/>
            </a:pPr>
            <a:r>
              <a:rPr lang="en-US" sz="1400" dirty="0">
                <a:solidFill>
                  <a:srgbClr val="E8EBF0"/>
                </a:solidFill>
              </a:rPr>
              <a:t>Avalanche against snowball, with a verdict</a:t>
            </a:r>
            <a:endParaRPr lang="en-US" sz="1400" dirty="0"/>
          </a:p>
          <a:p>
            <a:pPr marL="177800" indent="-177800">
              <a:spcAft>
                <a:spcPts val="300"/>
              </a:spcAft>
              <a:buSzPct val="100000"/>
              <a:buChar char="•"/>
            </a:pPr>
            <a:r>
              <a:rPr lang="en-US" sz="1400" dirty="0">
                <a:solidFill>
                  <a:srgbClr val="E8EBF0"/>
                </a:solidFill>
              </a:rPr>
              <a:t>The payoff order</a:t>
            </a:r>
            <a:endParaRPr lang="en-US" sz="1400" dirty="0"/>
          </a:p>
          <a:p>
            <a:pPr marL="177800" indent="-177800">
              <a:spcAft>
                <a:spcPts val="300"/>
              </a:spcAft>
              <a:buSzPct val="100000"/>
              <a:buChar char="•"/>
            </a:pPr>
            <a:r>
              <a:rPr lang="en-US" sz="1400" dirty="0">
                <a:solidFill>
                  <a:srgbClr val="E8EBF0"/>
                </a:solidFill>
              </a:rPr>
              <a:t>What $100 more per month would do</a:t>
            </a:r>
            <a:endParaRPr lang="en-US" sz="1400" dirty="0"/>
          </a:p>
        </p:txBody>
      </p:sp>
      <p:sp>
        <p:nvSpPr>
          <p:cNvPr id="7" name="Text 5"/>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9670EC"/>
                </a:solidFill>
              </a:rPr>
              <a:t>Sep 2030</a:t>
            </a:r>
            <a:endParaRPr lang="en-US" sz="3400" dirty="0"/>
          </a:p>
        </p:txBody>
      </p:sp>
      <p:sp>
        <p:nvSpPr>
          <p:cNvPr id="8" name="Text 6"/>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debt-free in the sample, $10,167 saved</a:t>
            </a:r>
            <a:endParaRPr lang="en-US" sz="1200" dirty="0"/>
          </a:p>
        </p:txBody>
      </p:sp>
      <p:sp>
        <p:nvSpPr>
          <p:cNvPr id="9" name="Text 7"/>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debt" history="1" highlightClick="0" endSnd="0">
                  <a:extLst>
                    <a:ext uri="{A12FA001-AC4F-418D-AE19-62706E023703}">
                      <ahyp:hlinkClr xmlns:ahyp="http://schemas.microsoft.com/office/drawing/2018/hyperlinkcolor" val="tx"/>
                    </a:ext>
                  </a:extLst>
                </a:hlinkClick>
              </a:rPr>
              <a:t>retcalc.app/debt</a:t>
            </a:r>
            <a:endParaRPr lang="en-US" sz="1000" dirty="0"/>
          </a:p>
        </p:txBody>
      </p:sp>
      <p:sp>
        <p:nvSpPr>
          <p:cNvPr id="10" name="Shape 8"/>
          <p:cNvSpPr/>
          <p:nvPr/>
        </p:nvSpPr>
        <p:spPr>
          <a:xfrm>
            <a:off x="4983480" y="0"/>
            <a:ext cx="7208215" cy="6858000"/>
          </a:xfrm>
          <a:prstGeom prst="rect">
            <a:avLst/>
          </a:prstGeom>
          <a:solidFill>
            <a:srgbClr val="26223D"/>
          </a:solidFill>
          <a:ln/>
        </p:spPr>
      </p:sp>
      <p:pic>
        <p:nvPicPr>
          <p:cNvPr id="11" name="Image 0" descr="/Users/erikalfriend/Projects/RetCalc/.claude/worktrees/marketing-package/marketing/deck/img/debt_1_debt-freesep-20303y-.png">    </p:cNvPr>
          <p:cNvPicPr>
            <a:picLocks noChangeAspect="1"/>
          </p:cNvPicPr>
          <p:nvPr/>
        </p:nvPicPr>
        <p:blipFill>
          <a:blip r:embed="rId2"/>
          <a:stretch>
            <a:fillRect/>
          </a:stretch>
        </p:blipFill>
        <p:spPr>
          <a:xfrm>
            <a:off x="6057429" y="411480"/>
            <a:ext cx="5060318" cy="952178"/>
          </a:xfrm>
          <a:prstGeom prst="rect">
            <a:avLst/>
          </a:prstGeom>
          <a:effectLst>
            <a:outerShdw sx="100000" sy="100000" kx="0" ky="0" algn="bl" rotWithShape="0" blurRad="254000" dist="101600" dir="5400000">
              <a:srgbClr val="000000">
                <a:alpha val="50000"/>
              </a:srgbClr>
            </a:outerShdw>
          </a:effectLst>
        </p:spPr>
      </p:pic>
      <p:pic>
        <p:nvPicPr>
          <p:cNvPr id="12" name="Image 1" descr="/Users/erikalfriend/Projects/RetCalc/.claude/worktrees/marketing-package/marketing/deck/img/debt_2_avalanche-vs-snowbal.png">    </p:cNvPr>
          <p:cNvPicPr>
            <a:picLocks noChangeAspect="1"/>
          </p:cNvPicPr>
          <p:nvPr/>
        </p:nvPicPr>
        <p:blipFill>
          <a:blip r:embed="rId3"/>
          <a:stretch>
            <a:fillRect/>
          </a:stretch>
        </p:blipFill>
        <p:spPr>
          <a:xfrm>
            <a:off x="6057429" y="1566564"/>
            <a:ext cx="5060318" cy="2167852"/>
          </a:xfrm>
          <a:prstGeom prst="rect">
            <a:avLst/>
          </a:prstGeom>
          <a:effectLst>
            <a:outerShdw sx="100000" sy="100000" kx="0" ky="0" algn="bl" rotWithShape="0" blurRad="254000" dist="101600" dir="5400000">
              <a:srgbClr val="000000">
                <a:alpha val="50000"/>
              </a:srgbClr>
            </a:outerShdw>
          </a:effectLst>
        </p:spPr>
      </p:pic>
      <p:pic>
        <p:nvPicPr>
          <p:cNvPr id="13" name="Image 2" descr="/Users/erikalfriend/Projects/RetCalc/.claude/worktrees/marketing-package/marketing/deck/img/debt_3_what-you-owe-month-b_0_0.94.png">    </p:cNvPr>
          <p:cNvPicPr>
            <a:picLocks noChangeAspect="1"/>
          </p:cNvPicPr>
          <p:nvPr/>
        </p:nvPicPr>
        <p:blipFill>
          <a:blip r:embed="rId4"/>
          <a:stretch>
            <a:fillRect/>
          </a:stretch>
        </p:blipFill>
        <p:spPr>
          <a:xfrm>
            <a:off x="6057429" y="3937321"/>
            <a:ext cx="5060318" cy="2509199"/>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548640"/>
            <a:ext cx="4023360" cy="292608"/>
          </a:xfrm>
          <a:prstGeom prst="rect">
            <a:avLst/>
          </a:prstGeom>
          <a:noFill/>
          <a:ln/>
        </p:spPr>
        <p:txBody>
          <a:bodyPr wrap="square" lIns="0" tIns="0" rIns="0" bIns="0" rtlCol="0"/>
          <a:lstStyle/>
          <a:p>
            <a:pPr algn="l" indent="0" marL="0">
              <a:buNone/>
            </a:pPr>
            <a:r>
              <a:rPr lang="en-US" sz="1200" b="1" spc="200" kern="0" dirty="0">
                <a:solidFill>
                  <a:schemeClr val="accent1"/>
                </a:solidFill>
              </a:rPr>
              <a:t>EVERYDAY MONEY</a:t>
            </a:r>
            <a:endParaRPr lang="en-US" sz="1200" dirty="0"/>
          </a:p>
        </p:txBody>
      </p:sp>
      <p:sp>
        <p:nvSpPr>
          <p:cNvPr id="3" name="Text 1"/>
          <p:cNvSpPr/>
          <p:nvPr>
            <p:ph idx="102" type="title" hasCustomPrompt="1"/>
          </p:nvPr>
        </p:nvSpPr>
        <p:spPr>
          <a:xfrm>
            <a:off x="548640" y="896112"/>
            <a:ext cx="4114800" cy="1325880"/>
          </a:xfrm>
          <a:prstGeom prst="rect">
            <a:avLst/>
          </a:prstGeom>
          <a:noFill/>
          <a:ln/>
        </p:spPr>
        <p:txBody>
          <a:bodyPr wrap="square" lIns="0" tIns="0" rIns="0" bIns="0" rtlCol="0" anchor="t"/>
          <a:lstStyle/>
          <a:p>
            <a:pPr algn="l" indent="0" marL="0">
              <a:buNone/>
            </a:pPr>
            <a:r>
              <a:rPr lang="en-US" sz="3000" b="1" dirty="0">
                <a:solidFill>
                  <a:schemeClr val="bg2"/>
                </a:solidFill>
              </a:rPr>
              <a:t>Mortgage Calculator</a:t>
            </a:r>
            <a:endParaRPr lang="en-US" sz="3000" dirty="0"/>
          </a:p>
        </p:txBody>
      </p:sp>
      <p:sp>
        <p:nvSpPr>
          <p:cNvPr id="4" name="Text 2"/>
          <p:cNvSpPr txBox="1"/>
          <p:nvPr/>
        </p:nvSpPr>
        <p:spPr>
          <a:xfrm>
            <a:off x="548640" y="1508760"/>
            <a:ext cx="4023360" cy="310896"/>
          </a:xfrm>
          <a:prstGeom prst="rect">
            <a:avLst/>
          </a:prstGeom>
          <a:noFill/>
          <a:ln/>
        </p:spPr>
        <p:txBody>
          <a:bodyPr wrap="square" lIns="0" tIns="0" rIns="0" bIns="0" rtlCol="0" anchor="t"/>
          <a:lstStyle/>
          <a:p>
            <a:pPr indent="0" marL="0">
              <a:buNone/>
            </a:pPr>
            <a:r>
              <a:rPr lang="en-US" sz="1700" b="1" dirty="0">
                <a:solidFill>
                  <a:srgbClr val="9670EC"/>
                </a:solidFill>
              </a:rPr>
              <a:t>What will the house cost each month?</a:t>
            </a:r>
            <a:endParaRPr lang="en-US" sz="1700" dirty="0"/>
          </a:p>
        </p:txBody>
      </p:sp>
      <p:sp>
        <p:nvSpPr>
          <p:cNvPr id="5" name="Text 3"/>
          <p:cNvSpPr txBox="1"/>
          <p:nvPr/>
        </p:nvSpPr>
        <p:spPr>
          <a:xfrm>
            <a:off x="548640" y="2048256"/>
            <a:ext cx="4023360" cy="640080"/>
          </a:xfrm>
          <a:prstGeom prst="rect">
            <a:avLst/>
          </a:prstGeom>
          <a:noFill/>
          <a:ln/>
        </p:spPr>
        <p:txBody>
          <a:bodyPr wrap="square" lIns="0" tIns="0" rIns="0" bIns="0" rtlCol="0" anchor="t"/>
          <a:lstStyle/>
          <a:p>
            <a:pPr indent="0" marL="0">
              <a:buNone/>
            </a:pPr>
            <a:r>
              <a:rPr lang="en-US" sz="1400" dirty="0">
                <a:solidFill>
                  <a:srgbClr val="9AA4B2"/>
                </a:solidFill>
              </a:rPr>
              <a:t>The full payment, how the balance falls, and amortization year by year.</a:t>
            </a:r>
            <a:endParaRPr lang="en-US" sz="1400" dirty="0"/>
          </a:p>
        </p:txBody>
      </p:sp>
      <p:sp>
        <p:nvSpPr>
          <p:cNvPr id="6" name="Text 4"/>
          <p:cNvSpPr txBox="1"/>
          <p:nvPr/>
        </p:nvSpPr>
        <p:spPr>
          <a:xfrm>
            <a:off x="548640" y="2798064"/>
            <a:ext cx="4023360" cy="256032"/>
          </a:xfrm>
          <a:prstGeom prst="rect">
            <a:avLst/>
          </a:prstGeom>
          <a:noFill/>
          <a:ln/>
        </p:spPr>
        <p:txBody>
          <a:bodyPr wrap="square" lIns="0" tIns="0" rIns="0" bIns="0" rtlCol="0" anchor="t"/>
          <a:lstStyle/>
          <a:p>
            <a:pPr indent="0" marL="0">
              <a:buNone/>
            </a:pPr>
            <a:r>
              <a:rPr lang="en-US" sz="1100" b="1" spc="100" kern="0" dirty="0">
                <a:solidFill>
                  <a:srgbClr val="9AA4B2"/>
                </a:solidFill>
              </a:rPr>
              <a:t>WHAT-IFS, IN THE SAMPLE</a:t>
            </a:r>
            <a:endParaRPr lang="en-US" sz="1100" dirty="0"/>
          </a:p>
        </p:txBody>
      </p:sp>
      <p:sp>
        <p:nvSpPr>
          <p:cNvPr id="7" name="Text 5"/>
          <p:cNvSpPr txBox="1"/>
          <p:nvPr/>
        </p:nvSpPr>
        <p:spPr>
          <a:xfrm>
            <a:off x="548640" y="3090672"/>
            <a:ext cx="4023360" cy="1133856"/>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rgbClr val="E8EBF0"/>
                </a:solidFill>
              </a:rPr>
              <a:t>$300 extra per month and $10,000 once</a:t>
            </a:r>
            <a:endParaRPr lang="en-US" sz="1400" dirty="0"/>
          </a:p>
          <a:p>
            <a:pPr marL="177800" indent="-177800">
              <a:spcAft>
                <a:spcPts val="300"/>
              </a:spcAft>
              <a:buSzPct val="100000"/>
              <a:buChar char="•"/>
            </a:pPr>
            <a:r>
              <a:rPr lang="en-US" sz="1400" dirty="0">
                <a:solidFill>
                  <a:srgbClr val="E8EBF0"/>
                </a:solidFill>
              </a:rPr>
              <a:t>Paid off 9 years 7 months sooner</a:t>
            </a:r>
            <a:endParaRPr lang="en-US" sz="1400" dirty="0"/>
          </a:p>
          <a:p>
            <a:pPr marL="177800" indent="-177800">
              <a:spcAft>
                <a:spcPts val="300"/>
              </a:spcAft>
              <a:buSzPct val="100000"/>
              <a:buChar char="•"/>
            </a:pPr>
            <a:r>
              <a:rPr lang="en-US" sz="1400" dirty="0">
                <a:solidFill>
                  <a:srgbClr val="E8EBF0"/>
                </a:solidFill>
              </a:rPr>
              <a:t>$201,179 less interest</a:t>
            </a:r>
            <a:endParaRPr lang="en-US" sz="1400" dirty="0"/>
          </a:p>
          <a:p>
            <a:pPr marL="177800" indent="-177800">
              <a:spcAft>
                <a:spcPts val="300"/>
              </a:spcAft>
              <a:buSzPct val="100000"/>
              <a:buChar char="•"/>
            </a:pPr>
            <a:r>
              <a:rPr lang="en-US" sz="1400" dirty="0">
                <a:solidFill>
                  <a:srgbClr val="E8EBF0"/>
                </a:solidFill>
              </a:rPr>
              <a:t>A refinance to 6.25%: even in 1 year 7 months</a:t>
            </a:r>
            <a:endParaRPr lang="en-US" sz="1400" dirty="0"/>
          </a:p>
        </p:txBody>
      </p:sp>
      <p:sp>
        <p:nvSpPr>
          <p:cNvPr id="8" name="Text 6"/>
          <p:cNvSpPr txBox="1"/>
          <p:nvPr/>
        </p:nvSpPr>
        <p:spPr>
          <a:xfrm>
            <a:off x="548640" y="5120640"/>
            <a:ext cx="4023360" cy="548640"/>
          </a:xfrm>
          <a:prstGeom prst="rect">
            <a:avLst/>
          </a:prstGeom>
          <a:noFill/>
          <a:ln/>
        </p:spPr>
        <p:txBody>
          <a:bodyPr wrap="square" lIns="0" tIns="0" rIns="0" bIns="0" rtlCol="0" anchor="t"/>
          <a:lstStyle/>
          <a:p>
            <a:pPr indent="0" marL="0">
              <a:buNone/>
            </a:pPr>
            <a:r>
              <a:rPr lang="en-US" sz="3400" b="1" dirty="0">
                <a:solidFill>
                  <a:srgbClr val="9670EC"/>
                </a:solidFill>
              </a:rPr>
              <a:t>$201,179</a:t>
            </a:r>
            <a:endParaRPr lang="en-US" sz="3400" dirty="0"/>
          </a:p>
        </p:txBody>
      </p:sp>
      <p:sp>
        <p:nvSpPr>
          <p:cNvPr id="9" name="Text 7"/>
          <p:cNvSpPr txBox="1"/>
          <p:nvPr/>
        </p:nvSpPr>
        <p:spPr>
          <a:xfrm>
            <a:off x="548640" y="5669280"/>
            <a:ext cx="4023360" cy="274320"/>
          </a:xfrm>
          <a:prstGeom prst="rect">
            <a:avLst/>
          </a:prstGeom>
          <a:noFill/>
          <a:ln/>
        </p:spPr>
        <p:txBody>
          <a:bodyPr wrap="square" lIns="0" tIns="0" rIns="0" bIns="0" rtlCol="0" anchor="t"/>
          <a:lstStyle/>
          <a:p>
            <a:pPr indent="0" marL="0">
              <a:buNone/>
            </a:pPr>
            <a:r>
              <a:rPr lang="en-US" sz="1200" dirty="0">
                <a:solidFill>
                  <a:srgbClr val="9AA4B2"/>
                </a:solidFill>
              </a:rPr>
              <a:t>less interest with $300 extra per month</a:t>
            </a:r>
            <a:endParaRPr lang="en-US" sz="1200" dirty="0"/>
          </a:p>
        </p:txBody>
      </p:sp>
      <p:sp>
        <p:nvSpPr>
          <p:cNvPr id="10" name="Text 8"/>
          <p:cNvSpPr txBox="1"/>
          <p:nvPr/>
        </p:nvSpPr>
        <p:spPr>
          <a:xfrm>
            <a:off x="2194560" y="6419088"/>
            <a:ext cx="2377440" cy="274320"/>
          </a:xfrm>
          <a:prstGeom prst="rect">
            <a:avLst/>
          </a:prstGeom>
          <a:noFill/>
          <a:ln/>
        </p:spPr>
        <p:txBody>
          <a:bodyPr wrap="square" lIns="0" tIns="0" rIns="0" bIns="0" rtlCol="0" anchor="t"/>
          <a:lstStyle/>
          <a:p>
            <a:pPr algn="r" indent="0" marL="0">
              <a:buNone/>
            </a:pPr>
            <a:r>
              <a:rPr lang="en-US" sz="1000" u="sng" dirty="0">
                <a:solidFill>
                  <a:srgbClr val="E3A93B"/>
                </a:solidFill>
                <a:hlinkClick r:id="rId1" invalidUrl="" action="" tgtFrame="" tooltip="https://retcalc.app/mortgage" history="1" highlightClick="0" endSnd="0">
                  <a:extLst>
                    <a:ext uri="{A12FA001-AC4F-418D-AE19-62706E023703}">
                      <ahyp:hlinkClr xmlns:ahyp="http://schemas.microsoft.com/office/drawing/2018/hyperlinkcolor" val="tx"/>
                    </a:ext>
                  </a:extLst>
                </a:hlinkClick>
              </a:rPr>
              <a:t>retcalc.app/mortgage</a:t>
            </a:r>
            <a:endParaRPr lang="en-US" sz="1000" dirty="0"/>
          </a:p>
        </p:txBody>
      </p:sp>
      <p:sp>
        <p:nvSpPr>
          <p:cNvPr id="11" name="Shape 9"/>
          <p:cNvSpPr/>
          <p:nvPr/>
        </p:nvSpPr>
        <p:spPr>
          <a:xfrm>
            <a:off x="4983480" y="0"/>
            <a:ext cx="7208215" cy="6858000"/>
          </a:xfrm>
          <a:prstGeom prst="rect">
            <a:avLst/>
          </a:prstGeom>
          <a:solidFill>
            <a:srgbClr val="26223D"/>
          </a:solidFill>
          <a:ln/>
        </p:spPr>
      </p:sp>
      <p:pic>
        <p:nvPicPr>
          <p:cNvPr id="12" name="Image 0" descr="/Users/erikalfriend/Projects/RetCalc/.claude/worktrees/marketing-package/marketing/deck/img/mx_2_extra-payments-and-r.png">    </p:cNvPr>
          <p:cNvPicPr>
            <a:picLocks noChangeAspect="1"/>
          </p:cNvPicPr>
          <p:nvPr/>
        </p:nvPicPr>
        <p:blipFill>
          <a:blip r:embed="rId2"/>
          <a:stretch>
            <a:fillRect/>
          </a:stretch>
        </p:blipFill>
        <p:spPr>
          <a:xfrm>
            <a:off x="6225306" y="411480"/>
            <a:ext cx="4724562" cy="3600731"/>
          </a:xfrm>
          <a:prstGeom prst="rect">
            <a:avLst/>
          </a:prstGeom>
          <a:effectLst>
            <a:outerShdw sx="100000" sy="100000" kx="0" ky="0" algn="bl" rotWithShape="0" blurRad="254000" dist="101600" dir="5400000">
              <a:srgbClr val="000000">
                <a:alpha val="50000"/>
              </a:srgbClr>
            </a:outerShdw>
          </a:effectLst>
        </p:spPr>
      </p:pic>
      <p:pic>
        <p:nvPicPr>
          <p:cNvPr id="13" name="Image 1" descr="/Users/erikalfriend/Projects/RetCalc/.claude/worktrees/marketing-package/marketing/deck/img/mx_3_loan-balance-and-wha_0_0.9.png">    </p:cNvPr>
          <p:cNvPicPr>
            <a:picLocks noChangeAspect="1"/>
          </p:cNvPicPr>
          <p:nvPr/>
        </p:nvPicPr>
        <p:blipFill>
          <a:blip r:embed="rId3"/>
          <a:stretch>
            <a:fillRect/>
          </a:stretch>
        </p:blipFill>
        <p:spPr>
          <a:xfrm>
            <a:off x="6225306" y="4201654"/>
            <a:ext cx="4724562" cy="2244866"/>
          </a:xfrm>
          <a:prstGeom prst="rect">
            <a:avLst/>
          </a:prstGeom>
          <a:effectLst>
            <a:outerShdw sx="100000" sy="100000" kx="0" ky="0" algn="bl" rotWithShape="0" blurRad="254000" dist="101600" dir="5400000">
              <a:srgbClr val="000000">
                <a:alpha val="50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GUIDED WALKTHROUGHS</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The Readiness Guide ends in a plan on paper</a:t>
            </a:r>
            <a:endParaRPr lang="en-US" sz="3400" dirty="0"/>
          </a:p>
        </p:txBody>
      </p:sp>
      <p:sp>
        <p:nvSpPr>
          <p:cNvPr id="4" name="Text 2"/>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400" dirty="0">
                <a:solidFill>
                  <a:srgbClr val="9AA4B2"/>
                </a:solidFill>
              </a:rPr>
              <a:t>About a dozen US Letter pages, built in the browser and saved as a PDF. This is the report for a sample couple, 38 and 36, retiring at 62.</a:t>
            </a:r>
            <a:endParaRPr lang="en-US" sz="1400" dirty="0"/>
          </a:p>
        </p:txBody>
      </p:sp>
      <p:pic>
        <p:nvPicPr>
          <p:cNvPr id="5" name="Image 0" descr="/Users/erikalfriend/Projects/RetCalc/.claude/worktrees/marketing-package/marketing/deck/img/report_p00.png">    </p:cNvPr>
          <p:cNvPicPr>
            <a:picLocks noChangeAspect="1"/>
          </p:cNvPicPr>
          <p:nvPr/>
        </p:nvPicPr>
        <p:blipFill>
          <a:blip r:embed="rId1"/>
          <a:stretch>
            <a:fillRect/>
          </a:stretch>
        </p:blipFill>
        <p:spPr>
          <a:xfrm>
            <a:off x="548640" y="1874520"/>
            <a:ext cx="1709928" cy="2212848"/>
          </a:xfrm>
          <a:prstGeom prst="rect">
            <a:avLst/>
          </a:prstGeom>
        </p:spPr>
      </p:pic>
      <p:pic>
        <p:nvPicPr>
          <p:cNvPr id="6" name="Image 1" descr="/Users/erikalfriend/Projects/RetCalc/.claude/worktrees/marketing-package/marketing/deck/img/report_p01.png">    </p:cNvPr>
          <p:cNvPicPr>
            <a:picLocks noChangeAspect="1"/>
          </p:cNvPicPr>
          <p:nvPr/>
        </p:nvPicPr>
        <p:blipFill>
          <a:blip r:embed="rId2"/>
          <a:stretch>
            <a:fillRect/>
          </a:stretch>
        </p:blipFill>
        <p:spPr>
          <a:xfrm>
            <a:off x="2425537" y="1874520"/>
            <a:ext cx="1709928" cy="2212848"/>
          </a:xfrm>
          <a:prstGeom prst="rect">
            <a:avLst/>
          </a:prstGeom>
        </p:spPr>
      </p:pic>
      <p:pic>
        <p:nvPicPr>
          <p:cNvPr id="7" name="Image 2" descr="/Users/erikalfriend/Projects/RetCalc/.claude/worktrees/marketing-package/marketing/deck/img/report_p02.png">    </p:cNvPr>
          <p:cNvPicPr>
            <a:picLocks noChangeAspect="1"/>
          </p:cNvPicPr>
          <p:nvPr/>
        </p:nvPicPr>
        <p:blipFill>
          <a:blip r:embed="rId3"/>
          <a:stretch>
            <a:fillRect/>
          </a:stretch>
        </p:blipFill>
        <p:spPr>
          <a:xfrm>
            <a:off x="4302435" y="1874520"/>
            <a:ext cx="1709928" cy="2212848"/>
          </a:xfrm>
          <a:prstGeom prst="rect">
            <a:avLst/>
          </a:prstGeom>
        </p:spPr>
      </p:pic>
      <p:pic>
        <p:nvPicPr>
          <p:cNvPr id="8" name="Image 3" descr="/Users/erikalfriend/Projects/RetCalc/.claude/worktrees/marketing-package/marketing/deck/img/report_p03.png">    </p:cNvPr>
          <p:cNvPicPr>
            <a:picLocks noChangeAspect="1"/>
          </p:cNvPicPr>
          <p:nvPr/>
        </p:nvPicPr>
        <p:blipFill>
          <a:blip r:embed="rId4"/>
          <a:stretch>
            <a:fillRect/>
          </a:stretch>
        </p:blipFill>
        <p:spPr>
          <a:xfrm>
            <a:off x="6179332" y="1874520"/>
            <a:ext cx="1709928" cy="2212848"/>
          </a:xfrm>
          <a:prstGeom prst="rect">
            <a:avLst/>
          </a:prstGeom>
        </p:spPr>
      </p:pic>
      <p:pic>
        <p:nvPicPr>
          <p:cNvPr id="9" name="Image 4" descr="/Users/erikalfriend/Projects/RetCalc/.claude/worktrees/marketing-package/marketing/deck/img/report_p04.png">    </p:cNvPr>
          <p:cNvPicPr>
            <a:picLocks noChangeAspect="1"/>
          </p:cNvPicPr>
          <p:nvPr/>
        </p:nvPicPr>
        <p:blipFill>
          <a:blip r:embed="rId5"/>
          <a:stretch>
            <a:fillRect/>
          </a:stretch>
        </p:blipFill>
        <p:spPr>
          <a:xfrm>
            <a:off x="8056230" y="1874520"/>
            <a:ext cx="1709928" cy="2212848"/>
          </a:xfrm>
          <a:prstGeom prst="rect">
            <a:avLst/>
          </a:prstGeom>
        </p:spPr>
      </p:pic>
      <p:pic>
        <p:nvPicPr>
          <p:cNvPr id="10" name="Image 5" descr="/Users/erikalfriend/Projects/RetCalc/.claude/worktrees/marketing-package/marketing/deck/img/report_p05.png">    </p:cNvPr>
          <p:cNvPicPr>
            <a:picLocks noChangeAspect="1"/>
          </p:cNvPicPr>
          <p:nvPr/>
        </p:nvPicPr>
        <p:blipFill>
          <a:blip r:embed="rId6"/>
          <a:stretch>
            <a:fillRect/>
          </a:stretch>
        </p:blipFill>
        <p:spPr>
          <a:xfrm>
            <a:off x="9933127" y="1874520"/>
            <a:ext cx="1709928" cy="2212848"/>
          </a:xfrm>
          <a:prstGeom prst="rect">
            <a:avLst/>
          </a:prstGeom>
        </p:spPr>
      </p:pic>
      <p:pic>
        <p:nvPicPr>
          <p:cNvPr id="11" name="Image 6" descr="/Users/erikalfriend/Projects/RetCalc/.claude/worktrees/marketing-package/marketing/deck/img/report_p06.png">    </p:cNvPr>
          <p:cNvPicPr>
            <a:picLocks noChangeAspect="1"/>
          </p:cNvPicPr>
          <p:nvPr/>
        </p:nvPicPr>
        <p:blipFill>
          <a:blip r:embed="rId7"/>
          <a:stretch>
            <a:fillRect/>
          </a:stretch>
        </p:blipFill>
        <p:spPr>
          <a:xfrm>
            <a:off x="548640" y="4270248"/>
            <a:ext cx="1709928" cy="2212848"/>
          </a:xfrm>
          <a:prstGeom prst="rect">
            <a:avLst/>
          </a:prstGeom>
        </p:spPr>
      </p:pic>
      <p:pic>
        <p:nvPicPr>
          <p:cNvPr id="12" name="Image 7" descr="/Users/erikalfriend/Projects/RetCalc/.claude/worktrees/marketing-package/marketing/deck/img/report_p07.png">    </p:cNvPr>
          <p:cNvPicPr>
            <a:picLocks noChangeAspect="1"/>
          </p:cNvPicPr>
          <p:nvPr/>
        </p:nvPicPr>
        <p:blipFill>
          <a:blip r:embed="rId8"/>
          <a:stretch>
            <a:fillRect/>
          </a:stretch>
        </p:blipFill>
        <p:spPr>
          <a:xfrm>
            <a:off x="2425537" y="4270248"/>
            <a:ext cx="1709928" cy="2212848"/>
          </a:xfrm>
          <a:prstGeom prst="rect">
            <a:avLst/>
          </a:prstGeom>
        </p:spPr>
      </p:pic>
      <p:pic>
        <p:nvPicPr>
          <p:cNvPr id="13" name="Image 8" descr="/Users/erikalfriend/Projects/RetCalc/.claude/worktrees/marketing-package/marketing/deck/img/report_p08.png">    </p:cNvPr>
          <p:cNvPicPr>
            <a:picLocks noChangeAspect="1"/>
          </p:cNvPicPr>
          <p:nvPr/>
        </p:nvPicPr>
        <p:blipFill>
          <a:blip r:embed="rId9"/>
          <a:stretch>
            <a:fillRect/>
          </a:stretch>
        </p:blipFill>
        <p:spPr>
          <a:xfrm>
            <a:off x="4302435" y="4270248"/>
            <a:ext cx="1709928" cy="2212848"/>
          </a:xfrm>
          <a:prstGeom prst="rect">
            <a:avLst/>
          </a:prstGeom>
        </p:spPr>
      </p:pic>
      <p:pic>
        <p:nvPicPr>
          <p:cNvPr id="14" name="Image 9" descr="/Users/erikalfriend/Projects/RetCalc/.claude/worktrees/marketing-package/marketing/deck/img/report_p09.png">    </p:cNvPr>
          <p:cNvPicPr>
            <a:picLocks noChangeAspect="1"/>
          </p:cNvPicPr>
          <p:nvPr/>
        </p:nvPicPr>
        <p:blipFill>
          <a:blip r:embed="rId10"/>
          <a:stretch>
            <a:fillRect/>
          </a:stretch>
        </p:blipFill>
        <p:spPr>
          <a:xfrm>
            <a:off x="6179332" y="4270248"/>
            <a:ext cx="1709928" cy="2212848"/>
          </a:xfrm>
          <a:prstGeom prst="rect">
            <a:avLst/>
          </a:prstGeom>
        </p:spPr>
      </p:pic>
      <p:pic>
        <p:nvPicPr>
          <p:cNvPr id="15" name="Image 10" descr="/Users/erikalfriend/Projects/RetCalc/.claude/worktrees/marketing-package/marketing/deck/img/report_p10.png">    </p:cNvPr>
          <p:cNvPicPr>
            <a:picLocks noChangeAspect="1"/>
          </p:cNvPicPr>
          <p:nvPr/>
        </p:nvPicPr>
        <p:blipFill>
          <a:blip r:embed="rId11"/>
          <a:stretch>
            <a:fillRect/>
          </a:stretch>
        </p:blipFill>
        <p:spPr>
          <a:xfrm>
            <a:off x="8056230" y="4270248"/>
            <a:ext cx="1709928" cy="2212848"/>
          </a:xfrm>
          <a:prstGeom prst="rect">
            <a:avLst/>
          </a:prstGeom>
        </p:spPr>
      </p:pic>
      <p:pic>
        <p:nvPicPr>
          <p:cNvPr id="16" name="Image 11" descr="/Users/erikalfriend/Projects/RetCalc/.claude/worktrees/marketing-package/marketing/deck/img/report_p11.png">    </p:cNvPr>
          <p:cNvPicPr>
            <a:picLocks noChangeAspect="1"/>
          </p:cNvPicPr>
          <p:nvPr/>
        </p:nvPicPr>
        <p:blipFill>
          <a:blip r:embed="rId12"/>
          <a:stretch>
            <a:fillRect/>
          </a:stretch>
        </p:blipFill>
        <p:spPr>
          <a:xfrm>
            <a:off x="9933127" y="4270248"/>
            <a:ext cx="1709928" cy="2212848"/>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PUTTING IT TOGETHER</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The household, step by step</a:t>
            </a:r>
            <a:endParaRPr lang="en-US" sz="3400" dirty="0"/>
          </a:p>
        </p:txBody>
      </p:sp>
      <p:sp>
        <p:nvSpPr>
          <p:cNvPr id="4" name="Text 2"/>
          <p:cNvSpPr txBox="1"/>
          <p:nvPr/>
        </p:nvSpPr>
        <p:spPr>
          <a:xfrm>
            <a:off x="548640" y="1508760"/>
            <a:ext cx="5364328" cy="274320"/>
          </a:xfrm>
          <a:prstGeom prst="rect">
            <a:avLst/>
          </a:prstGeom>
          <a:noFill/>
          <a:ln/>
        </p:spPr>
        <p:txBody>
          <a:bodyPr wrap="square" lIns="0" tIns="0" rIns="0" bIns="0" rtlCol="0" anchor="t"/>
          <a:lstStyle/>
          <a:p>
            <a:pPr indent="0" marL="0">
              <a:buNone/>
            </a:pPr>
            <a:r>
              <a:rPr lang="en-US" sz="1200" b="1" dirty="0">
                <a:solidFill>
                  <a:srgbClr val="E3A93B"/>
                </a:solidFill>
              </a:rPr>
              <a:t>1 · Budget, Paycheck tab</a:t>
            </a:r>
            <a:endParaRPr lang="en-US" sz="1200" dirty="0"/>
          </a:p>
        </p:txBody>
      </p:sp>
      <p:pic>
        <p:nvPicPr>
          <p:cNvPr id="5" name="Image 0" descr="/Users/erikalfriend/Projects/RetCalc/.claude/worktrees/marketing-package/marketing/deck/img/st_pc_1_saved-and-invested-e.png">    </p:cNvPr>
          <p:cNvPicPr>
            <a:picLocks noChangeAspect="1"/>
          </p:cNvPicPr>
          <p:nvPr/>
        </p:nvPicPr>
        <p:blipFill>
          <a:blip r:embed="rId1"/>
          <a:stretch>
            <a:fillRect/>
          </a:stretch>
        </p:blipFill>
        <p:spPr>
          <a:xfrm>
            <a:off x="548640" y="1828800"/>
            <a:ext cx="4260325" cy="2011680"/>
          </a:xfrm>
          <a:prstGeom prst="rect">
            <a:avLst/>
          </a:prstGeom>
          <a:effectLst>
            <a:outerShdw sx="100000" sy="100000" kx="0" ky="0" algn="bl" rotWithShape="0" blurRad="254000" dist="101600" dir="5400000">
              <a:srgbClr val="000000">
                <a:alpha val="50000"/>
              </a:srgbClr>
            </a:outerShdw>
          </a:effectLst>
        </p:spPr>
      </p:pic>
      <p:sp>
        <p:nvSpPr>
          <p:cNvPr id="6" name="Text 3"/>
          <p:cNvSpPr txBox="1"/>
          <p:nvPr/>
        </p:nvSpPr>
        <p:spPr>
          <a:xfrm>
            <a:off x="6278728" y="1508760"/>
            <a:ext cx="5364328" cy="274320"/>
          </a:xfrm>
          <a:prstGeom prst="rect">
            <a:avLst/>
          </a:prstGeom>
          <a:noFill/>
          <a:ln/>
        </p:spPr>
        <p:txBody>
          <a:bodyPr wrap="square" lIns="0" tIns="0" rIns="0" bIns="0" rtlCol="0" anchor="t"/>
          <a:lstStyle/>
          <a:p>
            <a:pPr indent="0" marL="0">
              <a:buNone/>
            </a:pPr>
            <a:r>
              <a:rPr lang="en-US" sz="1200" b="1" dirty="0">
                <a:solidFill>
                  <a:srgbClr val="E3A93B"/>
                </a:solidFill>
              </a:rPr>
              <a:t>2 · Stages, after the kids builder</a:t>
            </a:r>
            <a:endParaRPr lang="en-US" sz="1200" dirty="0"/>
          </a:p>
        </p:txBody>
      </p:sp>
      <p:pic>
        <p:nvPicPr>
          <p:cNvPr id="7" name="Image 1" descr="/Users/erikalfriend/Projects/RetCalc/.claude/worktrees/marketing-package/marketing/deck/img/st_stg_4_balance-over-time-in_0.27_0.8.png">    </p:cNvPr>
          <p:cNvPicPr>
            <a:picLocks noChangeAspect="1"/>
          </p:cNvPicPr>
          <p:nvPr/>
        </p:nvPicPr>
        <p:blipFill>
          <a:blip r:embed="rId2"/>
          <a:stretch>
            <a:fillRect/>
          </a:stretch>
        </p:blipFill>
        <p:spPr>
          <a:xfrm>
            <a:off x="6278728" y="1828800"/>
            <a:ext cx="4849842" cy="2011680"/>
          </a:xfrm>
          <a:prstGeom prst="rect">
            <a:avLst/>
          </a:prstGeom>
          <a:effectLst>
            <a:outerShdw sx="100000" sy="100000" kx="0" ky="0" algn="bl" rotWithShape="0" blurRad="254000" dist="101600" dir="5400000">
              <a:srgbClr val="000000">
                <a:alpha val="50000"/>
              </a:srgbClr>
            </a:outerShdw>
          </a:effectLst>
        </p:spPr>
      </p:pic>
      <p:sp>
        <p:nvSpPr>
          <p:cNvPr id="8" name="Text 4"/>
          <p:cNvSpPr txBox="1"/>
          <p:nvPr/>
        </p:nvSpPr>
        <p:spPr>
          <a:xfrm>
            <a:off x="548640" y="3977640"/>
            <a:ext cx="5364328" cy="274320"/>
          </a:xfrm>
          <a:prstGeom prst="rect">
            <a:avLst/>
          </a:prstGeom>
          <a:noFill/>
          <a:ln/>
        </p:spPr>
        <p:txBody>
          <a:bodyPr wrap="square" lIns="0" tIns="0" rIns="0" bIns="0" rtlCol="0" anchor="t"/>
          <a:lstStyle/>
          <a:p>
            <a:pPr indent="0" marL="0">
              <a:buNone/>
            </a:pPr>
            <a:r>
              <a:rPr lang="en-US" sz="1200" b="1" dirty="0">
                <a:solidFill>
                  <a:srgbClr val="E3A93B"/>
                </a:solidFill>
              </a:rPr>
              <a:t>3 · Social Security, both at 67</a:t>
            </a:r>
            <a:endParaRPr lang="en-US" sz="1200" dirty="0"/>
          </a:p>
        </p:txBody>
      </p:sp>
      <p:pic>
        <p:nvPicPr>
          <p:cNvPr id="9" name="Image 2" descr="/Users/erikalfriend/Projects/RetCalc/.claude/worktrees/marketing-package/marketing/deck/img/st_ss_1_pick-the-age-you-cla_0_0.8.png">    </p:cNvPr>
          <p:cNvPicPr>
            <a:picLocks noChangeAspect="1"/>
          </p:cNvPicPr>
          <p:nvPr/>
        </p:nvPicPr>
        <p:blipFill>
          <a:blip r:embed="rId3"/>
          <a:stretch>
            <a:fillRect/>
          </a:stretch>
        </p:blipFill>
        <p:spPr>
          <a:xfrm>
            <a:off x="548640" y="4297680"/>
            <a:ext cx="5364328" cy="1550954"/>
          </a:xfrm>
          <a:prstGeom prst="rect">
            <a:avLst/>
          </a:prstGeom>
          <a:effectLst>
            <a:outerShdw sx="100000" sy="100000" kx="0" ky="0" algn="bl" rotWithShape="0" blurRad="254000" dist="101600" dir="5400000">
              <a:srgbClr val="000000">
                <a:alpha val="50000"/>
              </a:srgbClr>
            </a:outerShdw>
          </a:effectLst>
        </p:spPr>
      </p:pic>
      <p:sp>
        <p:nvSpPr>
          <p:cNvPr id="10" name="Text 5"/>
          <p:cNvSpPr txBox="1"/>
          <p:nvPr/>
        </p:nvSpPr>
        <p:spPr>
          <a:xfrm>
            <a:off x="6278728" y="3977640"/>
            <a:ext cx="5364328" cy="274320"/>
          </a:xfrm>
          <a:prstGeom prst="rect">
            <a:avLst/>
          </a:prstGeom>
          <a:noFill/>
          <a:ln/>
        </p:spPr>
        <p:txBody>
          <a:bodyPr wrap="square" lIns="0" tIns="0" rIns="0" bIns="0" rtlCol="0" anchor="t"/>
          <a:lstStyle/>
          <a:p>
            <a:pPr indent="0" marL="0">
              <a:buNone/>
            </a:pPr>
            <a:r>
              <a:rPr lang="en-US" sz="1200" b="1" dirty="0">
                <a:solidFill>
                  <a:srgbClr val="E3A93B"/>
                </a:solidFill>
              </a:rPr>
              <a:t>4 · Drawdown, with both benefits</a:t>
            </a:r>
            <a:endParaRPr lang="en-US" sz="1200" dirty="0"/>
          </a:p>
        </p:txBody>
      </p:sp>
      <p:pic>
        <p:nvPicPr>
          <p:cNvPr id="11" name="Image 3" descr="/Users/erikalfriend/Projects/RetCalc/.claude/worktrees/marketing-package/marketing/deck/img/st_dd_1_historicalmonte-carl.png">    </p:cNvPr>
          <p:cNvPicPr>
            <a:picLocks noChangeAspect="1"/>
          </p:cNvPicPr>
          <p:nvPr/>
        </p:nvPicPr>
        <p:blipFill>
          <a:blip r:embed="rId4"/>
          <a:stretch>
            <a:fillRect/>
          </a:stretch>
        </p:blipFill>
        <p:spPr>
          <a:xfrm>
            <a:off x="6278728" y="4297680"/>
            <a:ext cx="5364328" cy="1872753"/>
          </a:xfrm>
          <a:prstGeom prst="rect">
            <a:avLst/>
          </a:prstGeom>
          <a:effectLst>
            <a:outerShdw sx="100000" sy="100000" kx="0" ky="0" algn="bl" rotWithShape="0" blurRad="254000" dist="101600" dir="5400000">
              <a:srgbClr val="000000">
                <a:alpha val="50000"/>
              </a:srgbClr>
            </a:outerShdw>
          </a:effectLst>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The stack</a:t>
            </a:r>
            <a:endParaRPr lang="en-US" sz="3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766560" cy="914400"/>
        </p:xfrm>
        <a:graphic>
          <a:graphicData uri="http://schemas.openxmlformats.org/drawingml/2006/table">
            <a:tbl>
              <a:tblPr/>
              <a:tblGrid>
                <a:gridCol w="1371600"/>
                <a:gridCol w="5394960"/>
              </a:tblGrid>
              <a:tr h="566928">
                <a:tc>
                  <a:txBody>
                    <a:bodyPr/>
                    <a:lstStyle/>
                    <a:p>
                      <a:pPr indent="0" marL="0">
                        <a:buNone/>
                      </a:pPr>
                      <a:r>
                        <a:rPr lang="en-US" sz="1400" b="1" dirty="0">
                          <a:solidFill>
                            <a:srgbClr val="E3A93B"/>
                          </a:solidFill>
                        </a:rPr>
                        <a:t>Framework</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400" dirty="0">
                          <a:solidFill>
                            <a:srgbClr val="E8EBF0"/>
                          </a:solidFill>
                        </a:rPr>
                        <a:t>Next.js 16 (App Router), React 19, TypeScript 5</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566928">
                <a:tc>
                  <a:txBody>
                    <a:bodyPr/>
                    <a:lstStyle/>
                    <a:p>
                      <a:pPr indent="0" marL="0">
                        <a:buNone/>
                      </a:pPr>
                      <a:r>
                        <a:rPr lang="en-US" sz="1400" b="1" dirty="0">
                          <a:solidFill>
                            <a:srgbClr val="E3A93B"/>
                          </a:solidFill>
                        </a:rPr>
                        <a:t>Look</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400" dirty="0">
                          <a:solidFill>
                            <a:srgbClr val="E8EBF0"/>
                          </a:solidFill>
                        </a:rPr>
                        <a:t>Tailwind CSS v4 and shadcn/ui on Base UI, Lucide icons, IBM Plex Sans served by the site</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566928">
                <a:tc>
                  <a:txBody>
                    <a:bodyPr/>
                    <a:lstStyle/>
                    <a:p>
                      <a:pPr indent="0" marL="0">
                        <a:buNone/>
                      </a:pPr>
                      <a:r>
                        <a:rPr lang="en-US" sz="1400" b="1" dirty="0">
                          <a:solidFill>
                            <a:srgbClr val="E3A93B"/>
                          </a:solidFill>
                        </a:rPr>
                        <a:t>Engine</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400" dirty="0">
                          <a:solidFill>
                            <a:srgbClr val="E8EBF0"/>
                          </a:solidFill>
                        </a:rPr>
                        <a:t>Plain JavaScript type-checked through JSDoc, behind typed TypeScript bridges, run in a Web Worker</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566928">
                <a:tc>
                  <a:txBody>
                    <a:bodyPr/>
                    <a:lstStyle/>
                    <a:p>
                      <a:pPr indent="0" marL="0">
                        <a:buNone/>
                      </a:pPr>
                      <a:r>
                        <a:rPr lang="en-US" sz="1400" b="1" dirty="0">
                          <a:solidFill>
                            <a:srgbClr val="E3A93B"/>
                          </a:solidFill>
                        </a:rPr>
                        <a:t>Checks</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400" dirty="0">
                          <a:solidFill>
                            <a:srgbClr val="E8EBF0"/>
                          </a:solidFill>
                        </a:rPr>
                        <a:t>ESLint with zero warnings allowed, tsc, @shadcn/lint, a calculation suite, unit and end-to-end tests</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566928">
                <a:tc>
                  <a:txBody>
                    <a:bodyPr/>
                    <a:lstStyle/>
                    <a:p>
                      <a:pPr indent="0" marL="0">
                        <a:buNone/>
                      </a:pPr>
                      <a:r>
                        <a:rPr lang="en-US" sz="1400" b="1" dirty="0">
                          <a:solidFill>
                            <a:srgbClr val="E3A93B"/>
                          </a:solidFill>
                        </a:rPr>
                        <a:t>Design</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400" dirty="0">
                          <a:solidFill>
                            <a:srgbClr val="E8EBF0"/>
                          </a:solidFill>
                        </a:rPr>
                        <a:t>A written design system: Graphite (dark, the default) and Paper (light), one amber accent, five chart hues</a:t>
                      </a:r>
                      <a:endParaRPr lang="en-US" sz="1400" dirty="0"/>
                    </a:p>
                  </a:txBody>
                  <a:tcPr marL="91440" marR="109728" marT="109728" marB="109728"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bl>
          </a:graphicData>
        </a:graphic>
      </p:graphicFrame>
      <p:sp>
        <p:nvSpPr>
          <p:cNvPr id="5" name="Shape 2"/>
          <p:cNvSpPr/>
          <p:nvPr/>
        </p:nvSpPr>
        <p:spPr>
          <a:xfrm>
            <a:off x="7772400" y="1600200"/>
            <a:ext cx="1828800" cy="1188720"/>
          </a:xfrm>
          <a:prstGeom prst="roundRect">
            <a:avLst>
              <a:gd name="adj" fmla="val 9231"/>
            </a:avLst>
          </a:prstGeom>
          <a:solidFill>
            <a:srgbClr val="1C222B"/>
          </a:solidFill>
          <a:ln/>
        </p:spPr>
      </p:sp>
      <p:sp>
        <p:nvSpPr>
          <p:cNvPr id="6" name="Text 3"/>
          <p:cNvSpPr txBox="1"/>
          <p:nvPr/>
        </p:nvSpPr>
        <p:spPr>
          <a:xfrm>
            <a:off x="7955280" y="1783080"/>
            <a:ext cx="1554480" cy="457200"/>
          </a:xfrm>
          <a:prstGeom prst="rect">
            <a:avLst/>
          </a:prstGeom>
          <a:noFill/>
          <a:ln/>
        </p:spPr>
        <p:txBody>
          <a:bodyPr wrap="square" lIns="0" tIns="0" rIns="0" bIns="0" rtlCol="0" anchor="t"/>
          <a:lstStyle/>
          <a:p>
            <a:pPr indent="0" marL="0">
              <a:buNone/>
            </a:pPr>
            <a:r>
              <a:rPr lang="en-US" sz="2800" b="1" dirty="0">
                <a:solidFill>
                  <a:srgbClr val="E3A93B"/>
                </a:solidFill>
              </a:rPr>
              <a:t>39</a:t>
            </a:r>
            <a:endParaRPr lang="en-US" sz="2800" dirty="0"/>
          </a:p>
        </p:txBody>
      </p:sp>
      <p:sp>
        <p:nvSpPr>
          <p:cNvPr id="7" name="Text 4"/>
          <p:cNvSpPr txBox="1"/>
          <p:nvPr/>
        </p:nvSpPr>
        <p:spPr>
          <a:xfrm>
            <a:off x="7955280" y="2276856"/>
            <a:ext cx="1554480" cy="457200"/>
          </a:xfrm>
          <a:prstGeom prst="rect">
            <a:avLst/>
          </a:prstGeom>
          <a:noFill/>
          <a:ln/>
        </p:spPr>
        <p:txBody>
          <a:bodyPr wrap="square" lIns="0" tIns="0" rIns="0" bIns="0" rtlCol="0" anchor="t"/>
          <a:lstStyle/>
          <a:p>
            <a:pPr indent="0" marL="0">
              <a:buNone/>
            </a:pPr>
            <a:r>
              <a:rPr lang="en-US" sz="1200" dirty="0">
                <a:solidFill>
                  <a:srgbClr val="9AA4B2"/>
                </a:solidFill>
              </a:rPr>
              <a:t>page routes</a:t>
            </a:r>
            <a:endParaRPr lang="en-US" sz="1200" dirty="0"/>
          </a:p>
        </p:txBody>
      </p:sp>
      <p:sp>
        <p:nvSpPr>
          <p:cNvPr id="8" name="Shape 5"/>
          <p:cNvSpPr/>
          <p:nvPr/>
        </p:nvSpPr>
        <p:spPr>
          <a:xfrm>
            <a:off x="9738360" y="1600200"/>
            <a:ext cx="1828800" cy="1188720"/>
          </a:xfrm>
          <a:prstGeom prst="roundRect">
            <a:avLst>
              <a:gd name="adj" fmla="val 9231"/>
            </a:avLst>
          </a:prstGeom>
          <a:solidFill>
            <a:srgbClr val="1C222B"/>
          </a:solidFill>
          <a:ln/>
        </p:spPr>
      </p:sp>
      <p:sp>
        <p:nvSpPr>
          <p:cNvPr id="9" name="Text 6"/>
          <p:cNvSpPr txBox="1"/>
          <p:nvPr/>
        </p:nvSpPr>
        <p:spPr>
          <a:xfrm>
            <a:off x="9921240" y="1783080"/>
            <a:ext cx="1554480" cy="457200"/>
          </a:xfrm>
          <a:prstGeom prst="rect">
            <a:avLst/>
          </a:prstGeom>
          <a:noFill/>
          <a:ln/>
        </p:spPr>
        <p:txBody>
          <a:bodyPr wrap="square" lIns="0" tIns="0" rIns="0" bIns="0" rtlCol="0" anchor="t"/>
          <a:lstStyle/>
          <a:p>
            <a:pPr indent="0" marL="0">
              <a:buNone/>
            </a:pPr>
            <a:r>
              <a:rPr lang="en-US" sz="2800" b="1" dirty="0">
                <a:solidFill>
                  <a:srgbClr val="E8EBF0"/>
                </a:solidFill>
              </a:rPr>
              <a:t>~55,600</a:t>
            </a:r>
            <a:endParaRPr lang="en-US" sz="2800" dirty="0"/>
          </a:p>
        </p:txBody>
      </p:sp>
      <p:sp>
        <p:nvSpPr>
          <p:cNvPr id="10" name="Text 7"/>
          <p:cNvSpPr txBox="1"/>
          <p:nvPr/>
        </p:nvSpPr>
        <p:spPr>
          <a:xfrm>
            <a:off x="9921240" y="2276856"/>
            <a:ext cx="1554480" cy="457200"/>
          </a:xfrm>
          <a:prstGeom prst="rect">
            <a:avLst/>
          </a:prstGeom>
          <a:noFill/>
          <a:ln/>
        </p:spPr>
        <p:txBody>
          <a:bodyPr wrap="square" lIns="0" tIns="0" rIns="0" bIns="0" rtlCol="0" anchor="t"/>
          <a:lstStyle/>
          <a:p>
            <a:pPr indent="0" marL="0">
              <a:buNone/>
            </a:pPr>
            <a:r>
              <a:rPr lang="en-US" sz="1200" dirty="0">
                <a:solidFill>
                  <a:srgbClr val="9AA4B2"/>
                </a:solidFill>
              </a:rPr>
              <a:t>lines of app code</a:t>
            </a:r>
            <a:endParaRPr lang="en-US" sz="1200" dirty="0"/>
          </a:p>
        </p:txBody>
      </p:sp>
      <p:sp>
        <p:nvSpPr>
          <p:cNvPr id="11" name="Shape 8"/>
          <p:cNvSpPr/>
          <p:nvPr/>
        </p:nvSpPr>
        <p:spPr>
          <a:xfrm>
            <a:off x="7772400" y="2926080"/>
            <a:ext cx="1828800" cy="1188720"/>
          </a:xfrm>
          <a:prstGeom prst="roundRect">
            <a:avLst>
              <a:gd name="adj" fmla="val 9231"/>
            </a:avLst>
          </a:prstGeom>
          <a:solidFill>
            <a:srgbClr val="1C222B"/>
          </a:solidFill>
          <a:ln/>
        </p:spPr>
      </p:sp>
      <p:sp>
        <p:nvSpPr>
          <p:cNvPr id="12" name="Text 9"/>
          <p:cNvSpPr txBox="1"/>
          <p:nvPr/>
        </p:nvSpPr>
        <p:spPr>
          <a:xfrm>
            <a:off x="7955280" y="3108960"/>
            <a:ext cx="1554480" cy="457200"/>
          </a:xfrm>
          <a:prstGeom prst="rect">
            <a:avLst/>
          </a:prstGeom>
          <a:noFill/>
          <a:ln/>
        </p:spPr>
        <p:txBody>
          <a:bodyPr wrap="square" lIns="0" tIns="0" rIns="0" bIns="0" rtlCol="0" anchor="t"/>
          <a:lstStyle/>
          <a:p>
            <a:pPr indent="0" marL="0">
              <a:buNone/>
            </a:pPr>
            <a:r>
              <a:rPr lang="en-US" sz="2800" b="1" dirty="0">
                <a:solidFill>
                  <a:srgbClr val="E8EBF0"/>
                </a:solidFill>
              </a:rPr>
              <a:t>~7,400</a:t>
            </a:r>
            <a:endParaRPr lang="en-US" sz="2800" dirty="0"/>
          </a:p>
        </p:txBody>
      </p:sp>
      <p:sp>
        <p:nvSpPr>
          <p:cNvPr id="13" name="Text 10"/>
          <p:cNvSpPr txBox="1"/>
          <p:nvPr/>
        </p:nvSpPr>
        <p:spPr>
          <a:xfrm>
            <a:off x="7955280" y="3602736"/>
            <a:ext cx="1554480" cy="457200"/>
          </a:xfrm>
          <a:prstGeom prst="rect">
            <a:avLst/>
          </a:prstGeom>
          <a:noFill/>
          <a:ln/>
        </p:spPr>
        <p:txBody>
          <a:bodyPr wrap="square" lIns="0" tIns="0" rIns="0" bIns="0" rtlCol="0" anchor="t"/>
          <a:lstStyle/>
          <a:p>
            <a:pPr indent="0" marL="0">
              <a:buNone/>
            </a:pPr>
            <a:r>
              <a:rPr lang="en-US" sz="1200" dirty="0">
                <a:solidFill>
                  <a:srgbClr val="9AA4B2"/>
                </a:solidFill>
              </a:rPr>
              <a:t>lines in the engine and its data</a:t>
            </a:r>
            <a:endParaRPr lang="en-US" sz="1200" dirty="0"/>
          </a:p>
        </p:txBody>
      </p:sp>
      <p:sp>
        <p:nvSpPr>
          <p:cNvPr id="14" name="Shape 11"/>
          <p:cNvSpPr/>
          <p:nvPr/>
        </p:nvSpPr>
        <p:spPr>
          <a:xfrm>
            <a:off x="9738360" y="2926080"/>
            <a:ext cx="1828800" cy="1188720"/>
          </a:xfrm>
          <a:prstGeom prst="roundRect">
            <a:avLst>
              <a:gd name="adj" fmla="val 9231"/>
            </a:avLst>
          </a:prstGeom>
          <a:solidFill>
            <a:srgbClr val="1C222B"/>
          </a:solidFill>
          <a:ln/>
        </p:spPr>
      </p:sp>
      <p:sp>
        <p:nvSpPr>
          <p:cNvPr id="15" name="Text 12"/>
          <p:cNvSpPr txBox="1"/>
          <p:nvPr/>
        </p:nvSpPr>
        <p:spPr>
          <a:xfrm>
            <a:off x="9921240" y="3108960"/>
            <a:ext cx="1554480" cy="457200"/>
          </a:xfrm>
          <a:prstGeom prst="rect">
            <a:avLst/>
          </a:prstGeom>
          <a:noFill/>
          <a:ln/>
        </p:spPr>
        <p:txBody>
          <a:bodyPr wrap="square" lIns="0" tIns="0" rIns="0" bIns="0" rtlCol="0" anchor="t"/>
          <a:lstStyle/>
          <a:p>
            <a:pPr indent="0" marL="0">
              <a:buNone/>
            </a:pPr>
            <a:r>
              <a:rPr lang="en-US" sz="2800" b="1" dirty="0">
                <a:solidFill>
                  <a:srgbClr val="E8EBF0"/>
                </a:solidFill>
              </a:rPr>
              <a:t>29</a:t>
            </a:r>
            <a:endParaRPr lang="en-US" sz="2800" dirty="0"/>
          </a:p>
        </p:txBody>
      </p:sp>
      <p:sp>
        <p:nvSpPr>
          <p:cNvPr id="16" name="Text 13"/>
          <p:cNvSpPr txBox="1"/>
          <p:nvPr/>
        </p:nvSpPr>
        <p:spPr>
          <a:xfrm>
            <a:off x="9921240" y="3602736"/>
            <a:ext cx="1554480" cy="457200"/>
          </a:xfrm>
          <a:prstGeom prst="rect">
            <a:avLst/>
          </a:prstGeom>
          <a:noFill/>
          <a:ln/>
        </p:spPr>
        <p:txBody>
          <a:bodyPr wrap="square" lIns="0" tIns="0" rIns="0" bIns="0" rtlCol="0" anchor="t"/>
          <a:lstStyle/>
          <a:p>
            <a:pPr indent="0" marL="0">
              <a:buNone/>
            </a:pPr>
            <a:r>
              <a:rPr lang="en-US" sz="1200" dirty="0">
                <a:solidFill>
                  <a:srgbClr val="9AA4B2"/>
                </a:solidFill>
              </a:rPr>
              <a:t>explanatory articles</a:t>
            </a:r>
            <a:endParaRPr lang="en-US" sz="1200" dirty="0"/>
          </a:p>
        </p:txBody>
      </p:sp>
      <p:sp>
        <p:nvSpPr>
          <p:cNvPr id="17" name="Text 14"/>
          <p:cNvSpPr txBox="1"/>
          <p:nvPr/>
        </p:nvSpPr>
        <p:spPr>
          <a:xfrm>
            <a:off x="7772400" y="4343400"/>
            <a:ext cx="3840480" cy="274320"/>
          </a:xfrm>
          <a:prstGeom prst="rect">
            <a:avLst/>
          </a:prstGeom>
          <a:noFill/>
          <a:ln/>
        </p:spPr>
        <p:txBody>
          <a:bodyPr wrap="square" lIns="0" tIns="0" rIns="0" bIns="0" rtlCol="0" anchor="t"/>
          <a:lstStyle/>
          <a:p>
            <a:pPr indent="0" marL="0">
              <a:buNone/>
            </a:pPr>
            <a:r>
              <a:rPr lang="en-US" sz="1100" b="1" spc="100" kern="0" dirty="0">
                <a:solidFill>
                  <a:srgbClr val="9AA4B2"/>
                </a:solidFill>
              </a:rPr>
              <a:t>THE PALETTE</a:t>
            </a:r>
            <a:endParaRPr lang="en-US" sz="1100" dirty="0"/>
          </a:p>
        </p:txBody>
      </p:sp>
      <p:sp>
        <p:nvSpPr>
          <p:cNvPr id="18" name="Shape 15"/>
          <p:cNvSpPr/>
          <p:nvPr/>
        </p:nvSpPr>
        <p:spPr>
          <a:xfrm>
            <a:off x="7772400" y="4663440"/>
            <a:ext cx="676656" cy="676656"/>
          </a:xfrm>
          <a:prstGeom prst="roundRect">
            <a:avLst>
              <a:gd name="adj" fmla="val 10811"/>
            </a:avLst>
          </a:prstGeom>
          <a:solidFill>
            <a:srgbClr val="0E1116"/>
          </a:solidFill>
          <a:ln w="12700">
            <a:solidFill>
              <a:srgbClr val="2A313C"/>
            </a:solidFill>
            <a:prstDash val="solid"/>
          </a:ln>
        </p:spPr>
      </p:sp>
      <p:sp>
        <p:nvSpPr>
          <p:cNvPr id="19" name="Text 16"/>
          <p:cNvSpPr txBox="1"/>
          <p:nvPr/>
        </p:nvSpPr>
        <p:spPr>
          <a:xfrm>
            <a:off x="7772400" y="5394960"/>
            <a:ext cx="731520" cy="274320"/>
          </a:xfrm>
          <a:prstGeom prst="rect">
            <a:avLst/>
          </a:prstGeom>
          <a:noFill/>
          <a:ln/>
        </p:spPr>
        <p:txBody>
          <a:bodyPr wrap="square" lIns="0" tIns="0" rIns="0" bIns="0" rtlCol="0" anchor="t"/>
          <a:lstStyle/>
          <a:p>
            <a:pPr indent="0" marL="0">
              <a:buNone/>
            </a:pPr>
            <a:r>
              <a:rPr lang="en-US" sz="1000" dirty="0">
                <a:solidFill>
                  <a:srgbClr val="9AA4B2"/>
                </a:solidFill>
              </a:rPr>
              <a:t>Graphite</a:t>
            </a:r>
            <a:endParaRPr lang="en-US" sz="1000" dirty="0"/>
          </a:p>
        </p:txBody>
      </p:sp>
      <p:sp>
        <p:nvSpPr>
          <p:cNvPr id="20" name="Shape 17"/>
          <p:cNvSpPr/>
          <p:nvPr/>
        </p:nvSpPr>
        <p:spPr>
          <a:xfrm>
            <a:off x="8540496" y="4663440"/>
            <a:ext cx="676656" cy="676656"/>
          </a:xfrm>
          <a:prstGeom prst="roundRect">
            <a:avLst>
              <a:gd name="adj" fmla="val 10811"/>
            </a:avLst>
          </a:prstGeom>
          <a:solidFill>
            <a:srgbClr val="1C222B"/>
          </a:solidFill>
          <a:ln w="12700">
            <a:solidFill>
              <a:srgbClr val="2A313C"/>
            </a:solidFill>
            <a:prstDash val="solid"/>
          </a:ln>
        </p:spPr>
      </p:sp>
      <p:sp>
        <p:nvSpPr>
          <p:cNvPr id="21" name="Text 18"/>
          <p:cNvSpPr txBox="1"/>
          <p:nvPr/>
        </p:nvSpPr>
        <p:spPr>
          <a:xfrm>
            <a:off x="8540496" y="5394960"/>
            <a:ext cx="731520" cy="274320"/>
          </a:xfrm>
          <a:prstGeom prst="rect">
            <a:avLst/>
          </a:prstGeom>
          <a:noFill/>
          <a:ln/>
        </p:spPr>
        <p:txBody>
          <a:bodyPr wrap="square" lIns="0" tIns="0" rIns="0" bIns="0" rtlCol="0" anchor="t"/>
          <a:lstStyle/>
          <a:p>
            <a:pPr indent="0" marL="0">
              <a:buNone/>
            </a:pPr>
            <a:r>
              <a:rPr lang="en-US" sz="1000" dirty="0">
                <a:solidFill>
                  <a:srgbClr val="9AA4B2"/>
                </a:solidFill>
              </a:rPr>
              <a:t>Raised</a:t>
            </a:r>
            <a:endParaRPr lang="en-US" sz="1000" dirty="0"/>
          </a:p>
        </p:txBody>
      </p:sp>
      <p:sp>
        <p:nvSpPr>
          <p:cNvPr id="22" name="Shape 19"/>
          <p:cNvSpPr/>
          <p:nvPr/>
        </p:nvSpPr>
        <p:spPr>
          <a:xfrm>
            <a:off x="9308592" y="4663440"/>
            <a:ext cx="676656" cy="676656"/>
          </a:xfrm>
          <a:prstGeom prst="roundRect">
            <a:avLst>
              <a:gd name="adj" fmla="val 10811"/>
            </a:avLst>
          </a:prstGeom>
          <a:solidFill>
            <a:srgbClr val="E3A93B"/>
          </a:solidFill>
          <a:ln w="12700">
            <a:solidFill>
              <a:srgbClr val="2A313C"/>
            </a:solidFill>
            <a:prstDash val="solid"/>
          </a:ln>
        </p:spPr>
      </p:sp>
      <p:sp>
        <p:nvSpPr>
          <p:cNvPr id="23" name="Text 20"/>
          <p:cNvSpPr txBox="1"/>
          <p:nvPr/>
        </p:nvSpPr>
        <p:spPr>
          <a:xfrm>
            <a:off x="9308592" y="5394960"/>
            <a:ext cx="731520" cy="274320"/>
          </a:xfrm>
          <a:prstGeom prst="rect">
            <a:avLst/>
          </a:prstGeom>
          <a:noFill/>
          <a:ln/>
        </p:spPr>
        <p:txBody>
          <a:bodyPr wrap="square" lIns="0" tIns="0" rIns="0" bIns="0" rtlCol="0" anchor="t"/>
          <a:lstStyle/>
          <a:p>
            <a:pPr indent="0" marL="0">
              <a:buNone/>
            </a:pPr>
            <a:r>
              <a:rPr lang="en-US" sz="1000" dirty="0">
                <a:solidFill>
                  <a:srgbClr val="9AA4B2"/>
                </a:solidFill>
              </a:rPr>
              <a:t>Amber</a:t>
            </a:r>
            <a:endParaRPr lang="en-US" sz="1000" dirty="0"/>
          </a:p>
        </p:txBody>
      </p:sp>
      <p:sp>
        <p:nvSpPr>
          <p:cNvPr id="24" name="Shape 21"/>
          <p:cNvSpPr/>
          <p:nvPr/>
        </p:nvSpPr>
        <p:spPr>
          <a:xfrm>
            <a:off x="10076688" y="4663440"/>
            <a:ext cx="676656" cy="676656"/>
          </a:xfrm>
          <a:prstGeom prst="roundRect">
            <a:avLst>
              <a:gd name="adj" fmla="val 10811"/>
            </a:avLst>
          </a:prstGeom>
          <a:solidFill>
            <a:srgbClr val="FAF9F6"/>
          </a:solidFill>
          <a:ln w="12700">
            <a:solidFill>
              <a:srgbClr val="2A313C"/>
            </a:solidFill>
            <a:prstDash val="solid"/>
          </a:ln>
        </p:spPr>
      </p:sp>
      <p:sp>
        <p:nvSpPr>
          <p:cNvPr id="25" name="Text 22"/>
          <p:cNvSpPr txBox="1"/>
          <p:nvPr/>
        </p:nvSpPr>
        <p:spPr>
          <a:xfrm>
            <a:off x="10076688" y="5394960"/>
            <a:ext cx="731520" cy="274320"/>
          </a:xfrm>
          <a:prstGeom prst="rect">
            <a:avLst/>
          </a:prstGeom>
          <a:noFill/>
          <a:ln/>
        </p:spPr>
        <p:txBody>
          <a:bodyPr wrap="square" lIns="0" tIns="0" rIns="0" bIns="0" rtlCol="0" anchor="t"/>
          <a:lstStyle/>
          <a:p>
            <a:pPr indent="0" marL="0">
              <a:buNone/>
            </a:pPr>
            <a:r>
              <a:rPr lang="en-US" sz="1000" dirty="0">
                <a:solidFill>
                  <a:srgbClr val="9AA4B2"/>
                </a:solidFill>
              </a:rPr>
              <a:t>Paper</a:t>
            </a:r>
            <a:endParaRPr lang="en-US" sz="1000" dirty="0"/>
          </a:p>
        </p:txBody>
      </p:sp>
      <p:sp>
        <p:nvSpPr>
          <p:cNvPr id="26" name="Shape 23"/>
          <p:cNvSpPr/>
          <p:nvPr/>
        </p:nvSpPr>
        <p:spPr>
          <a:xfrm>
            <a:off x="10844784" y="4663440"/>
            <a:ext cx="676656" cy="676656"/>
          </a:xfrm>
          <a:prstGeom prst="roundRect">
            <a:avLst>
              <a:gd name="adj" fmla="val 10811"/>
            </a:avLst>
          </a:prstGeom>
          <a:solidFill>
            <a:srgbClr val="9A6200"/>
          </a:solidFill>
          <a:ln w="12700">
            <a:solidFill>
              <a:srgbClr val="2A313C"/>
            </a:solidFill>
            <a:prstDash val="solid"/>
          </a:ln>
        </p:spPr>
      </p:sp>
      <p:sp>
        <p:nvSpPr>
          <p:cNvPr id="27" name="Text 24"/>
          <p:cNvSpPr txBox="1"/>
          <p:nvPr/>
        </p:nvSpPr>
        <p:spPr>
          <a:xfrm>
            <a:off x="10844784" y="5394960"/>
            <a:ext cx="731520" cy="274320"/>
          </a:xfrm>
          <a:prstGeom prst="rect">
            <a:avLst/>
          </a:prstGeom>
          <a:noFill/>
          <a:ln/>
        </p:spPr>
        <p:txBody>
          <a:bodyPr wrap="square" lIns="0" tIns="0" rIns="0" bIns="0" rtlCol="0" anchor="t"/>
          <a:lstStyle/>
          <a:p>
            <a:pPr indent="0" marL="0">
              <a:buNone/>
            </a:pPr>
            <a:r>
              <a:rPr lang="en-US" sz="1000" dirty="0">
                <a:solidFill>
                  <a:srgbClr val="9AA4B2"/>
                </a:solidFill>
              </a:rPr>
              <a:t>Amber, light</a:t>
            </a:r>
            <a:endParaRPr lang="en-US" sz="1000" dirty="0"/>
          </a:p>
        </p:txBody>
      </p:sp>
      <p:sp>
        <p:nvSpPr>
          <p:cNvPr id="28" name="Shape 25"/>
          <p:cNvSpPr/>
          <p:nvPr/>
        </p:nvSpPr>
        <p:spPr>
          <a:xfrm>
            <a:off x="7772400" y="5806440"/>
            <a:ext cx="457200" cy="201168"/>
          </a:xfrm>
          <a:prstGeom prst="roundRect">
            <a:avLst>
              <a:gd name="adj" fmla="val 22727"/>
            </a:avLst>
          </a:prstGeom>
          <a:solidFill>
            <a:srgbClr val="5AA9E6"/>
          </a:solidFill>
          <a:ln/>
        </p:spPr>
      </p:sp>
      <p:sp>
        <p:nvSpPr>
          <p:cNvPr id="29" name="Shape 26"/>
          <p:cNvSpPr/>
          <p:nvPr/>
        </p:nvSpPr>
        <p:spPr>
          <a:xfrm>
            <a:off x="8321040" y="5806440"/>
            <a:ext cx="457200" cy="201168"/>
          </a:xfrm>
          <a:prstGeom prst="roundRect">
            <a:avLst>
              <a:gd name="adj" fmla="val 22727"/>
            </a:avLst>
          </a:prstGeom>
          <a:solidFill>
            <a:srgbClr val="46B9A6"/>
          </a:solidFill>
          <a:ln/>
        </p:spPr>
      </p:sp>
      <p:sp>
        <p:nvSpPr>
          <p:cNvPr id="30" name="Shape 27"/>
          <p:cNvSpPr/>
          <p:nvPr/>
        </p:nvSpPr>
        <p:spPr>
          <a:xfrm>
            <a:off x="8869680" y="5806440"/>
            <a:ext cx="457200" cy="201168"/>
          </a:xfrm>
          <a:prstGeom prst="roundRect">
            <a:avLst>
              <a:gd name="adj" fmla="val 22727"/>
            </a:avLst>
          </a:prstGeom>
          <a:solidFill>
            <a:srgbClr val="E0749B"/>
          </a:solidFill>
          <a:ln/>
        </p:spPr>
      </p:sp>
      <p:sp>
        <p:nvSpPr>
          <p:cNvPr id="31" name="Shape 28"/>
          <p:cNvSpPr/>
          <p:nvPr/>
        </p:nvSpPr>
        <p:spPr>
          <a:xfrm>
            <a:off x="9418320" y="5806440"/>
            <a:ext cx="457200" cy="201168"/>
          </a:xfrm>
          <a:prstGeom prst="roundRect">
            <a:avLst>
              <a:gd name="adj" fmla="val 22727"/>
            </a:avLst>
          </a:prstGeom>
          <a:solidFill>
            <a:srgbClr val="9670EC"/>
          </a:solidFill>
          <a:ln/>
        </p:spPr>
      </p:sp>
      <p:sp>
        <p:nvSpPr>
          <p:cNvPr id="32" name="Shape 29"/>
          <p:cNvSpPr/>
          <p:nvPr/>
        </p:nvSpPr>
        <p:spPr>
          <a:xfrm>
            <a:off x="9966960" y="5806440"/>
            <a:ext cx="457200" cy="201168"/>
          </a:xfrm>
          <a:prstGeom prst="roundRect">
            <a:avLst>
              <a:gd name="adj" fmla="val 22727"/>
            </a:avLst>
          </a:prstGeom>
          <a:solidFill>
            <a:srgbClr val="8A94A3"/>
          </a:solidFill>
          <a:ln/>
        </p:spPr>
      </p:sp>
      <p:sp>
        <p:nvSpPr>
          <p:cNvPr id="33" name="Shape 30"/>
          <p:cNvSpPr/>
          <p:nvPr/>
        </p:nvSpPr>
        <p:spPr>
          <a:xfrm>
            <a:off x="10515600" y="5806440"/>
            <a:ext cx="457200" cy="201168"/>
          </a:xfrm>
          <a:prstGeom prst="roundRect">
            <a:avLst>
              <a:gd name="adj" fmla="val 22727"/>
            </a:avLst>
          </a:prstGeom>
          <a:solidFill>
            <a:srgbClr val="4CC38A"/>
          </a:solidFill>
          <a:ln/>
        </p:spPr>
      </p:sp>
      <p:sp>
        <p:nvSpPr>
          <p:cNvPr id="34" name="Shape 31"/>
          <p:cNvSpPr/>
          <p:nvPr/>
        </p:nvSpPr>
        <p:spPr>
          <a:xfrm>
            <a:off x="11064240" y="5806440"/>
            <a:ext cx="457200" cy="201168"/>
          </a:xfrm>
          <a:prstGeom prst="roundRect">
            <a:avLst>
              <a:gd name="adj" fmla="val 22727"/>
            </a:avLst>
          </a:prstGeom>
          <a:solidFill>
            <a:srgbClr val="F0716A"/>
          </a:solidFill>
          <a:ln/>
        </p:spPr>
      </p:sp>
      <p:sp>
        <p:nvSpPr>
          <p:cNvPr id="35" name="Text 32"/>
          <p:cNvSpPr txBox="1"/>
          <p:nvPr/>
        </p:nvSpPr>
        <p:spPr>
          <a:xfrm>
            <a:off x="548640" y="5120640"/>
            <a:ext cx="6766560" cy="731520"/>
          </a:xfrm>
          <a:prstGeom prst="rect">
            <a:avLst/>
          </a:prstGeom>
          <a:noFill/>
          <a:ln/>
        </p:spPr>
        <p:txBody>
          <a:bodyPr wrap="square" lIns="0" tIns="0" rIns="0" bIns="0" rtlCol="0" anchor="t"/>
          <a:lstStyle/>
          <a:p>
            <a:pPr indent="0" marL="0">
              <a:buNone/>
            </a:pPr>
            <a:r>
              <a:rPr lang="en-US" sz="1400" dirty="0">
                <a:solidFill>
                  <a:srgbClr val="9AA4B2"/>
                </a:solidFill>
              </a:rPr>
              <a:t>Design rules are enforced by the linter: no raw colors, no one-off sizes, no inline styles.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About 5,700 lines of finance in one engine</a:t>
            </a:r>
            <a:endParaRPr lang="en-US" sz="3400" dirty="0"/>
          </a:p>
        </p:txBody>
      </p:sp>
      <p:graphicFrame>
        <p:nvGraphicFramePr>
          <p:cNvPr id="4" name="Chart 0" descr=""/>
          <p:cNvGraphicFramePr/>
          <p:nvPr/>
        </p:nvGraphicFramePr>
        <p:xfrm>
          <a:off x="457200" y="1508760"/>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754880"/>
            <a:ext cx="5486400" cy="1280160"/>
          </a:xfrm>
          <a:prstGeom prst="rect">
            <a:avLst/>
          </a:prstGeom>
          <a:noFill/>
          <a:ln/>
        </p:spPr>
        <p:txBody>
          <a:bodyPr wrap="square" lIns="0" tIns="0" rIns="0" bIns="0" rtlCol="0" anchor="t"/>
          <a:lstStyle/>
          <a:p>
            <a:pPr indent="0" marL="0">
              <a:buNone/>
            </a:pPr>
            <a:r>
              <a:rPr lang="en-US" sz="1400" dirty="0">
                <a:solidFill>
                  <a:srgbClr val="9AA4B2"/>
                </a:solidFill>
              </a:rPr>
              <a:t>Projections, Monte Carlo, federal and state tax, FICA, Social Security, RMDs, Roth conversions, ACA and Medicare, mortgages, debt, rent against buy, college, FIRE, the 72(t) bridge and historical withdrawal backtests.</a:t>
            </a:r>
            <a:endParaRPr lang="en-US" sz="1400" dirty="0"/>
          </a:p>
        </p:txBody>
      </p:sp>
      <p:sp>
        <p:nvSpPr>
          <p:cNvPr id="6" name="Shape 3"/>
          <p:cNvSpPr/>
          <p:nvPr/>
        </p:nvSpPr>
        <p:spPr>
          <a:xfrm>
            <a:off x="6583680" y="1554480"/>
            <a:ext cx="5059375" cy="1033272"/>
          </a:xfrm>
          <a:prstGeom prst="roundRect">
            <a:avLst>
              <a:gd name="adj" fmla="val 10619"/>
            </a:avLst>
          </a:prstGeom>
          <a:solidFill>
            <a:srgbClr val="1C222B"/>
          </a:solidFill>
          <a:ln/>
        </p:spPr>
      </p:sp>
      <p:sp>
        <p:nvSpPr>
          <p:cNvPr id="7" name="Text 4"/>
          <p:cNvSpPr txBox="1"/>
          <p:nvPr/>
        </p:nvSpPr>
        <p:spPr>
          <a:xfrm>
            <a:off x="6812280" y="1691640"/>
            <a:ext cx="4602175" cy="320040"/>
          </a:xfrm>
          <a:prstGeom prst="rect">
            <a:avLst/>
          </a:prstGeom>
          <a:noFill/>
          <a:ln/>
        </p:spPr>
        <p:txBody>
          <a:bodyPr wrap="square" lIns="0" tIns="0" rIns="0" bIns="0" rtlCol="0" anchor="t"/>
          <a:lstStyle/>
          <a:p>
            <a:pPr indent="0" marL="0">
              <a:buNone/>
            </a:pPr>
            <a:r>
              <a:rPr lang="en-US" sz="1600" b="1" dirty="0">
                <a:solidFill>
                  <a:srgbClr val="E3A93B"/>
                </a:solidFill>
              </a:rPr>
              <a:t>Historical replay</a:t>
            </a:r>
            <a:endParaRPr lang="en-US" sz="1600" dirty="0"/>
          </a:p>
        </p:txBody>
      </p:sp>
      <p:sp>
        <p:nvSpPr>
          <p:cNvPr id="8" name="Text 5"/>
          <p:cNvSpPr txBox="1"/>
          <p:nvPr/>
        </p:nvSpPr>
        <p:spPr>
          <a:xfrm>
            <a:off x="6812280" y="2011680"/>
            <a:ext cx="4602175" cy="548640"/>
          </a:xfrm>
          <a:prstGeom prst="rect">
            <a:avLst/>
          </a:prstGeom>
          <a:noFill/>
          <a:ln/>
        </p:spPr>
        <p:txBody>
          <a:bodyPr wrap="square" lIns="0" tIns="0" rIns="0" bIns="0" rtlCol="0" anchor="t"/>
          <a:lstStyle/>
          <a:p>
            <a:pPr indent="0" marL="0">
              <a:buNone/>
            </a:pPr>
            <a:r>
              <a:rPr lang="en-US" sz="1200" dirty="0">
                <a:solidFill>
                  <a:srgbClr val="9AA4B2"/>
                </a:solidFill>
              </a:rPr>
              <a:t>Every starting month since 1926, run through what actually happened. 835 starts for a 30-year retirement.</a:t>
            </a:r>
            <a:endParaRPr lang="en-US" sz="1200" dirty="0"/>
          </a:p>
        </p:txBody>
      </p:sp>
      <p:sp>
        <p:nvSpPr>
          <p:cNvPr id="9" name="Shape 6"/>
          <p:cNvSpPr/>
          <p:nvPr/>
        </p:nvSpPr>
        <p:spPr>
          <a:xfrm>
            <a:off x="6583680" y="2724912"/>
            <a:ext cx="5059375" cy="1033272"/>
          </a:xfrm>
          <a:prstGeom prst="roundRect">
            <a:avLst>
              <a:gd name="adj" fmla="val 10619"/>
            </a:avLst>
          </a:prstGeom>
          <a:solidFill>
            <a:srgbClr val="1C222B"/>
          </a:solidFill>
          <a:ln/>
        </p:spPr>
      </p:sp>
      <p:sp>
        <p:nvSpPr>
          <p:cNvPr id="10" name="Text 7"/>
          <p:cNvSpPr txBox="1"/>
          <p:nvPr/>
        </p:nvSpPr>
        <p:spPr>
          <a:xfrm>
            <a:off x="6812280" y="2862072"/>
            <a:ext cx="4602175" cy="320040"/>
          </a:xfrm>
          <a:prstGeom prst="rect">
            <a:avLst/>
          </a:prstGeom>
          <a:noFill/>
          <a:ln/>
        </p:spPr>
        <p:txBody>
          <a:bodyPr wrap="square" lIns="0" tIns="0" rIns="0" bIns="0" rtlCol="0" anchor="t"/>
          <a:lstStyle/>
          <a:p>
            <a:pPr indent="0" marL="0">
              <a:buNone/>
            </a:pPr>
            <a:r>
              <a:rPr lang="en-US" sz="1600" b="1" dirty="0">
                <a:solidFill>
                  <a:srgbClr val="E3A93B"/>
                </a:solidFill>
              </a:rPr>
              <a:t>Monte Carlo, calculators</a:t>
            </a:r>
            <a:endParaRPr lang="en-US" sz="1600" dirty="0"/>
          </a:p>
        </p:txBody>
      </p:sp>
      <p:sp>
        <p:nvSpPr>
          <p:cNvPr id="11" name="Text 8"/>
          <p:cNvSpPr txBox="1"/>
          <p:nvPr/>
        </p:nvSpPr>
        <p:spPr>
          <a:xfrm>
            <a:off x="6812280" y="3182112"/>
            <a:ext cx="4602175" cy="548640"/>
          </a:xfrm>
          <a:prstGeom prst="rect">
            <a:avLst/>
          </a:prstGeom>
          <a:noFill/>
          <a:ln/>
        </p:spPr>
        <p:txBody>
          <a:bodyPr wrap="square" lIns="0" tIns="0" rIns="0" bIns="0" rtlCol="0" anchor="t"/>
          <a:lstStyle/>
          <a:p>
            <a:pPr indent="0" marL="0">
              <a:buNone/>
            </a:pPr>
            <a:r>
              <a:rPr lang="en-US" sz="1200" dirty="0">
                <a:solidFill>
                  <a:srgbClr val="9AA4B2"/>
                </a:solidFill>
              </a:rPr>
              <a:t>5,000 lognormal runs per redraw, set so zero volatility draws the plain projection exactly.</a:t>
            </a:r>
            <a:endParaRPr lang="en-US" sz="1200" dirty="0"/>
          </a:p>
        </p:txBody>
      </p:sp>
      <p:sp>
        <p:nvSpPr>
          <p:cNvPr id="12" name="Shape 9"/>
          <p:cNvSpPr/>
          <p:nvPr/>
        </p:nvSpPr>
        <p:spPr>
          <a:xfrm>
            <a:off x="6583680" y="3895344"/>
            <a:ext cx="5059375" cy="1033272"/>
          </a:xfrm>
          <a:prstGeom prst="roundRect">
            <a:avLst>
              <a:gd name="adj" fmla="val 10619"/>
            </a:avLst>
          </a:prstGeom>
          <a:solidFill>
            <a:srgbClr val="1C222B"/>
          </a:solidFill>
          <a:ln/>
        </p:spPr>
      </p:sp>
      <p:sp>
        <p:nvSpPr>
          <p:cNvPr id="13" name="Text 10"/>
          <p:cNvSpPr txBox="1"/>
          <p:nvPr/>
        </p:nvSpPr>
        <p:spPr>
          <a:xfrm>
            <a:off x="6812280" y="4032504"/>
            <a:ext cx="4602175" cy="320040"/>
          </a:xfrm>
          <a:prstGeom prst="rect">
            <a:avLst/>
          </a:prstGeom>
          <a:noFill/>
          <a:ln/>
        </p:spPr>
        <p:txBody>
          <a:bodyPr wrap="square" lIns="0" tIns="0" rIns="0" bIns="0" rtlCol="0" anchor="t"/>
          <a:lstStyle/>
          <a:p>
            <a:pPr indent="0" marL="0">
              <a:buNone/>
            </a:pPr>
            <a:r>
              <a:rPr lang="en-US" sz="1600" b="1" dirty="0">
                <a:solidFill>
                  <a:srgbClr val="E3A93B"/>
                </a:solidFill>
              </a:rPr>
              <a:t>Monte Carlo, drawdown</a:t>
            </a:r>
            <a:endParaRPr lang="en-US" sz="1600" dirty="0"/>
          </a:p>
        </p:txBody>
      </p:sp>
      <p:sp>
        <p:nvSpPr>
          <p:cNvPr id="14" name="Text 11"/>
          <p:cNvSpPr txBox="1"/>
          <p:nvPr/>
        </p:nvSpPr>
        <p:spPr>
          <a:xfrm>
            <a:off x="6812280" y="4352544"/>
            <a:ext cx="4602175" cy="548640"/>
          </a:xfrm>
          <a:prstGeom prst="rect">
            <a:avLst/>
          </a:prstGeom>
          <a:noFill/>
          <a:ln/>
        </p:spPr>
        <p:txBody>
          <a:bodyPr wrap="square" lIns="0" tIns="0" rIns="0" bIns="0" rtlCol="0" anchor="t"/>
          <a:lstStyle/>
          <a:p>
            <a:pPr indent="0" marL="0">
              <a:buNone/>
            </a:pPr>
            <a:r>
              <a:rPr lang="en-US" sz="1200" dirty="0">
                <a:solidFill>
                  <a:srgbClr val="9AA4B2"/>
                </a:solidFill>
              </a:rPr>
              <a:t>A block bootstrap of real history: runs of years drawn together, so the 1930s and 1970s keep their streaks.</a:t>
            </a:r>
            <a:endParaRPr lang="en-US" sz="1200" dirty="0"/>
          </a:p>
        </p:txBody>
      </p:sp>
      <p:sp>
        <p:nvSpPr>
          <p:cNvPr id="15" name="Shape 12"/>
          <p:cNvSpPr/>
          <p:nvPr/>
        </p:nvSpPr>
        <p:spPr>
          <a:xfrm>
            <a:off x="6583680" y="5065776"/>
            <a:ext cx="5059375" cy="1033272"/>
          </a:xfrm>
          <a:prstGeom prst="roundRect">
            <a:avLst>
              <a:gd name="adj" fmla="val 10619"/>
            </a:avLst>
          </a:prstGeom>
          <a:solidFill>
            <a:srgbClr val="1C222B"/>
          </a:solidFill>
          <a:ln/>
        </p:spPr>
      </p:sp>
      <p:sp>
        <p:nvSpPr>
          <p:cNvPr id="16" name="Text 13"/>
          <p:cNvSpPr txBox="1"/>
          <p:nvPr/>
        </p:nvSpPr>
        <p:spPr>
          <a:xfrm>
            <a:off x="6812280" y="5202936"/>
            <a:ext cx="4602175" cy="320040"/>
          </a:xfrm>
          <a:prstGeom prst="rect">
            <a:avLst/>
          </a:prstGeom>
          <a:noFill/>
          <a:ln/>
        </p:spPr>
        <p:txBody>
          <a:bodyPr wrap="square" lIns="0" tIns="0" rIns="0" bIns="0" rtlCol="0" anchor="t"/>
          <a:lstStyle/>
          <a:p>
            <a:pPr indent="0" marL="0">
              <a:buNone/>
            </a:pPr>
            <a:r>
              <a:rPr lang="en-US" sz="1600" b="1" dirty="0">
                <a:solidFill>
                  <a:srgbClr val="E8EBF0"/>
                </a:solidFill>
              </a:rPr>
              <a:t>One seed</a:t>
            </a:r>
            <a:endParaRPr lang="en-US" sz="1600" dirty="0"/>
          </a:p>
        </p:txBody>
      </p:sp>
      <p:sp>
        <p:nvSpPr>
          <p:cNvPr id="17" name="Text 14"/>
          <p:cNvSpPr txBox="1"/>
          <p:nvPr/>
        </p:nvSpPr>
        <p:spPr>
          <a:xfrm>
            <a:off x="6812280" y="5522976"/>
            <a:ext cx="4602175" cy="548640"/>
          </a:xfrm>
          <a:prstGeom prst="rect">
            <a:avLst/>
          </a:prstGeom>
          <a:noFill/>
          <a:ln/>
        </p:spPr>
        <p:txBody>
          <a:bodyPr wrap="square" lIns="0" tIns="0" rIns="0" bIns="0" rtlCol="0" anchor="t"/>
          <a:lstStyle/>
          <a:p>
            <a:pPr indent="0" marL="0">
              <a:buNone/>
            </a:pPr>
            <a:r>
              <a:rPr lang="en-US" sz="1200" dirty="0">
                <a:solidFill>
                  <a:srgbClr val="9AA4B2"/>
                </a:solidFill>
              </a:rPr>
              <a:t>Every simulation shares a seeded generator, so charts hold still; Re-roll moves them all at once.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A test for every claim, before anything ships</a:t>
            </a:r>
            <a:endParaRPr lang="en-US" sz="3400" dirty="0"/>
          </a:p>
        </p:txBody>
      </p:sp>
      <p:sp>
        <p:nvSpPr>
          <p:cNvPr id="4" name="Shape 2"/>
          <p:cNvSpPr/>
          <p:nvPr/>
        </p:nvSpPr>
        <p:spPr>
          <a:xfrm>
            <a:off x="548640" y="1645920"/>
            <a:ext cx="2464994" cy="1600200"/>
          </a:xfrm>
          <a:prstGeom prst="roundRect">
            <a:avLst>
              <a:gd name="adj" fmla="val 8000"/>
            </a:avLst>
          </a:prstGeom>
          <a:solidFill>
            <a:srgbClr val="1C222B"/>
          </a:solidFill>
          <a:ln/>
        </p:spPr>
      </p:sp>
      <p:sp>
        <p:nvSpPr>
          <p:cNvPr id="5" name="Text 3"/>
          <p:cNvSpPr txBox="1"/>
          <p:nvPr/>
        </p:nvSpPr>
        <p:spPr>
          <a:xfrm>
            <a:off x="777240" y="1810512"/>
            <a:ext cx="2007794" cy="365760"/>
          </a:xfrm>
          <a:prstGeom prst="rect">
            <a:avLst/>
          </a:prstGeom>
          <a:noFill/>
          <a:ln/>
        </p:spPr>
        <p:txBody>
          <a:bodyPr wrap="square" lIns="0" tIns="0" rIns="0" bIns="0" rtlCol="0" anchor="t"/>
          <a:lstStyle/>
          <a:p>
            <a:pPr indent="0" marL="0">
              <a:buNone/>
            </a:pPr>
            <a:r>
              <a:rPr lang="en-US" sz="1800" b="1" dirty="0">
                <a:solidFill>
                  <a:srgbClr val="E8EBF0"/>
                </a:solidFill>
              </a:rPr>
              <a:t>A change</a:t>
            </a:r>
            <a:endParaRPr lang="en-US" sz="1800" dirty="0"/>
          </a:p>
        </p:txBody>
      </p:sp>
      <p:sp>
        <p:nvSpPr>
          <p:cNvPr id="6" name="Text 4"/>
          <p:cNvSpPr txBox="1"/>
          <p:nvPr/>
        </p:nvSpPr>
        <p:spPr>
          <a:xfrm>
            <a:off x="777240" y="2240280"/>
            <a:ext cx="2007794" cy="914400"/>
          </a:xfrm>
          <a:prstGeom prst="rect">
            <a:avLst/>
          </a:prstGeom>
          <a:noFill/>
          <a:ln/>
        </p:spPr>
        <p:txBody>
          <a:bodyPr wrap="square" lIns="0" tIns="0" rIns="0" bIns="0" rtlCol="0" anchor="t"/>
          <a:lstStyle/>
          <a:p>
            <a:pPr indent="0" marL="0">
              <a:buNone/>
            </a:pPr>
            <a:r>
              <a:rPr lang="en-US" sz="1300" dirty="0">
                <a:solidFill>
                  <a:srgbClr val="9AA4B2"/>
                </a:solidFill>
              </a:rPr>
              <a:t>to the engine, a tool's defaults, an article or page text</a:t>
            </a:r>
            <a:endParaRPr lang="en-US" sz="1300" dirty="0"/>
          </a:p>
        </p:txBody>
      </p:sp>
      <p:sp>
        <p:nvSpPr>
          <p:cNvPr id="7" name="Shape 5"/>
          <p:cNvSpPr/>
          <p:nvPr/>
        </p:nvSpPr>
        <p:spPr>
          <a:xfrm>
            <a:off x="3077642" y="2286000"/>
            <a:ext cx="283464" cy="320040"/>
          </a:xfrm>
          <a:prstGeom prst="rightArrow">
            <a:avLst/>
          </a:prstGeom>
          <a:solidFill>
            <a:srgbClr val="9AA4B2"/>
          </a:solidFill>
          <a:ln/>
        </p:spPr>
      </p:sp>
      <p:sp>
        <p:nvSpPr>
          <p:cNvPr id="8" name="Shape 6"/>
          <p:cNvSpPr/>
          <p:nvPr/>
        </p:nvSpPr>
        <p:spPr>
          <a:xfrm>
            <a:off x="3425114" y="1645920"/>
            <a:ext cx="2464994" cy="1600200"/>
          </a:xfrm>
          <a:prstGeom prst="roundRect">
            <a:avLst>
              <a:gd name="adj" fmla="val 8000"/>
            </a:avLst>
          </a:prstGeom>
          <a:solidFill>
            <a:srgbClr val="E3A93B"/>
          </a:solidFill>
          <a:ln/>
        </p:spPr>
      </p:sp>
      <p:sp>
        <p:nvSpPr>
          <p:cNvPr id="9" name="Text 7"/>
          <p:cNvSpPr txBox="1"/>
          <p:nvPr/>
        </p:nvSpPr>
        <p:spPr>
          <a:xfrm>
            <a:off x="3653714" y="1810512"/>
            <a:ext cx="2007794" cy="365760"/>
          </a:xfrm>
          <a:prstGeom prst="rect">
            <a:avLst/>
          </a:prstGeom>
          <a:noFill/>
          <a:ln/>
        </p:spPr>
        <p:txBody>
          <a:bodyPr wrap="square" lIns="0" tIns="0" rIns="0" bIns="0" rtlCol="0" anchor="t"/>
          <a:lstStyle/>
          <a:p>
            <a:pPr indent="0" marL="0">
              <a:buNone/>
            </a:pPr>
            <a:r>
              <a:rPr lang="en-US" sz="1800" b="1" dirty="0">
                <a:solidFill>
                  <a:srgbClr val="0E1116"/>
                </a:solidFill>
              </a:rPr>
              <a:t>Pre-commit gate</a:t>
            </a:r>
            <a:endParaRPr lang="en-US" sz="1800" dirty="0"/>
          </a:p>
        </p:txBody>
      </p:sp>
      <p:sp>
        <p:nvSpPr>
          <p:cNvPr id="10" name="Text 8"/>
          <p:cNvSpPr txBox="1"/>
          <p:nvPr/>
        </p:nvSpPr>
        <p:spPr>
          <a:xfrm>
            <a:off x="3653714" y="2240280"/>
            <a:ext cx="2007794" cy="914400"/>
          </a:xfrm>
          <a:prstGeom prst="rect">
            <a:avLst/>
          </a:prstGeom>
          <a:noFill/>
          <a:ln/>
        </p:spPr>
        <p:txBody>
          <a:bodyPr wrap="square" lIns="0" tIns="0" rIns="0" bIns="0" rtlCol="0" anchor="t"/>
          <a:lstStyle/>
          <a:p>
            <a:pPr indent="0" marL="0">
              <a:buNone/>
            </a:pPr>
            <a:r>
              <a:rPr lang="en-US" sz="1300" dirty="0">
                <a:solidFill>
                  <a:srgbClr val="0E1116"/>
                </a:solidFill>
              </a:rPr>
              <a:t>~618 checks in 55 groups. A failure blocks the commit.</a:t>
            </a:r>
            <a:endParaRPr lang="en-US" sz="1300" dirty="0"/>
          </a:p>
        </p:txBody>
      </p:sp>
      <p:sp>
        <p:nvSpPr>
          <p:cNvPr id="11" name="Shape 9"/>
          <p:cNvSpPr/>
          <p:nvPr/>
        </p:nvSpPr>
        <p:spPr>
          <a:xfrm>
            <a:off x="5954116" y="2286000"/>
            <a:ext cx="283464" cy="320040"/>
          </a:xfrm>
          <a:prstGeom prst="rightArrow">
            <a:avLst/>
          </a:prstGeom>
          <a:solidFill>
            <a:srgbClr val="9AA4B2"/>
          </a:solidFill>
          <a:ln/>
        </p:spPr>
      </p:sp>
      <p:sp>
        <p:nvSpPr>
          <p:cNvPr id="12" name="Shape 10"/>
          <p:cNvSpPr/>
          <p:nvPr/>
        </p:nvSpPr>
        <p:spPr>
          <a:xfrm>
            <a:off x="6301588" y="1645920"/>
            <a:ext cx="2464994" cy="1600200"/>
          </a:xfrm>
          <a:prstGeom prst="roundRect">
            <a:avLst>
              <a:gd name="adj" fmla="val 8000"/>
            </a:avLst>
          </a:prstGeom>
          <a:solidFill>
            <a:srgbClr val="1C222B"/>
          </a:solidFill>
          <a:ln/>
        </p:spPr>
      </p:sp>
      <p:sp>
        <p:nvSpPr>
          <p:cNvPr id="13" name="Text 11"/>
          <p:cNvSpPr txBox="1"/>
          <p:nvPr/>
        </p:nvSpPr>
        <p:spPr>
          <a:xfrm>
            <a:off x="6530188" y="1810512"/>
            <a:ext cx="2007794" cy="365760"/>
          </a:xfrm>
          <a:prstGeom prst="rect">
            <a:avLst/>
          </a:prstGeom>
          <a:noFill/>
          <a:ln/>
        </p:spPr>
        <p:txBody>
          <a:bodyPr wrap="square" lIns="0" tIns="0" rIns="0" bIns="0" rtlCol="0" anchor="t"/>
          <a:lstStyle/>
          <a:p>
            <a:pPr indent="0" marL="0">
              <a:buNone/>
            </a:pPr>
            <a:r>
              <a:rPr lang="en-US" sz="1800" b="1" dirty="0">
                <a:solidFill>
                  <a:srgbClr val="E8EBF0"/>
                </a:solidFill>
              </a:rPr>
              <a:t>On every push</a:t>
            </a:r>
            <a:endParaRPr lang="en-US" sz="1800" dirty="0"/>
          </a:p>
        </p:txBody>
      </p:sp>
      <p:sp>
        <p:nvSpPr>
          <p:cNvPr id="14" name="Text 12"/>
          <p:cNvSpPr txBox="1"/>
          <p:nvPr/>
        </p:nvSpPr>
        <p:spPr>
          <a:xfrm>
            <a:off x="6530188" y="2240280"/>
            <a:ext cx="2007794" cy="914400"/>
          </a:xfrm>
          <a:prstGeom prst="rect">
            <a:avLst/>
          </a:prstGeom>
          <a:noFill/>
          <a:ln/>
        </p:spPr>
        <p:txBody>
          <a:bodyPr wrap="square" lIns="0" tIns="0" rIns="0" bIns="0" rtlCol="0" anchor="t"/>
          <a:lstStyle/>
          <a:p>
            <a:pPr indent="0" marL="0">
              <a:buNone/>
            </a:pPr>
            <a:r>
              <a:rPr lang="en-US" sz="1300" dirty="0">
                <a:solidFill>
                  <a:srgbClr val="9AA4B2"/>
                </a:solidFill>
              </a:rPr>
              <a:t>the suite again, numbers baselines, lint, typecheck, build, unit and end-to-end tests</a:t>
            </a:r>
            <a:endParaRPr lang="en-US" sz="1300" dirty="0"/>
          </a:p>
        </p:txBody>
      </p:sp>
      <p:sp>
        <p:nvSpPr>
          <p:cNvPr id="15" name="Shape 13"/>
          <p:cNvSpPr/>
          <p:nvPr/>
        </p:nvSpPr>
        <p:spPr>
          <a:xfrm>
            <a:off x="8830589" y="2286000"/>
            <a:ext cx="283464" cy="320040"/>
          </a:xfrm>
          <a:prstGeom prst="rightArrow">
            <a:avLst/>
          </a:prstGeom>
          <a:solidFill>
            <a:srgbClr val="9AA4B2"/>
          </a:solidFill>
          <a:ln/>
        </p:spPr>
      </p:sp>
      <p:sp>
        <p:nvSpPr>
          <p:cNvPr id="16" name="Shape 14"/>
          <p:cNvSpPr/>
          <p:nvPr/>
        </p:nvSpPr>
        <p:spPr>
          <a:xfrm>
            <a:off x="9178061" y="1645920"/>
            <a:ext cx="2464994" cy="1600200"/>
          </a:xfrm>
          <a:prstGeom prst="roundRect">
            <a:avLst>
              <a:gd name="adj" fmla="val 8000"/>
            </a:avLst>
          </a:prstGeom>
          <a:solidFill>
            <a:srgbClr val="1C222B"/>
          </a:solidFill>
          <a:ln/>
        </p:spPr>
      </p:sp>
      <p:sp>
        <p:nvSpPr>
          <p:cNvPr id="17" name="Text 15"/>
          <p:cNvSpPr txBox="1"/>
          <p:nvPr/>
        </p:nvSpPr>
        <p:spPr>
          <a:xfrm>
            <a:off x="9406661" y="1810512"/>
            <a:ext cx="2007794" cy="365760"/>
          </a:xfrm>
          <a:prstGeom prst="rect">
            <a:avLst/>
          </a:prstGeom>
          <a:noFill/>
          <a:ln/>
        </p:spPr>
        <p:txBody>
          <a:bodyPr wrap="square" lIns="0" tIns="0" rIns="0" bIns="0" rtlCol="0" anchor="t"/>
          <a:lstStyle/>
          <a:p>
            <a:pPr indent="0" marL="0">
              <a:buNone/>
            </a:pPr>
            <a:r>
              <a:rPr lang="en-US" sz="1800" b="1" dirty="0">
                <a:solidFill>
                  <a:srgbClr val="E8EBF0"/>
                </a:solidFill>
              </a:rPr>
              <a:t>Live</a:t>
            </a:r>
            <a:endParaRPr lang="en-US" sz="1800" dirty="0"/>
          </a:p>
        </p:txBody>
      </p:sp>
      <p:sp>
        <p:nvSpPr>
          <p:cNvPr id="18" name="Text 16"/>
          <p:cNvSpPr txBox="1"/>
          <p:nvPr/>
        </p:nvSpPr>
        <p:spPr>
          <a:xfrm>
            <a:off x="9406661" y="2240280"/>
            <a:ext cx="2007794" cy="914400"/>
          </a:xfrm>
          <a:prstGeom prst="rect">
            <a:avLst/>
          </a:prstGeom>
          <a:noFill/>
          <a:ln/>
        </p:spPr>
        <p:txBody>
          <a:bodyPr wrap="square" lIns="0" tIns="0" rIns="0" bIns="0" rtlCol="0" anchor="t"/>
          <a:lstStyle/>
          <a:p>
            <a:pPr indent="0" marL="0">
              <a:buNone/>
            </a:pPr>
            <a:r>
              <a:rPr lang="en-US" sz="1300" dirty="0">
                <a:solidFill>
                  <a:srgbClr val="9AA4B2"/>
                </a:solidFill>
              </a:rPr>
              <a:t>main deploys to Vercel; every branch gets a preview first</a:t>
            </a:r>
            <a:endParaRPr lang="en-US" sz="1300" dirty="0"/>
          </a:p>
        </p:txBody>
      </p:sp>
      <p:sp>
        <p:nvSpPr>
          <p:cNvPr id="19" name="Text 17"/>
          <p:cNvSpPr txBox="1"/>
          <p:nvPr/>
        </p:nvSpPr>
        <p:spPr>
          <a:xfrm>
            <a:off x="548640" y="3931920"/>
            <a:ext cx="1944563" cy="731520"/>
          </a:xfrm>
          <a:prstGeom prst="rect">
            <a:avLst/>
          </a:prstGeom>
          <a:noFill/>
          <a:ln/>
        </p:spPr>
        <p:txBody>
          <a:bodyPr wrap="square" lIns="0" tIns="0" rIns="0" bIns="0" rtlCol="0" anchor="t"/>
          <a:lstStyle/>
          <a:p>
            <a:pPr indent="0" marL="0">
              <a:buNone/>
            </a:pPr>
            <a:r>
              <a:rPr lang="en-US" sz="4400" b="1" dirty="0">
                <a:solidFill>
                  <a:srgbClr val="E3A93B"/>
                </a:solidFill>
              </a:rPr>
              <a:t>~618</a:t>
            </a:r>
            <a:endParaRPr lang="en-US" sz="4400" dirty="0"/>
          </a:p>
        </p:txBody>
      </p:sp>
      <p:sp>
        <p:nvSpPr>
          <p:cNvPr id="20" name="Text 18"/>
          <p:cNvSpPr txBox="1"/>
          <p:nvPr/>
        </p:nvSpPr>
        <p:spPr>
          <a:xfrm>
            <a:off x="548640" y="4700016"/>
            <a:ext cx="1944563" cy="731520"/>
          </a:xfrm>
          <a:prstGeom prst="rect">
            <a:avLst/>
          </a:prstGeom>
          <a:noFill/>
          <a:ln/>
        </p:spPr>
        <p:txBody>
          <a:bodyPr wrap="square" lIns="0" tIns="0" rIns="0" bIns="0" rtlCol="0" anchor="t"/>
          <a:lstStyle/>
          <a:p>
            <a:pPr indent="0" marL="0">
              <a:buNone/>
            </a:pPr>
            <a:r>
              <a:rPr lang="en-US" sz="1300" dirty="0">
                <a:solidFill>
                  <a:srgbClr val="9AA4B2"/>
                </a:solidFill>
              </a:rPr>
              <a:t>checks in the calculation suite</a:t>
            </a:r>
            <a:endParaRPr lang="en-US" sz="1300" dirty="0"/>
          </a:p>
        </p:txBody>
      </p:sp>
      <p:sp>
        <p:nvSpPr>
          <p:cNvPr id="21" name="Text 19"/>
          <p:cNvSpPr txBox="1"/>
          <p:nvPr/>
        </p:nvSpPr>
        <p:spPr>
          <a:xfrm>
            <a:off x="2767523" y="3931920"/>
            <a:ext cx="1944563" cy="731520"/>
          </a:xfrm>
          <a:prstGeom prst="rect">
            <a:avLst/>
          </a:prstGeom>
          <a:noFill/>
          <a:ln/>
        </p:spPr>
        <p:txBody>
          <a:bodyPr wrap="square" lIns="0" tIns="0" rIns="0" bIns="0" rtlCol="0" anchor="t"/>
          <a:lstStyle/>
          <a:p>
            <a:pPr indent="0" marL="0">
              <a:buNone/>
            </a:pPr>
            <a:r>
              <a:rPr lang="en-US" sz="4400" b="1" dirty="0">
                <a:solidFill>
                  <a:srgbClr val="E8EBF0"/>
                </a:solidFill>
              </a:rPr>
              <a:t>209</a:t>
            </a:r>
            <a:endParaRPr lang="en-US" sz="4400" dirty="0"/>
          </a:p>
        </p:txBody>
      </p:sp>
      <p:sp>
        <p:nvSpPr>
          <p:cNvPr id="22" name="Text 20"/>
          <p:cNvSpPr txBox="1"/>
          <p:nvPr/>
        </p:nvSpPr>
        <p:spPr>
          <a:xfrm>
            <a:off x="2767523" y="4700016"/>
            <a:ext cx="1944563" cy="731520"/>
          </a:xfrm>
          <a:prstGeom prst="rect">
            <a:avLst/>
          </a:prstGeom>
          <a:noFill/>
          <a:ln/>
        </p:spPr>
        <p:txBody>
          <a:bodyPr wrap="square" lIns="0" tIns="0" rIns="0" bIns="0" rtlCol="0" anchor="t"/>
          <a:lstStyle/>
          <a:p>
            <a:pPr indent="0" marL="0">
              <a:buNone/>
            </a:pPr>
            <a:r>
              <a:rPr lang="en-US" sz="1300" dirty="0">
                <a:solidFill>
                  <a:srgbClr val="9AA4B2"/>
                </a:solidFill>
              </a:rPr>
              <a:t>tie the 29 articles' worked examples to the engine</a:t>
            </a:r>
            <a:endParaRPr lang="en-US" sz="1300" dirty="0"/>
          </a:p>
        </p:txBody>
      </p:sp>
      <p:sp>
        <p:nvSpPr>
          <p:cNvPr id="23" name="Text 21"/>
          <p:cNvSpPr txBox="1"/>
          <p:nvPr/>
        </p:nvSpPr>
        <p:spPr>
          <a:xfrm>
            <a:off x="4986406" y="3931920"/>
            <a:ext cx="1944563" cy="731520"/>
          </a:xfrm>
          <a:prstGeom prst="rect">
            <a:avLst/>
          </a:prstGeom>
          <a:noFill/>
          <a:ln/>
        </p:spPr>
        <p:txBody>
          <a:bodyPr wrap="square" lIns="0" tIns="0" rIns="0" bIns="0" rtlCol="0" anchor="t"/>
          <a:lstStyle/>
          <a:p>
            <a:pPr indent="0" marL="0">
              <a:buNone/>
            </a:pPr>
            <a:r>
              <a:rPr lang="en-US" sz="4400" b="1" dirty="0">
                <a:solidFill>
                  <a:srgbClr val="E8EBF0"/>
                </a:solidFill>
              </a:rPr>
              <a:t>7</a:t>
            </a:r>
            <a:endParaRPr lang="en-US" sz="4400" dirty="0"/>
          </a:p>
        </p:txBody>
      </p:sp>
      <p:sp>
        <p:nvSpPr>
          <p:cNvPr id="24" name="Text 22"/>
          <p:cNvSpPr txBox="1"/>
          <p:nvPr/>
        </p:nvSpPr>
        <p:spPr>
          <a:xfrm>
            <a:off x="4986406" y="4700016"/>
            <a:ext cx="1944563" cy="731520"/>
          </a:xfrm>
          <a:prstGeom prst="rect">
            <a:avLst/>
          </a:prstGeom>
          <a:noFill/>
          <a:ln/>
        </p:spPr>
        <p:txBody>
          <a:bodyPr wrap="square" lIns="0" tIns="0" rIns="0" bIns="0" rtlCol="0" anchor="t"/>
          <a:lstStyle/>
          <a:p>
            <a:pPr indent="0" marL="0">
              <a:buNone/>
            </a:pPr>
            <a:r>
              <a:rPr lang="en-US" sz="1300" dirty="0">
                <a:solidFill>
                  <a:srgbClr val="9AA4B2"/>
                </a:solidFill>
              </a:rPr>
              <a:t>sample households with pinned Guide results</a:t>
            </a:r>
            <a:endParaRPr lang="en-US" sz="1300" dirty="0"/>
          </a:p>
        </p:txBody>
      </p:sp>
      <p:sp>
        <p:nvSpPr>
          <p:cNvPr id="25" name="Text 23"/>
          <p:cNvSpPr txBox="1"/>
          <p:nvPr/>
        </p:nvSpPr>
        <p:spPr>
          <a:xfrm>
            <a:off x="7205289" y="3931920"/>
            <a:ext cx="1944563" cy="731520"/>
          </a:xfrm>
          <a:prstGeom prst="rect">
            <a:avLst/>
          </a:prstGeom>
          <a:noFill/>
          <a:ln/>
        </p:spPr>
        <p:txBody>
          <a:bodyPr wrap="square" lIns="0" tIns="0" rIns="0" bIns="0" rtlCol="0" anchor="t"/>
          <a:lstStyle/>
          <a:p>
            <a:pPr indent="0" marL="0">
              <a:buNone/>
            </a:pPr>
            <a:r>
              <a:rPr lang="en-US" sz="4400" b="1" dirty="0">
                <a:solidFill>
                  <a:srgbClr val="E8EBF0"/>
                </a:solidFill>
              </a:rPr>
              <a:t>17</a:t>
            </a:r>
            <a:endParaRPr lang="en-US" sz="4400" dirty="0"/>
          </a:p>
        </p:txBody>
      </p:sp>
      <p:sp>
        <p:nvSpPr>
          <p:cNvPr id="26" name="Text 24"/>
          <p:cNvSpPr txBox="1"/>
          <p:nvPr/>
        </p:nvSpPr>
        <p:spPr>
          <a:xfrm>
            <a:off x="7205289" y="4700016"/>
            <a:ext cx="1944563" cy="731520"/>
          </a:xfrm>
          <a:prstGeom prst="rect">
            <a:avLst/>
          </a:prstGeom>
          <a:noFill/>
          <a:ln/>
        </p:spPr>
        <p:txBody>
          <a:bodyPr wrap="square" lIns="0" tIns="0" rIns="0" bIns="0" rtlCol="0" anchor="t"/>
          <a:lstStyle/>
          <a:p>
            <a:pPr indent="0" marL="0">
              <a:buNone/>
            </a:pPr>
            <a:r>
              <a:rPr lang="en-US" sz="1300" dirty="0">
                <a:solidFill>
                  <a:srgbClr val="9AA4B2"/>
                </a:solidFill>
              </a:rPr>
              <a:t>end-to-end browser specs</a:t>
            </a:r>
            <a:endParaRPr lang="en-US" sz="1300" dirty="0"/>
          </a:p>
        </p:txBody>
      </p:sp>
      <p:sp>
        <p:nvSpPr>
          <p:cNvPr id="27" name="Text 25"/>
          <p:cNvSpPr txBox="1"/>
          <p:nvPr/>
        </p:nvSpPr>
        <p:spPr>
          <a:xfrm>
            <a:off x="9424172" y="3931920"/>
            <a:ext cx="1944563" cy="731520"/>
          </a:xfrm>
          <a:prstGeom prst="rect">
            <a:avLst/>
          </a:prstGeom>
          <a:noFill/>
          <a:ln/>
        </p:spPr>
        <p:txBody>
          <a:bodyPr wrap="square" lIns="0" tIns="0" rIns="0" bIns="0" rtlCol="0" anchor="t"/>
          <a:lstStyle/>
          <a:p>
            <a:pPr indent="0" marL="0">
              <a:buNone/>
            </a:pPr>
            <a:r>
              <a:rPr lang="en-US" sz="4400" b="1" dirty="0">
                <a:solidFill>
                  <a:srgbClr val="E8EBF0"/>
                </a:solidFill>
              </a:rPr>
              <a:t>1,200</a:t>
            </a:r>
            <a:endParaRPr lang="en-US" sz="4400" dirty="0"/>
          </a:p>
        </p:txBody>
      </p:sp>
      <p:sp>
        <p:nvSpPr>
          <p:cNvPr id="28" name="Text 26"/>
          <p:cNvSpPr txBox="1"/>
          <p:nvPr/>
        </p:nvSpPr>
        <p:spPr>
          <a:xfrm>
            <a:off x="9424172" y="4700016"/>
            <a:ext cx="1944563" cy="731520"/>
          </a:xfrm>
          <a:prstGeom prst="rect">
            <a:avLst/>
          </a:prstGeom>
          <a:noFill/>
          <a:ln/>
        </p:spPr>
        <p:txBody>
          <a:bodyPr wrap="square" lIns="0" tIns="0" rIns="0" bIns="0" rtlCol="0" anchor="t"/>
          <a:lstStyle/>
          <a:p>
            <a:pPr indent="0" marL="0">
              <a:buNone/>
            </a:pPr>
            <a:r>
              <a:rPr lang="en-US" sz="1300" dirty="0">
                <a:solidFill>
                  <a:srgbClr val="9AA4B2"/>
                </a:solidFill>
              </a:rPr>
              <a:t>months of market history every engine walks</a:t>
            </a:r>
            <a:endParaRPr lang="en-US" sz="1300" dirty="0"/>
          </a:p>
        </p:txBody>
      </p:sp>
      <p:sp>
        <p:nvSpPr>
          <p:cNvPr id="29" name="Text 27"/>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400" dirty="0">
                <a:solidFill>
                  <a:srgbClr val="9AA4B2"/>
                </a:solidFill>
              </a:rPr>
              <a:t>Worked examples in the articles are checked against the calculator, so the numbers in the writing always match the numbers in the tools.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Fast because there is almost nothing to serve</a:t>
            </a:r>
            <a:endParaRPr lang="en-US" sz="3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852160" cy="914400"/>
        </p:xfrm>
        <a:graphic>
          <a:graphicData uri="http://schemas.openxmlformats.org/drawingml/2006/table">
            <a:tbl>
              <a:tblPr/>
              <a:tblGrid>
                <a:gridCol w="1234440"/>
                <a:gridCol w="4617720"/>
              </a:tblGrid>
              <a:tr h="0">
                <a:tc>
                  <a:txBody>
                    <a:bodyPr/>
                    <a:lstStyle/>
                    <a:p>
                      <a:pPr indent="0" marL="0">
                        <a:buNone/>
                      </a:pPr>
                      <a:r>
                        <a:rPr lang="en-US" sz="1300" b="1" dirty="0">
                          <a:solidFill>
                            <a:srgbClr val="E3A93B"/>
                          </a:solidFill>
                        </a:rPr>
                        <a:t>Hosting</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300" dirty="0">
                          <a:solidFill>
                            <a:srgbClr val="E8EBF0"/>
                          </a:solidFill>
                        </a:rPr>
                        <a:t>Vercel, building from main, with a preview for every branch</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0">
                <a:tc>
                  <a:txBody>
                    <a:bodyPr/>
                    <a:lstStyle/>
                    <a:p>
                      <a:pPr indent="0" marL="0">
                        <a:buNone/>
                      </a:pPr>
                      <a:r>
                        <a:rPr lang="en-US" sz="1300" b="1" dirty="0">
                          <a:solidFill>
                            <a:srgbClr val="E3A93B"/>
                          </a:solidFill>
                        </a:rPr>
                        <a:t>Rendering</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300" dirty="0">
                          <a:solidFill>
                            <a:srgbClr val="E8EBF0"/>
                          </a:solidFill>
                        </a:rPr>
                        <a:t>Prerendered pages. No API routes: the one thing the site's own server receives is error reports, stripped of inputs</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0">
                <a:tc>
                  <a:txBody>
                    <a:bodyPr/>
                    <a:lstStyle/>
                    <a:p>
                      <a:pPr indent="0" marL="0">
                        <a:buNone/>
                      </a:pPr>
                      <a:r>
                        <a:rPr lang="en-US" sz="1300" b="1" dirty="0">
                          <a:solidFill>
                            <a:srgbClr val="E3A93B"/>
                          </a:solidFill>
                        </a:rPr>
                        <a:t>Domain</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300" dirty="0">
                          <a:solidFill>
                            <a:srgbClr val="E8EBF0"/>
                          </a:solidFill>
                        </a:rPr>
                        <a:t>retcalc.app, DNS on Cloudflare</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0">
                <a:tc>
                  <a:txBody>
                    <a:bodyPr/>
                    <a:lstStyle/>
                    <a:p>
                      <a:pPr indent="0" marL="0">
                        <a:buNone/>
                      </a:pPr>
                      <a:r>
                        <a:rPr lang="en-US" sz="1300" b="1" dirty="0">
                          <a:solidFill>
                            <a:srgbClr val="E3A93B"/>
                          </a:solidFill>
                        </a:rPr>
                        <a:t>Analytics</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300" dirty="0">
                          <a:solidFill>
                            <a:srgbClr val="E8EBF0"/>
                          </a:solidFill>
                        </a:rPr>
                        <a:t>Cloudflare and Vercel Web Analytics: cookieless, production only, no ads</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r h="0">
                <a:tc>
                  <a:txBody>
                    <a:bodyPr/>
                    <a:lstStyle/>
                    <a:p>
                      <a:pPr indent="0" marL="0">
                        <a:buNone/>
                      </a:pPr>
                      <a:r>
                        <a:rPr lang="en-US" sz="1300" b="1" dirty="0">
                          <a:solidFill>
                            <a:srgbClr val="E3A93B"/>
                          </a:solidFill>
                        </a:rPr>
                        <a:t>Email</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c>
                  <a:txBody>
                    <a:bodyPr/>
                    <a:lstStyle/>
                    <a:p>
                      <a:pPr indent="0" marL="0">
                        <a:buNone/>
                      </a:pPr>
                      <a:r>
                        <a:rPr lang="en-US" sz="1300" dirty="0">
                          <a:solidFill>
                            <a:srgbClr val="E8EBF0"/>
                          </a:solidFill>
                        </a:rPr>
                        <a:t>Sign-in codes through Resend, from the site's own domain</a:t>
                      </a:r>
                      <a:endParaRPr lang="en-US" sz="1300" dirty="0"/>
                    </a:p>
                  </a:txBody>
                  <a:tcPr marL="91440" marR="109728" marT="91440" marB="91440" anchor="ctr">
                    <a:lnL w="9525" cap="flat" cmpd="sng" algn="ctr">
                      <a:solidFill>
                        <a:srgbClr val="2A313C"/>
                      </a:solidFill>
                      <a:prstDash val="solid"/>
                      <a:round/>
                      <a:headEnd type="none" w="med" len="med"/>
                      <a:tailEnd type="none" w="med" len="med"/>
                    </a:lnL>
                    <a:lnR w="9525" cap="flat" cmpd="sng" algn="ctr">
                      <a:solidFill>
                        <a:srgbClr val="2A313C"/>
                      </a:solidFill>
                      <a:prstDash val="solid"/>
                      <a:round/>
                      <a:headEnd type="none" w="med" len="med"/>
                      <a:tailEnd type="none" w="med" len="med"/>
                    </a:lnR>
                    <a:lnT w="9525" cap="flat" cmpd="sng" algn="ctr">
                      <a:solidFill>
                        <a:srgbClr val="2A313C"/>
                      </a:solidFill>
                      <a:prstDash val="solid"/>
                      <a:round/>
                      <a:headEnd type="none" w="med" len="med"/>
                      <a:tailEnd type="none" w="med" len="med"/>
                    </a:lnT>
                    <a:lnB w="9525" cap="flat" cmpd="sng" algn="ctr">
                      <a:solidFill>
                        <a:srgbClr val="2A313C"/>
                      </a:solidFill>
                      <a:prstDash val="solid"/>
                      <a:round/>
                      <a:headEnd type="none" w="med" len="med"/>
                      <a:tailEnd type="none" w="med" len="med"/>
                    </a:lnB>
                    <a:solidFill>
                      <a:srgbClr val="0E1116"/>
                    </a:solidFill>
                  </a:tcPr>
                </a:tc>
              </a:tr>
            </a:tbl>
          </a:graphicData>
        </a:graphic>
      </p:graphicFrame>
      <p:sp>
        <p:nvSpPr>
          <p:cNvPr id="5" name="Text 2"/>
          <p:cNvSpPr txBox="1"/>
          <p:nvPr/>
        </p:nvSpPr>
        <p:spPr>
          <a:xfrm>
            <a:off x="6720840" y="1554480"/>
            <a:ext cx="4937760" cy="274320"/>
          </a:xfrm>
          <a:prstGeom prst="rect">
            <a:avLst/>
          </a:prstGeom>
          <a:noFill/>
          <a:ln/>
        </p:spPr>
        <p:txBody>
          <a:bodyPr wrap="square" lIns="0" tIns="0" rIns="0" bIns="0" rtlCol="0" anchor="t"/>
          <a:lstStyle/>
          <a:p>
            <a:pPr indent="0" marL="0">
              <a:buNone/>
            </a:pPr>
            <a:r>
              <a:rPr lang="en-US" sz="1100" b="1" spc="100" kern="0" dirty="0">
                <a:solidFill>
                  <a:srgbClr val="9AA4B2"/>
                </a:solidFill>
              </a:rPr>
              <a:t>LINK PREVIEWS, DRAWN FOR EVERY PAGE</a:t>
            </a:r>
            <a:endParaRPr lang="en-US" sz="1100" dirty="0"/>
          </a:p>
        </p:txBody>
      </p:sp>
      <p:pic>
        <p:nvPicPr>
          <p:cNvPr id="6" name="Image 0" descr="/Users/erikalfriend/Projects/RetCalc/.claude/worktrees/marketing-package/web/public/og/drawdown.jpg">    </p:cNvPr>
          <p:cNvPicPr>
            <a:picLocks noChangeAspect="1"/>
          </p:cNvPicPr>
          <p:nvPr/>
        </p:nvPicPr>
        <p:blipFill>
          <a:blip r:embed="rId1"/>
          <a:stretch>
            <a:fillRect/>
          </a:stretch>
        </p:blipFill>
        <p:spPr>
          <a:xfrm>
            <a:off x="6720840" y="1920240"/>
            <a:ext cx="2369668" cy="1244075"/>
          </a:xfrm>
          <a:prstGeom prst="rect">
            <a:avLst/>
          </a:prstGeom>
        </p:spPr>
      </p:pic>
      <p:pic>
        <p:nvPicPr>
          <p:cNvPr id="7" name="Image 1" descr="/Users/erikalfriend/Projects/RetCalc/.claude/worktrees/marketing-package/web/public/og/stages.jpg">    </p:cNvPr>
          <p:cNvPicPr>
            <a:picLocks noChangeAspect="1"/>
          </p:cNvPicPr>
          <p:nvPr/>
        </p:nvPicPr>
        <p:blipFill>
          <a:blip r:embed="rId2"/>
          <a:stretch>
            <a:fillRect/>
          </a:stretch>
        </p:blipFill>
        <p:spPr>
          <a:xfrm>
            <a:off x="9273388" y="1920240"/>
            <a:ext cx="2369668" cy="1244075"/>
          </a:xfrm>
          <a:prstGeom prst="rect">
            <a:avLst/>
          </a:prstGeom>
        </p:spPr>
      </p:pic>
      <p:pic>
        <p:nvPicPr>
          <p:cNvPr id="8" name="Image 2" descr="/Users/erikalfriend/Projects/RetCalc/.claude/worktrees/marketing-package/web/public/og/incometax.jpg">    </p:cNvPr>
          <p:cNvPicPr>
            <a:picLocks noChangeAspect="1"/>
          </p:cNvPicPr>
          <p:nvPr/>
        </p:nvPicPr>
        <p:blipFill>
          <a:blip r:embed="rId3"/>
          <a:stretch>
            <a:fillRect/>
          </a:stretch>
        </p:blipFill>
        <p:spPr>
          <a:xfrm>
            <a:off x="6720840" y="3347195"/>
            <a:ext cx="2369668" cy="1244075"/>
          </a:xfrm>
          <a:prstGeom prst="rect">
            <a:avLst/>
          </a:prstGeom>
        </p:spPr>
      </p:pic>
      <p:pic>
        <p:nvPicPr>
          <p:cNvPr id="9" name="Image 3" descr="/Users/erikalfriend/Projects/RetCalc/.claude/worktrees/marketing-package/web/public/og/guide.jpg">    </p:cNvPr>
          <p:cNvPicPr>
            <a:picLocks noChangeAspect="1"/>
          </p:cNvPicPr>
          <p:nvPr/>
        </p:nvPicPr>
        <p:blipFill>
          <a:blip r:embed="rId4"/>
          <a:stretch>
            <a:fillRect/>
          </a:stretch>
        </p:blipFill>
        <p:spPr>
          <a:xfrm>
            <a:off x="9273388" y="3347195"/>
            <a:ext cx="2369668" cy="1244075"/>
          </a:xfrm>
          <a:prstGeom prst="rect">
            <a:avLst/>
          </a:prstGeom>
        </p:spPr>
      </p:pic>
      <p:sp>
        <p:nvSpPr>
          <p:cNvPr id="10" name="Shape 3"/>
          <p:cNvSpPr/>
          <p:nvPr/>
        </p:nvSpPr>
        <p:spPr>
          <a:xfrm>
            <a:off x="6720840" y="4957031"/>
            <a:ext cx="4922215" cy="1417320"/>
          </a:xfrm>
          <a:prstGeom prst="roundRect">
            <a:avLst>
              <a:gd name="adj" fmla="val 7742"/>
            </a:avLst>
          </a:prstGeom>
          <a:solidFill>
            <a:srgbClr val="1C222B"/>
          </a:solidFill>
          <a:ln/>
        </p:spPr>
      </p:sp>
      <p:sp>
        <p:nvSpPr>
          <p:cNvPr id="11" name="Text 4"/>
          <p:cNvSpPr txBox="1"/>
          <p:nvPr/>
        </p:nvSpPr>
        <p:spPr>
          <a:xfrm>
            <a:off x="6949440" y="5094191"/>
            <a:ext cx="4465015" cy="1188720"/>
          </a:xfrm>
          <a:prstGeom prst="rect">
            <a:avLst/>
          </a:prstGeom>
          <a:noFill/>
          <a:ln/>
        </p:spPr>
        <p:txBody>
          <a:bodyPr wrap="square" lIns="0" tIns="0" rIns="0" bIns="0" rtlCol="0" anchor="t"/>
          <a:lstStyle/>
          <a:p>
            <a:pPr indent="0" marL="0">
              <a:buNone/>
            </a:pPr>
            <a:r>
              <a:rPr lang="en-US" sz="1500" b="1" dirty="0">
                <a:solidFill>
                  <a:srgbClr val="E8EBF0"/>
                </a:solidFill>
              </a:rPr>
              <a:t>Error reports that can't leak a plan</a:t>
            </a:r>
            <a:endParaRPr lang="en-US" sz="1500" dirty="0"/>
          </a:p>
          <a:p>
            <a:pPr indent="0" marL="0">
              <a:buNone/>
            </a:pPr>
            <a:r>
              <a:rPr lang="en-US" sz="1200" dirty="0">
                <a:solidFill>
                  <a:srgbClr val="9AA4B2"/>
                </a:solidFill>
              </a:rPr>
              <a:t>Errors only, production only. Addresses cut to the path, so the # holding a tool's inputs never leaves the page. No breadcrumbs, user details or local variables.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Local first. An account is only a way to sync</a:t>
            </a:r>
            <a:endParaRPr lang="en-US" sz="3400" dirty="0"/>
          </a:p>
        </p:txBody>
      </p:sp>
      <p:pic>
        <p:nvPicPr>
          <p:cNvPr id="4" name="Image 0" descr="/Users/erikalfriend/Projects/RetCalc/.claude/worktrees/marketing-package/marketing/deck/img/signin_dialog.png">    </p:cNvPr>
          <p:cNvPicPr>
            <a:picLocks noChangeAspect="1"/>
          </p:cNvPicPr>
          <p:nvPr/>
        </p:nvPicPr>
        <p:blipFill>
          <a:blip r:embed="rId1"/>
          <a:stretch>
            <a:fillRect/>
          </a:stretch>
        </p:blipFill>
        <p:spPr>
          <a:xfrm>
            <a:off x="7718755" y="1600200"/>
            <a:ext cx="3924300" cy="4709160"/>
          </a:xfrm>
          <a:prstGeom prst="rect">
            <a:avLst/>
          </a:prstGeom>
          <a:effectLst>
            <a:outerShdw sx="100000" sy="100000" kx="0" ky="0" algn="bl" rotWithShape="0" blurRad="254000" dist="101600" dir="5400000">
              <a:srgbClr val="000000">
                <a:alpha val="50000"/>
              </a:srgbClr>
            </a:outerShdw>
          </a:effectLst>
        </p:spPr>
      </p:pic>
      <p:sp>
        <p:nvSpPr>
          <p:cNvPr id="5" name="Shape 2"/>
          <p:cNvSpPr/>
          <p:nvPr/>
        </p:nvSpPr>
        <p:spPr>
          <a:xfrm>
            <a:off x="548640" y="1600200"/>
            <a:ext cx="2115718" cy="3246120"/>
          </a:xfrm>
          <a:prstGeom prst="roundRect">
            <a:avLst>
              <a:gd name="adj" fmla="val 5186"/>
            </a:avLst>
          </a:prstGeom>
          <a:solidFill>
            <a:srgbClr val="1C222B"/>
          </a:solidFill>
          <a:ln/>
        </p:spPr>
      </p:sp>
      <p:sp>
        <p:nvSpPr>
          <p:cNvPr id="6" name="Text 3"/>
          <p:cNvSpPr txBox="1"/>
          <p:nvPr/>
        </p:nvSpPr>
        <p:spPr>
          <a:xfrm>
            <a:off x="731520" y="1783080"/>
            <a:ext cx="1749958" cy="457200"/>
          </a:xfrm>
          <a:prstGeom prst="rect">
            <a:avLst/>
          </a:prstGeom>
          <a:noFill/>
          <a:ln/>
        </p:spPr>
        <p:txBody>
          <a:bodyPr wrap="square" lIns="0" tIns="0" rIns="0" bIns="0" rtlCol="0" anchor="t"/>
          <a:lstStyle/>
          <a:p>
            <a:pPr indent="0" marL="0">
              <a:buNone/>
            </a:pPr>
            <a:r>
              <a:rPr lang="en-US" sz="1100" b="1" spc="100" kern="0" dirty="0">
                <a:solidFill>
                  <a:srgbClr val="4CC38A"/>
                </a:solidFill>
              </a:rPr>
              <a:t>WHAT AN ACCOUNT STORES</a:t>
            </a:r>
            <a:endParaRPr lang="en-US" sz="1100" dirty="0"/>
          </a:p>
        </p:txBody>
      </p:sp>
      <p:sp>
        <p:nvSpPr>
          <p:cNvPr id="7" name="Text 4"/>
          <p:cNvSpPr txBox="1"/>
          <p:nvPr/>
        </p:nvSpPr>
        <p:spPr>
          <a:xfrm>
            <a:off x="731520" y="2286000"/>
            <a:ext cx="1749958" cy="2468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E8EBF0"/>
                </a:solidFill>
              </a:rPr>
              <a:t>Email, and a first name if given</a:t>
            </a:r>
            <a:endParaRPr lang="en-US" sz="1400" dirty="0"/>
          </a:p>
          <a:p>
            <a:pPr marL="177800" indent="-177800">
              <a:spcAft>
                <a:spcPts val="600"/>
              </a:spcAft>
              <a:buSzPct val="100000"/>
              <a:buChar char="•"/>
            </a:pPr>
            <a:r>
              <a:rPr lang="en-US" sz="1400" dirty="0">
                <a:solidFill>
                  <a:srgbClr val="E8EBF0"/>
                </a:solidFill>
              </a:rPr>
              <a:t>The household</a:t>
            </a:r>
            <a:endParaRPr lang="en-US" sz="1400" dirty="0"/>
          </a:p>
          <a:p>
            <a:pPr marL="177800" indent="-177800">
              <a:spcAft>
                <a:spcPts val="600"/>
              </a:spcAft>
              <a:buSzPct val="100000"/>
              <a:buChar char="•"/>
            </a:pPr>
            <a:r>
              <a:rPr lang="en-US" sz="1400" dirty="0">
                <a:solidFill>
                  <a:srgbClr val="E8EBF0"/>
                </a:solidFill>
              </a:rPr>
              <a:t>Saved scenarios, by tool</a:t>
            </a:r>
            <a:endParaRPr lang="en-US" sz="1400" dirty="0"/>
          </a:p>
          <a:p>
            <a:pPr marL="177800" indent="-177800">
              <a:spcAft>
                <a:spcPts val="600"/>
              </a:spcAft>
              <a:buSzPct val="100000"/>
              <a:buChar char="•"/>
            </a:pPr>
            <a:r>
              <a:rPr lang="en-US" sz="1400" dirty="0">
                <a:solidFill>
                  <a:srgbClr val="E8EBF0"/>
                </a:solidFill>
              </a:rPr>
              <a:t>Guide and Paycheck plan answers</a:t>
            </a:r>
            <a:endParaRPr lang="en-US" sz="1400" dirty="0"/>
          </a:p>
        </p:txBody>
      </p:sp>
      <p:sp>
        <p:nvSpPr>
          <p:cNvPr id="8" name="Shape 5"/>
          <p:cNvSpPr/>
          <p:nvPr/>
        </p:nvSpPr>
        <p:spPr>
          <a:xfrm>
            <a:off x="2892958" y="1600200"/>
            <a:ext cx="2115718" cy="3246120"/>
          </a:xfrm>
          <a:prstGeom prst="roundRect">
            <a:avLst>
              <a:gd name="adj" fmla="val 5186"/>
            </a:avLst>
          </a:prstGeom>
          <a:solidFill>
            <a:srgbClr val="1C222B"/>
          </a:solidFill>
          <a:ln/>
        </p:spPr>
      </p:sp>
      <p:sp>
        <p:nvSpPr>
          <p:cNvPr id="9" name="Text 6"/>
          <p:cNvSpPr txBox="1"/>
          <p:nvPr/>
        </p:nvSpPr>
        <p:spPr>
          <a:xfrm>
            <a:off x="3075838" y="1783080"/>
            <a:ext cx="1749958" cy="457200"/>
          </a:xfrm>
          <a:prstGeom prst="rect">
            <a:avLst/>
          </a:prstGeom>
          <a:noFill/>
          <a:ln/>
        </p:spPr>
        <p:txBody>
          <a:bodyPr wrap="square" lIns="0" tIns="0" rIns="0" bIns="0" rtlCol="0" anchor="t"/>
          <a:lstStyle/>
          <a:p>
            <a:pPr indent="0" marL="0">
              <a:buNone/>
            </a:pPr>
            <a:r>
              <a:rPr lang="en-US" sz="1100" b="1" spc="100" kern="0" dirty="0">
                <a:solidFill>
                  <a:srgbClr val="F0716A"/>
                </a:solidFill>
              </a:rPr>
              <a:t>WHAT IT NEVER STORES</a:t>
            </a:r>
            <a:endParaRPr lang="en-US" sz="1100" dirty="0"/>
          </a:p>
        </p:txBody>
      </p:sp>
      <p:sp>
        <p:nvSpPr>
          <p:cNvPr id="10" name="Text 7"/>
          <p:cNvSpPr txBox="1"/>
          <p:nvPr/>
        </p:nvSpPr>
        <p:spPr>
          <a:xfrm>
            <a:off x="3075838" y="2286000"/>
            <a:ext cx="1749958" cy="2468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E8EBF0"/>
                </a:solidFill>
              </a:rPr>
              <a:t>Numbers typed but not saved</a:t>
            </a:r>
            <a:endParaRPr lang="en-US" sz="1400" dirty="0"/>
          </a:p>
          <a:p>
            <a:pPr marL="177800" indent="-177800">
              <a:spcAft>
                <a:spcPts val="600"/>
              </a:spcAft>
              <a:buSzPct val="100000"/>
              <a:buChar char="•"/>
            </a:pPr>
            <a:r>
              <a:rPr lang="en-US" sz="1400" dirty="0">
                <a:solidFill>
                  <a:srgbClr val="E8EBF0"/>
                </a:solidFill>
              </a:rPr>
              <a:t>Browsing activity</a:t>
            </a:r>
            <a:endParaRPr lang="en-US" sz="1400" dirty="0"/>
          </a:p>
          <a:p>
            <a:pPr marL="177800" indent="-177800">
              <a:spcAft>
                <a:spcPts val="600"/>
              </a:spcAft>
              <a:buSzPct val="100000"/>
              <a:buChar char="•"/>
            </a:pPr>
            <a:r>
              <a:rPr lang="en-US" sz="1400" dirty="0">
                <a:solidFill>
                  <a:srgbClr val="E8EBF0"/>
                </a:solidFill>
              </a:rPr>
              <a:t>Anything for advertisers: there are none</a:t>
            </a:r>
            <a:endParaRPr lang="en-US" sz="1400" dirty="0"/>
          </a:p>
          <a:p>
            <a:pPr marL="177800" indent="-177800">
              <a:spcAft>
                <a:spcPts val="600"/>
              </a:spcAft>
              <a:buSzPct val="100000"/>
              <a:buChar char="•"/>
            </a:pPr>
            <a:r>
              <a:rPr lang="en-US" sz="1400" dirty="0">
                <a:solidFill>
                  <a:srgbClr val="E8EBF0"/>
                </a:solidFill>
              </a:rPr>
              <a:t>Share-link inputs, after the #</a:t>
            </a:r>
            <a:endParaRPr lang="en-US" sz="1400" dirty="0"/>
          </a:p>
        </p:txBody>
      </p:sp>
      <p:sp>
        <p:nvSpPr>
          <p:cNvPr id="11" name="Shape 8"/>
          <p:cNvSpPr/>
          <p:nvPr/>
        </p:nvSpPr>
        <p:spPr>
          <a:xfrm>
            <a:off x="5237277" y="1600200"/>
            <a:ext cx="2115718" cy="3246120"/>
          </a:xfrm>
          <a:prstGeom prst="roundRect">
            <a:avLst>
              <a:gd name="adj" fmla="val 5186"/>
            </a:avLst>
          </a:prstGeom>
          <a:solidFill>
            <a:srgbClr val="1C222B"/>
          </a:solidFill>
          <a:ln/>
        </p:spPr>
      </p:sp>
      <p:sp>
        <p:nvSpPr>
          <p:cNvPr id="12" name="Text 9"/>
          <p:cNvSpPr txBox="1"/>
          <p:nvPr/>
        </p:nvSpPr>
        <p:spPr>
          <a:xfrm>
            <a:off x="5420157" y="1783080"/>
            <a:ext cx="1749958" cy="457200"/>
          </a:xfrm>
          <a:prstGeom prst="rect">
            <a:avLst/>
          </a:prstGeom>
          <a:noFill/>
          <a:ln/>
        </p:spPr>
        <p:txBody>
          <a:bodyPr wrap="square" lIns="0" tIns="0" rIns="0" bIns="0" rtlCol="0" anchor="t"/>
          <a:lstStyle/>
          <a:p>
            <a:pPr indent="0" marL="0">
              <a:buNone/>
            </a:pPr>
            <a:r>
              <a:rPr lang="en-US" sz="1100" b="1" spc="100" kern="0" dirty="0">
                <a:solidFill>
                  <a:srgbClr val="E3A93B"/>
                </a:solidFill>
              </a:rPr>
              <a:t>SIGNING IN, AND OUT FOR GOOD</a:t>
            </a:r>
            <a:endParaRPr lang="en-US" sz="1100" dirty="0"/>
          </a:p>
        </p:txBody>
      </p:sp>
      <p:sp>
        <p:nvSpPr>
          <p:cNvPr id="13" name="Text 10"/>
          <p:cNvSpPr txBox="1"/>
          <p:nvPr/>
        </p:nvSpPr>
        <p:spPr>
          <a:xfrm>
            <a:off x="5420157" y="2286000"/>
            <a:ext cx="1749958" cy="2468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E8EBF0"/>
                </a:solidFill>
              </a:rPr>
              <a:t>A 6-digit email code, or Google</a:t>
            </a:r>
            <a:endParaRPr lang="en-US" sz="1400" dirty="0"/>
          </a:p>
          <a:p>
            <a:pPr marL="177800" indent="-177800">
              <a:spcAft>
                <a:spcPts val="600"/>
              </a:spcAft>
              <a:buSzPct val="100000"/>
              <a:buChar char="•"/>
            </a:pPr>
            <a:r>
              <a:rPr lang="en-US" sz="1400" dirty="0">
                <a:solidFill>
                  <a:srgbClr val="E8EBF0"/>
                </a:solidFill>
              </a:rPr>
              <a:t>Download everything, any time</a:t>
            </a:r>
            <a:endParaRPr lang="en-US" sz="1400" dirty="0"/>
          </a:p>
          <a:p>
            <a:pPr marL="177800" indent="-177800">
              <a:spcAft>
                <a:spcPts val="600"/>
              </a:spcAft>
              <a:buSzPct val="100000"/>
              <a:buChar char="•"/>
            </a:pPr>
            <a:r>
              <a:rPr lang="en-US" sz="1400" dirty="0">
                <a:solidFill>
                  <a:srgbClr val="E8EBF0"/>
                </a:solidFill>
              </a:rPr>
              <a:t>Delete: sessions end, then the data goes</a:t>
            </a:r>
            <a:endParaRPr lang="en-US" sz="1400" dirty="0"/>
          </a:p>
        </p:txBody>
      </p:sp>
      <p:sp>
        <p:nvSpPr>
          <p:cNvPr id="14" name="Text 11"/>
          <p:cNvSpPr txBox="1"/>
          <p:nvPr/>
        </p:nvSpPr>
        <p:spPr>
          <a:xfrm>
            <a:off x="548640" y="5029200"/>
            <a:ext cx="6804355" cy="1188720"/>
          </a:xfrm>
          <a:prstGeom prst="rect">
            <a:avLst/>
          </a:prstGeom>
          <a:noFill/>
          <a:ln/>
        </p:spPr>
        <p:txBody>
          <a:bodyPr wrap="square" lIns="0" tIns="0" rIns="0" bIns="0" rtlCol="0" anchor="t"/>
          <a:lstStyle/>
          <a:p>
            <a:pPr indent="0" marL="0">
              <a:buNone/>
            </a:pPr>
            <a:r>
              <a:rPr lang="en-US" sz="1400" dirty="0">
                <a:solidFill>
                  <a:srgbClr val="9AA4B2"/>
                </a:solidFill>
              </a:rPr>
              <a:t>Changes save to the browser first and push shortly after; a two-way merge runs on sign-in. If both sides changed a scenario, both are kept. Each person reaches only their own rows, and backups run weekly, encrypted.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92608"/>
          </a:xfrm>
          <a:prstGeom prst="rect">
            <a:avLst/>
          </a:prstGeom>
          <a:noFill/>
          <a:ln/>
        </p:spPr>
        <p:txBody>
          <a:bodyPr wrap="square" lIns="0" tIns="0" rIns="0" bIns="0" rtlCol="0"/>
          <a:lstStyle/>
          <a:p>
            <a:pPr algn="l" indent="0" marL="0">
              <a:buNone/>
            </a:pPr>
            <a:r>
              <a:rPr lang="en-US" sz="1200" b="1" spc="200" kern="0" dirty="0">
                <a:solidFill>
                  <a:schemeClr val="accent1"/>
                </a:solidFill>
              </a:rPr>
              <a:t>UNDER THE HOOD</a:t>
            </a:r>
            <a:endParaRPr lang="en-US" sz="1200" dirty="0"/>
          </a:p>
        </p:txBody>
      </p:sp>
      <p:sp>
        <p:nvSpPr>
          <p:cNvPr id="3" name="Text 1"/>
          <p:cNvSpPr/>
          <p:nvPr>
            <p:ph idx="102"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400" b="1" dirty="0">
                <a:solidFill>
                  <a:schemeClr val="bg2"/>
                </a:solidFill>
              </a:rPr>
              <a:t>22 figures, each with a source and a due date</a:t>
            </a:r>
            <a:endParaRPr lang="en-US" sz="3400" dirty="0"/>
          </a:p>
        </p:txBody>
      </p:sp>
      <p:sp>
        <p:nvSpPr>
          <p:cNvPr id="4" name="Text 2"/>
          <p:cNvSpPr txBox="1"/>
          <p:nvPr/>
        </p:nvSpPr>
        <p:spPr>
          <a:xfrm>
            <a:off x="548640" y="1554480"/>
            <a:ext cx="2636444" cy="274320"/>
          </a:xfrm>
          <a:prstGeom prst="rect">
            <a:avLst/>
          </a:prstGeom>
          <a:noFill/>
          <a:ln/>
        </p:spPr>
        <p:txBody>
          <a:bodyPr wrap="square" lIns="0" tIns="0" rIns="0" bIns="0" rtlCol="0" anchor="t"/>
          <a:lstStyle/>
          <a:p>
            <a:pPr indent="0" marL="0">
              <a:buNone/>
            </a:pPr>
            <a:r>
              <a:rPr lang="en-US" sz="1100" b="1" spc="100" kern="0" dirty="0">
                <a:solidFill>
                  <a:srgbClr val="E3A93B"/>
                </a:solidFill>
              </a:rPr>
              <a:t>TAXES</a:t>
            </a:r>
            <a:endParaRPr lang="en-US" sz="1100" dirty="0"/>
          </a:p>
        </p:txBody>
      </p:sp>
      <p:sp>
        <p:nvSpPr>
          <p:cNvPr id="5" name="Shape 3"/>
          <p:cNvSpPr/>
          <p:nvPr/>
        </p:nvSpPr>
        <p:spPr>
          <a:xfrm>
            <a:off x="548640" y="1920240"/>
            <a:ext cx="2636444" cy="640080"/>
          </a:xfrm>
          <a:prstGeom prst="roundRect">
            <a:avLst>
              <a:gd name="adj" fmla="val 11429"/>
            </a:avLst>
          </a:prstGeom>
          <a:solidFill>
            <a:srgbClr val="1C222B"/>
          </a:solidFill>
          <a:ln/>
        </p:spPr>
      </p:sp>
      <p:sp>
        <p:nvSpPr>
          <p:cNvPr id="6" name="Text 4"/>
          <p:cNvSpPr txBox="1"/>
          <p:nvPr/>
        </p:nvSpPr>
        <p:spPr>
          <a:xfrm>
            <a:off x="685800" y="199339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Federal brackets</a:t>
            </a:r>
            <a:endParaRPr lang="en-US" sz="1300" dirty="0"/>
          </a:p>
          <a:p>
            <a:pPr indent="0" marL="0">
              <a:buNone/>
            </a:pPr>
            <a:r>
              <a:rPr lang="en-US" sz="1100" dirty="0">
                <a:solidFill>
                  <a:srgbClr val="9AA4B2"/>
                </a:solidFill>
              </a:rPr>
              <a:t>IRS Revenue Procedure</a:t>
            </a:r>
            <a:endParaRPr lang="en-US" sz="1300" dirty="0"/>
          </a:p>
        </p:txBody>
      </p:sp>
      <p:sp>
        <p:nvSpPr>
          <p:cNvPr id="7" name="Text 5"/>
          <p:cNvSpPr txBox="1"/>
          <p:nvPr/>
        </p:nvSpPr>
        <p:spPr>
          <a:xfrm>
            <a:off x="2270684" y="192024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8" name="Shape 6"/>
          <p:cNvSpPr/>
          <p:nvPr/>
        </p:nvSpPr>
        <p:spPr>
          <a:xfrm>
            <a:off x="548640" y="2651760"/>
            <a:ext cx="2636444" cy="640080"/>
          </a:xfrm>
          <a:prstGeom prst="roundRect">
            <a:avLst>
              <a:gd name="adj" fmla="val 11429"/>
            </a:avLst>
          </a:prstGeom>
          <a:solidFill>
            <a:srgbClr val="1C222B"/>
          </a:solidFill>
          <a:ln/>
        </p:spPr>
      </p:sp>
      <p:sp>
        <p:nvSpPr>
          <p:cNvPr id="9" name="Text 7"/>
          <p:cNvSpPr txBox="1"/>
          <p:nvPr/>
        </p:nvSpPr>
        <p:spPr>
          <a:xfrm>
            <a:off x="685800" y="272491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Contribution limits</a:t>
            </a:r>
            <a:endParaRPr lang="en-US" sz="1300" dirty="0"/>
          </a:p>
          <a:p>
            <a:pPr indent="0" marL="0">
              <a:buNone/>
            </a:pPr>
            <a:r>
              <a:rPr lang="en-US" sz="1100" dirty="0">
                <a:solidFill>
                  <a:srgbClr val="9AA4B2"/>
                </a:solidFill>
              </a:rPr>
              <a:t>IRS notices</a:t>
            </a:r>
            <a:endParaRPr lang="en-US" sz="1300" dirty="0"/>
          </a:p>
        </p:txBody>
      </p:sp>
      <p:sp>
        <p:nvSpPr>
          <p:cNvPr id="10" name="Text 8"/>
          <p:cNvSpPr txBox="1"/>
          <p:nvPr/>
        </p:nvSpPr>
        <p:spPr>
          <a:xfrm>
            <a:off x="2270684" y="265176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11" name="Shape 9"/>
          <p:cNvSpPr/>
          <p:nvPr/>
        </p:nvSpPr>
        <p:spPr>
          <a:xfrm>
            <a:off x="548640" y="3383280"/>
            <a:ext cx="2636444" cy="640080"/>
          </a:xfrm>
          <a:prstGeom prst="roundRect">
            <a:avLst>
              <a:gd name="adj" fmla="val 11429"/>
            </a:avLst>
          </a:prstGeom>
          <a:solidFill>
            <a:srgbClr val="1C222B"/>
          </a:solidFill>
          <a:ln/>
        </p:spPr>
      </p:sp>
      <p:sp>
        <p:nvSpPr>
          <p:cNvPr id="12" name="Text 10"/>
          <p:cNvSpPr txBox="1"/>
          <p:nvPr/>
        </p:nvSpPr>
        <p:spPr>
          <a:xfrm>
            <a:off x="685800" y="345643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Social Security figures</a:t>
            </a:r>
            <a:endParaRPr lang="en-US" sz="1300" dirty="0"/>
          </a:p>
          <a:p>
            <a:pPr indent="0" marL="0">
              <a:buNone/>
            </a:pPr>
            <a:r>
              <a:rPr lang="en-US" sz="1100" dirty="0">
                <a:solidFill>
                  <a:srgbClr val="9AA4B2"/>
                </a:solidFill>
              </a:rPr>
              <a:t>SSA fact sheet</a:t>
            </a:r>
            <a:endParaRPr lang="en-US" sz="1300" dirty="0"/>
          </a:p>
        </p:txBody>
      </p:sp>
      <p:sp>
        <p:nvSpPr>
          <p:cNvPr id="13" name="Text 11"/>
          <p:cNvSpPr txBox="1"/>
          <p:nvPr/>
        </p:nvSpPr>
        <p:spPr>
          <a:xfrm>
            <a:off x="2270684" y="338328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14" name="Shape 12"/>
          <p:cNvSpPr/>
          <p:nvPr/>
        </p:nvSpPr>
        <p:spPr>
          <a:xfrm>
            <a:off x="548640" y="4114800"/>
            <a:ext cx="2636444" cy="640080"/>
          </a:xfrm>
          <a:prstGeom prst="roundRect">
            <a:avLst>
              <a:gd name="adj" fmla="val 11429"/>
            </a:avLst>
          </a:prstGeom>
          <a:solidFill>
            <a:srgbClr val="1C222B"/>
          </a:solidFill>
          <a:ln/>
        </p:spPr>
      </p:sp>
      <p:sp>
        <p:nvSpPr>
          <p:cNvPr id="15" name="Text 13"/>
          <p:cNvSpPr txBox="1"/>
          <p:nvPr/>
        </p:nvSpPr>
        <p:spPr>
          <a:xfrm>
            <a:off x="685800" y="418795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State tax, 50 + DC</a:t>
            </a:r>
            <a:endParaRPr lang="en-US" sz="1300" dirty="0"/>
          </a:p>
          <a:p>
            <a:pPr indent="0" marL="0">
              <a:buNone/>
            </a:pPr>
            <a:r>
              <a:rPr lang="en-US" sz="1100" dirty="0">
                <a:solidFill>
                  <a:srgbClr val="9AA4B2"/>
                </a:solidFill>
              </a:rPr>
              <a:t>Tax Foundation, states</a:t>
            </a:r>
            <a:endParaRPr lang="en-US" sz="1300" dirty="0"/>
          </a:p>
        </p:txBody>
      </p:sp>
      <p:sp>
        <p:nvSpPr>
          <p:cNvPr id="16" name="Text 14"/>
          <p:cNvSpPr txBox="1"/>
          <p:nvPr/>
        </p:nvSpPr>
        <p:spPr>
          <a:xfrm>
            <a:off x="2270684" y="411480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17" name="Shape 15"/>
          <p:cNvSpPr/>
          <p:nvPr/>
        </p:nvSpPr>
        <p:spPr>
          <a:xfrm>
            <a:off x="548640" y="4846320"/>
            <a:ext cx="2636444" cy="640080"/>
          </a:xfrm>
          <a:prstGeom prst="roundRect">
            <a:avLst>
              <a:gd name="adj" fmla="val 11429"/>
            </a:avLst>
          </a:prstGeom>
          <a:solidFill>
            <a:srgbClr val="1C222B"/>
          </a:solidFill>
          <a:ln/>
        </p:spPr>
      </p:sp>
      <p:sp>
        <p:nvSpPr>
          <p:cNvPr id="18" name="Text 16"/>
          <p:cNvSpPr txBox="1"/>
          <p:nvPr/>
        </p:nvSpPr>
        <p:spPr>
          <a:xfrm>
            <a:off x="685800" y="491947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RMD tables</a:t>
            </a:r>
            <a:endParaRPr lang="en-US" sz="1300" dirty="0"/>
          </a:p>
          <a:p>
            <a:pPr indent="0" marL="0">
              <a:buNone/>
            </a:pPr>
            <a:r>
              <a:rPr lang="en-US" sz="1100" dirty="0">
                <a:solidFill>
                  <a:srgbClr val="9AA4B2"/>
                </a:solidFill>
              </a:rPr>
              <a:t>IRS Pub. 590-B</a:t>
            </a:r>
            <a:endParaRPr lang="en-US" sz="1300" dirty="0"/>
          </a:p>
        </p:txBody>
      </p:sp>
      <p:sp>
        <p:nvSpPr>
          <p:cNvPr id="19" name="Text 17"/>
          <p:cNvSpPr txBox="1"/>
          <p:nvPr/>
        </p:nvSpPr>
        <p:spPr>
          <a:xfrm>
            <a:off x="2270684" y="484632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20" name="Text 18"/>
          <p:cNvSpPr txBox="1"/>
          <p:nvPr/>
        </p:nvSpPr>
        <p:spPr>
          <a:xfrm>
            <a:off x="3367964" y="1554480"/>
            <a:ext cx="2636444" cy="274320"/>
          </a:xfrm>
          <a:prstGeom prst="rect">
            <a:avLst/>
          </a:prstGeom>
          <a:noFill/>
          <a:ln/>
        </p:spPr>
        <p:txBody>
          <a:bodyPr wrap="square" lIns="0" tIns="0" rIns="0" bIns="0" rtlCol="0" anchor="t"/>
          <a:lstStyle/>
          <a:p>
            <a:pPr indent="0" marL="0">
              <a:buNone/>
            </a:pPr>
            <a:r>
              <a:rPr lang="en-US" sz="1100" b="1" spc="100" kern="0" dirty="0">
                <a:solidFill>
                  <a:srgbClr val="E3A93B"/>
                </a:solidFill>
              </a:rPr>
              <a:t>HEALTHCARE</a:t>
            </a:r>
            <a:endParaRPr lang="en-US" sz="1100" dirty="0"/>
          </a:p>
        </p:txBody>
      </p:sp>
      <p:sp>
        <p:nvSpPr>
          <p:cNvPr id="21" name="Shape 19"/>
          <p:cNvSpPr/>
          <p:nvPr/>
        </p:nvSpPr>
        <p:spPr>
          <a:xfrm>
            <a:off x="3367964" y="1920240"/>
            <a:ext cx="2636444" cy="640080"/>
          </a:xfrm>
          <a:prstGeom prst="roundRect">
            <a:avLst>
              <a:gd name="adj" fmla="val 11429"/>
            </a:avLst>
          </a:prstGeom>
          <a:solidFill>
            <a:srgbClr val="1C222B"/>
          </a:solidFill>
          <a:ln/>
        </p:spPr>
      </p:sp>
      <p:sp>
        <p:nvSpPr>
          <p:cNvPr id="22" name="Text 20"/>
          <p:cNvSpPr txBox="1"/>
          <p:nvPr/>
        </p:nvSpPr>
        <p:spPr>
          <a:xfrm>
            <a:off x="3505124" y="199339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Medicare B, IRMAA</a:t>
            </a:r>
            <a:endParaRPr lang="en-US" sz="1300" dirty="0"/>
          </a:p>
          <a:p>
            <a:pPr indent="0" marL="0">
              <a:buNone/>
            </a:pPr>
            <a:r>
              <a:rPr lang="en-US" sz="1100" dirty="0">
                <a:solidFill>
                  <a:srgbClr val="9AA4B2"/>
                </a:solidFill>
              </a:rPr>
              <a:t>CMS</a:t>
            </a:r>
            <a:endParaRPr lang="en-US" sz="1300" dirty="0"/>
          </a:p>
        </p:txBody>
      </p:sp>
      <p:sp>
        <p:nvSpPr>
          <p:cNvPr id="23" name="Text 21"/>
          <p:cNvSpPr txBox="1"/>
          <p:nvPr/>
        </p:nvSpPr>
        <p:spPr>
          <a:xfrm>
            <a:off x="5090008" y="192024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24" name="Shape 22"/>
          <p:cNvSpPr/>
          <p:nvPr/>
        </p:nvSpPr>
        <p:spPr>
          <a:xfrm>
            <a:off x="3367964" y="2651760"/>
            <a:ext cx="2636444" cy="640080"/>
          </a:xfrm>
          <a:prstGeom prst="roundRect">
            <a:avLst>
              <a:gd name="adj" fmla="val 11429"/>
            </a:avLst>
          </a:prstGeom>
          <a:solidFill>
            <a:srgbClr val="1C222B"/>
          </a:solidFill>
          <a:ln/>
        </p:spPr>
      </p:sp>
      <p:sp>
        <p:nvSpPr>
          <p:cNvPr id="25" name="Text 23"/>
          <p:cNvSpPr txBox="1"/>
          <p:nvPr/>
        </p:nvSpPr>
        <p:spPr>
          <a:xfrm>
            <a:off x="3505124" y="272491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Part D, Medigap</a:t>
            </a:r>
            <a:endParaRPr lang="en-US" sz="1300" dirty="0"/>
          </a:p>
          <a:p>
            <a:pPr indent="0" marL="0">
              <a:buNone/>
            </a:pPr>
            <a:r>
              <a:rPr lang="en-US" sz="1100" dirty="0">
                <a:solidFill>
                  <a:srgbClr val="9AA4B2"/>
                </a:solidFill>
              </a:rPr>
              <a:t>CMS, KFF</a:t>
            </a:r>
            <a:endParaRPr lang="en-US" sz="1300" dirty="0"/>
          </a:p>
        </p:txBody>
      </p:sp>
      <p:sp>
        <p:nvSpPr>
          <p:cNvPr id="26" name="Text 24"/>
          <p:cNvSpPr txBox="1"/>
          <p:nvPr/>
        </p:nvSpPr>
        <p:spPr>
          <a:xfrm>
            <a:off x="5090008" y="265176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27" name="Shape 25"/>
          <p:cNvSpPr/>
          <p:nvPr/>
        </p:nvSpPr>
        <p:spPr>
          <a:xfrm>
            <a:off x="3367964" y="3383280"/>
            <a:ext cx="2636444" cy="640080"/>
          </a:xfrm>
          <a:prstGeom prst="roundRect">
            <a:avLst>
              <a:gd name="adj" fmla="val 11429"/>
            </a:avLst>
          </a:prstGeom>
          <a:solidFill>
            <a:srgbClr val="1C222B"/>
          </a:solidFill>
          <a:ln/>
        </p:spPr>
      </p:sp>
      <p:sp>
        <p:nvSpPr>
          <p:cNvPr id="28" name="Text 26"/>
          <p:cNvSpPr txBox="1"/>
          <p:nvPr/>
        </p:nvSpPr>
        <p:spPr>
          <a:xfrm>
            <a:off x="3505124" y="345643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ACA premiums</a:t>
            </a:r>
            <a:endParaRPr lang="en-US" sz="1300" dirty="0"/>
          </a:p>
          <a:p>
            <a:pPr indent="0" marL="0">
              <a:buNone/>
            </a:pPr>
            <a:r>
              <a:rPr lang="en-US" sz="1100" dirty="0">
                <a:solidFill>
                  <a:srgbClr val="9AA4B2"/>
                </a:solidFill>
              </a:rPr>
              <a:t>KFF, HHS, IRS</a:t>
            </a:r>
            <a:endParaRPr lang="en-US" sz="1300" dirty="0"/>
          </a:p>
        </p:txBody>
      </p:sp>
      <p:sp>
        <p:nvSpPr>
          <p:cNvPr id="29" name="Text 27"/>
          <p:cNvSpPr txBox="1"/>
          <p:nvPr/>
        </p:nvSpPr>
        <p:spPr>
          <a:xfrm>
            <a:off x="5090008" y="338328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30" name="Text 28"/>
          <p:cNvSpPr txBox="1"/>
          <p:nvPr/>
        </p:nvSpPr>
        <p:spPr>
          <a:xfrm>
            <a:off x="6187288" y="1554480"/>
            <a:ext cx="2636444" cy="274320"/>
          </a:xfrm>
          <a:prstGeom prst="rect">
            <a:avLst/>
          </a:prstGeom>
          <a:noFill/>
          <a:ln/>
        </p:spPr>
        <p:txBody>
          <a:bodyPr wrap="square" lIns="0" tIns="0" rIns="0" bIns="0" rtlCol="0" anchor="t"/>
          <a:lstStyle/>
          <a:p>
            <a:pPr indent="0" marL="0">
              <a:buNone/>
            </a:pPr>
            <a:r>
              <a:rPr lang="en-US" sz="1100" b="1" spc="100" kern="0" dirty="0">
                <a:solidFill>
                  <a:srgbClr val="E3A93B"/>
                </a:solidFill>
              </a:rPr>
              <a:t>MARKETS</a:t>
            </a:r>
            <a:endParaRPr lang="en-US" sz="1100" dirty="0"/>
          </a:p>
        </p:txBody>
      </p:sp>
      <p:sp>
        <p:nvSpPr>
          <p:cNvPr id="31" name="Shape 29"/>
          <p:cNvSpPr/>
          <p:nvPr/>
        </p:nvSpPr>
        <p:spPr>
          <a:xfrm>
            <a:off x="6187288" y="1920240"/>
            <a:ext cx="2636444" cy="640080"/>
          </a:xfrm>
          <a:prstGeom prst="roundRect">
            <a:avLst>
              <a:gd name="adj" fmla="val 11429"/>
            </a:avLst>
          </a:prstGeom>
          <a:solidFill>
            <a:srgbClr val="1C222B"/>
          </a:solidFill>
          <a:ln/>
        </p:spPr>
      </p:sp>
      <p:sp>
        <p:nvSpPr>
          <p:cNvPr id="32" name="Text 30"/>
          <p:cNvSpPr txBox="1"/>
          <p:nvPr/>
        </p:nvSpPr>
        <p:spPr>
          <a:xfrm>
            <a:off x="6324448" y="199339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Stocks, bonds, inflation</a:t>
            </a:r>
            <a:endParaRPr lang="en-US" sz="1300" dirty="0"/>
          </a:p>
          <a:p>
            <a:pPr indent="0" marL="0">
              <a:buNone/>
            </a:pPr>
            <a:r>
              <a:rPr lang="en-US" sz="1100" dirty="0">
                <a:solidFill>
                  <a:srgbClr val="9AA4B2"/>
                </a:solidFill>
              </a:rPr>
              <a:t>Shiller (Yale), BLS</a:t>
            </a:r>
            <a:endParaRPr lang="en-US" sz="1300" dirty="0"/>
          </a:p>
        </p:txBody>
      </p:sp>
      <p:sp>
        <p:nvSpPr>
          <p:cNvPr id="33" name="Text 31"/>
          <p:cNvSpPr txBox="1"/>
          <p:nvPr/>
        </p:nvSpPr>
        <p:spPr>
          <a:xfrm>
            <a:off x="7909331" y="192024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34" name="Shape 32"/>
          <p:cNvSpPr/>
          <p:nvPr/>
        </p:nvSpPr>
        <p:spPr>
          <a:xfrm>
            <a:off x="6187288" y="2651760"/>
            <a:ext cx="2636444" cy="640080"/>
          </a:xfrm>
          <a:prstGeom prst="roundRect">
            <a:avLst>
              <a:gd name="adj" fmla="val 11429"/>
            </a:avLst>
          </a:prstGeom>
          <a:solidFill>
            <a:srgbClr val="1C222B"/>
          </a:solidFill>
          <a:ln/>
        </p:spPr>
      </p:sp>
      <p:sp>
        <p:nvSpPr>
          <p:cNvPr id="35" name="Text 33"/>
          <p:cNvSpPr txBox="1"/>
          <p:nvPr/>
        </p:nvSpPr>
        <p:spPr>
          <a:xfrm>
            <a:off x="6324448" y="272491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T-bills, small value</a:t>
            </a:r>
            <a:endParaRPr lang="en-US" sz="1300" dirty="0"/>
          </a:p>
          <a:p>
            <a:pPr indent="0" marL="0">
              <a:buNone/>
            </a:pPr>
            <a:r>
              <a:rPr lang="en-US" sz="1100" dirty="0">
                <a:solidFill>
                  <a:srgbClr val="9AA4B2"/>
                </a:solidFill>
              </a:rPr>
              <a:t>French Data Library</a:t>
            </a:r>
            <a:endParaRPr lang="en-US" sz="1300" dirty="0"/>
          </a:p>
        </p:txBody>
      </p:sp>
      <p:sp>
        <p:nvSpPr>
          <p:cNvPr id="36" name="Text 34"/>
          <p:cNvSpPr txBox="1"/>
          <p:nvPr/>
        </p:nvSpPr>
        <p:spPr>
          <a:xfrm>
            <a:off x="7909331" y="265176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37" name="Shape 35"/>
          <p:cNvSpPr/>
          <p:nvPr/>
        </p:nvSpPr>
        <p:spPr>
          <a:xfrm>
            <a:off x="6187288" y="3383280"/>
            <a:ext cx="2636444" cy="640080"/>
          </a:xfrm>
          <a:prstGeom prst="roundRect">
            <a:avLst>
              <a:gd name="adj" fmla="val 11429"/>
            </a:avLst>
          </a:prstGeom>
          <a:solidFill>
            <a:srgbClr val="1C222B"/>
          </a:solidFill>
          <a:ln/>
        </p:spPr>
      </p:sp>
      <p:sp>
        <p:nvSpPr>
          <p:cNvPr id="38" name="Text 36"/>
          <p:cNvSpPr txBox="1"/>
          <p:nvPr/>
        </p:nvSpPr>
        <p:spPr>
          <a:xfrm>
            <a:off x="6324448" y="345643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Today's CAPE</a:t>
            </a:r>
            <a:endParaRPr lang="en-US" sz="1300" dirty="0"/>
          </a:p>
          <a:p>
            <a:pPr indent="0" marL="0">
              <a:buNone/>
            </a:pPr>
            <a:r>
              <a:rPr lang="en-US" sz="1100" dirty="0">
                <a:solidFill>
                  <a:srgbClr val="9AA4B2"/>
                </a:solidFill>
              </a:rPr>
              <a:t>multpl.com</a:t>
            </a:r>
            <a:endParaRPr lang="en-US" sz="1300" dirty="0"/>
          </a:p>
        </p:txBody>
      </p:sp>
      <p:sp>
        <p:nvSpPr>
          <p:cNvPr id="39" name="Text 37"/>
          <p:cNvSpPr txBox="1"/>
          <p:nvPr/>
        </p:nvSpPr>
        <p:spPr>
          <a:xfrm>
            <a:off x="7909331" y="338328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Monthly</a:t>
            </a:r>
            <a:endParaRPr lang="en-US" sz="1100" dirty="0"/>
          </a:p>
        </p:txBody>
      </p:sp>
      <p:sp>
        <p:nvSpPr>
          <p:cNvPr id="40" name="Text 38"/>
          <p:cNvSpPr txBox="1"/>
          <p:nvPr/>
        </p:nvSpPr>
        <p:spPr>
          <a:xfrm>
            <a:off x="9006611" y="1554480"/>
            <a:ext cx="2636444" cy="274320"/>
          </a:xfrm>
          <a:prstGeom prst="rect">
            <a:avLst/>
          </a:prstGeom>
          <a:noFill/>
          <a:ln/>
        </p:spPr>
        <p:txBody>
          <a:bodyPr wrap="square" lIns="0" tIns="0" rIns="0" bIns="0" rtlCol="0" anchor="t"/>
          <a:lstStyle/>
          <a:p>
            <a:pPr indent="0" marL="0">
              <a:buNone/>
            </a:pPr>
            <a:r>
              <a:rPr lang="en-US" sz="1100" b="1" spc="100" kern="0" dirty="0">
                <a:solidFill>
                  <a:srgbClr val="E3A93B"/>
                </a:solidFill>
              </a:rPr>
              <a:t>HOUSING AND DEFAULTS</a:t>
            </a:r>
            <a:endParaRPr lang="en-US" sz="1100" dirty="0"/>
          </a:p>
        </p:txBody>
      </p:sp>
      <p:sp>
        <p:nvSpPr>
          <p:cNvPr id="41" name="Shape 39"/>
          <p:cNvSpPr/>
          <p:nvPr/>
        </p:nvSpPr>
        <p:spPr>
          <a:xfrm>
            <a:off x="9006611" y="1920240"/>
            <a:ext cx="2636444" cy="640080"/>
          </a:xfrm>
          <a:prstGeom prst="roundRect">
            <a:avLst>
              <a:gd name="adj" fmla="val 11429"/>
            </a:avLst>
          </a:prstGeom>
          <a:solidFill>
            <a:srgbClr val="1C222B"/>
          </a:solidFill>
          <a:ln/>
        </p:spPr>
      </p:sp>
      <p:sp>
        <p:nvSpPr>
          <p:cNvPr id="42" name="Text 40"/>
          <p:cNvSpPr txBox="1"/>
          <p:nvPr/>
        </p:nvSpPr>
        <p:spPr>
          <a:xfrm>
            <a:off x="9143771" y="199339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Mortgage rate</a:t>
            </a:r>
            <a:endParaRPr lang="en-US" sz="1300" dirty="0"/>
          </a:p>
          <a:p>
            <a:pPr indent="0" marL="0">
              <a:buNone/>
            </a:pPr>
            <a:r>
              <a:rPr lang="en-US" sz="1100" dirty="0">
                <a:solidFill>
                  <a:srgbClr val="9AA4B2"/>
                </a:solidFill>
              </a:rPr>
              <a:t>Freddie Mac survey</a:t>
            </a:r>
            <a:endParaRPr lang="en-US" sz="1300" dirty="0"/>
          </a:p>
        </p:txBody>
      </p:sp>
      <p:sp>
        <p:nvSpPr>
          <p:cNvPr id="43" name="Text 41"/>
          <p:cNvSpPr txBox="1"/>
          <p:nvPr/>
        </p:nvSpPr>
        <p:spPr>
          <a:xfrm>
            <a:off x="10728655" y="192024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Quarterly</a:t>
            </a:r>
            <a:endParaRPr lang="en-US" sz="1100" dirty="0"/>
          </a:p>
        </p:txBody>
      </p:sp>
      <p:sp>
        <p:nvSpPr>
          <p:cNvPr id="44" name="Shape 42"/>
          <p:cNvSpPr/>
          <p:nvPr/>
        </p:nvSpPr>
        <p:spPr>
          <a:xfrm>
            <a:off x="9006611" y="2651760"/>
            <a:ext cx="2636444" cy="640080"/>
          </a:xfrm>
          <a:prstGeom prst="roundRect">
            <a:avLst>
              <a:gd name="adj" fmla="val 11429"/>
            </a:avLst>
          </a:prstGeom>
          <a:solidFill>
            <a:srgbClr val="1C222B"/>
          </a:solidFill>
          <a:ln/>
        </p:spPr>
      </p:sp>
      <p:sp>
        <p:nvSpPr>
          <p:cNvPr id="45" name="Text 43"/>
          <p:cNvSpPr txBox="1"/>
          <p:nvPr/>
        </p:nvSpPr>
        <p:spPr>
          <a:xfrm>
            <a:off x="9143771" y="272491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Home price and rent</a:t>
            </a:r>
            <a:endParaRPr lang="en-US" sz="1300" dirty="0"/>
          </a:p>
          <a:p>
            <a:pPr indent="0" marL="0">
              <a:buNone/>
            </a:pPr>
            <a:r>
              <a:rPr lang="en-US" sz="1100" dirty="0">
                <a:solidFill>
                  <a:srgbClr val="9AA4B2"/>
                </a:solidFill>
              </a:rPr>
              <a:t>NAR, Census, Zillow</a:t>
            </a:r>
            <a:endParaRPr lang="en-US" sz="1300" dirty="0"/>
          </a:p>
        </p:txBody>
      </p:sp>
      <p:sp>
        <p:nvSpPr>
          <p:cNvPr id="46" name="Text 44"/>
          <p:cNvSpPr txBox="1"/>
          <p:nvPr/>
        </p:nvSpPr>
        <p:spPr>
          <a:xfrm>
            <a:off x="10728655" y="265176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47" name="Shape 45"/>
          <p:cNvSpPr/>
          <p:nvPr/>
        </p:nvSpPr>
        <p:spPr>
          <a:xfrm>
            <a:off x="9006611" y="3383280"/>
            <a:ext cx="2636444" cy="640080"/>
          </a:xfrm>
          <a:prstGeom prst="roundRect">
            <a:avLst>
              <a:gd name="adj" fmla="val 11429"/>
            </a:avLst>
          </a:prstGeom>
          <a:solidFill>
            <a:srgbClr val="1C222B"/>
          </a:solidFill>
          <a:ln/>
        </p:spPr>
      </p:sp>
      <p:sp>
        <p:nvSpPr>
          <p:cNvPr id="48" name="Text 46"/>
          <p:cNvSpPr txBox="1"/>
          <p:nvPr/>
        </p:nvSpPr>
        <p:spPr>
          <a:xfrm>
            <a:off x="9143771" y="3456432"/>
            <a:ext cx="1630604" cy="502920"/>
          </a:xfrm>
          <a:prstGeom prst="rect">
            <a:avLst/>
          </a:prstGeom>
          <a:noFill/>
          <a:ln/>
        </p:spPr>
        <p:txBody>
          <a:bodyPr wrap="square" lIns="0" tIns="0" rIns="0" bIns="0" rtlCol="0" anchor="t"/>
          <a:lstStyle/>
          <a:p>
            <a:pPr indent="0" marL="0">
              <a:buNone/>
            </a:pPr>
            <a:r>
              <a:rPr lang="en-US" sz="1300" b="1" dirty="0">
                <a:solidFill>
                  <a:srgbClr val="E8EBF0"/>
                </a:solidFill>
              </a:rPr>
              <a:t>College, children</a:t>
            </a:r>
            <a:endParaRPr lang="en-US" sz="1300" dirty="0"/>
          </a:p>
          <a:p>
            <a:pPr indent="0" marL="0">
              <a:buNone/>
            </a:pPr>
            <a:r>
              <a:rPr lang="en-US" sz="1100" dirty="0">
                <a:solidFill>
                  <a:srgbClr val="9AA4B2"/>
                </a:solidFill>
              </a:rPr>
              <a:t>College Board, USDA</a:t>
            </a:r>
            <a:endParaRPr lang="en-US" sz="1300" dirty="0"/>
          </a:p>
        </p:txBody>
      </p:sp>
      <p:sp>
        <p:nvSpPr>
          <p:cNvPr id="49" name="Text 47"/>
          <p:cNvSpPr txBox="1"/>
          <p:nvPr/>
        </p:nvSpPr>
        <p:spPr>
          <a:xfrm>
            <a:off x="10728655" y="3383280"/>
            <a:ext cx="777240" cy="640080"/>
          </a:xfrm>
          <a:prstGeom prst="rect">
            <a:avLst/>
          </a:prstGeom>
          <a:noFill/>
          <a:ln/>
        </p:spPr>
        <p:txBody>
          <a:bodyPr wrap="square" lIns="0" tIns="0" rIns="0" bIns="0" rtlCol="0" anchor="ctr"/>
          <a:lstStyle/>
          <a:p>
            <a:pPr algn="r" indent="0" marL="0">
              <a:buNone/>
            </a:pPr>
            <a:r>
              <a:rPr lang="en-US" sz="1100" dirty="0">
                <a:solidFill>
                  <a:srgbClr val="E3A93B"/>
                </a:solidFill>
              </a:rPr>
              <a:t>Yearly</a:t>
            </a:r>
            <a:endParaRPr lang="en-US" sz="1100" dirty="0"/>
          </a:p>
        </p:txBody>
      </p:sp>
      <p:sp>
        <p:nvSpPr>
          <p:cNvPr id="50" name="Text 48"/>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dirty="0">
                <a:solidFill>
                  <a:srgbClr val="9AA4B2"/>
                </a:solidFill>
              </a:rPr>
              <a:t>Anything coming due is flagged at the start of every working session. Figures are never invented, each is cited beside it in the code, and a new tax year is added beside the old one, never over it.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2"/>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RetCalc Graphite">
  <a:themeElements>
    <a:clrScheme name="RetCalc Graphite">
      <a:dk1>
        <a:srgbClr val="0E1116"/>
      </a:dk1>
      <a:lt1>
        <a:srgbClr val="FFFFFF"/>
      </a:lt1>
      <a:dk2>
        <a:srgbClr val="1C222B"/>
      </a:dk2>
      <a:lt2>
        <a:srgbClr val="E8EBF0"/>
      </a:lt2>
      <a:accent1>
        <a:srgbClr val="E3A93B"/>
      </a:accent1>
      <a:accent2>
        <a:srgbClr val="5AA9E6"/>
      </a:accent2>
      <a:accent3>
        <a:srgbClr val="46B9A6"/>
      </a:accent3>
      <a:accent4>
        <a:srgbClr val="9670EC"/>
      </a:accent4>
      <a:accent5>
        <a:srgbClr val="E0749B"/>
      </a:accent5>
      <a:accent6>
        <a:srgbClr val="8A94A3"/>
      </a:accent6>
      <a:hlink>
        <a:srgbClr val="E3A93B"/>
      </a:hlink>
      <a:folHlink>
        <a:srgbClr val="9AA4B2"/>
      </a:folHlink>
    </a:clrScheme>
    <a:fontScheme name="RetCalc Grap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RetCalc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RetCalc</dc:title>
  <dc:subject>PptxGenJS Presentation</dc:subject>
  <dc:creator>RetCalc</dc:creator>
  <cp:lastModifiedBy>RetCalc</cp:lastModifiedBy>
  <cp:revision>1</cp:revision>
  <dcterms:created xsi:type="dcterms:W3CDTF">2026-10-22T21:39:11Z</dcterms:created>
  <dcterms:modified xsi:type="dcterms:W3CDTF">2026-10-22T21:39:11Z</dcterms:modified>
</cp:coreProperties>
</file>